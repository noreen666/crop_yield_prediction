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2.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5.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theme/themeOverride2.xml" ContentType="application/vnd.openxmlformats-officedocument.themeOverr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6.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9.xml" ContentType="application/vnd.openxmlformats-officedocument.presentationml.notesSlide+xml"/>
  <Override PartName="/ppt/theme/themeOverride3.xml" ContentType="application/vnd.openxmlformats-officedocument.themeOverr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5"/>
  </p:notesMasterIdLst>
  <p:sldIdLst>
    <p:sldId id="256" r:id="rId2"/>
    <p:sldId id="257" r:id="rId3"/>
    <p:sldId id="258" r:id="rId4"/>
    <p:sldId id="259" r:id="rId5"/>
    <p:sldId id="260" r:id="rId6"/>
    <p:sldId id="261" r:id="rId7"/>
    <p:sldId id="276" r:id="rId8"/>
    <p:sldId id="277" r:id="rId9"/>
    <p:sldId id="278"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2" d="100"/>
          <a:sy n="82" d="100"/>
        </p:scale>
        <p:origin x="989"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5.xml"/><Relationship Id="rId1" Type="http://schemas.microsoft.com/office/2011/relationships/chartStyle" Target="style5.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a:t>Rainfall Distribution (mm)</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Observations</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200-400</c:v>
                </c:pt>
                <c:pt idx="1">
                  <c:v>400-600</c:v>
                </c:pt>
                <c:pt idx="2">
                  <c:v>600-800</c:v>
                </c:pt>
                <c:pt idx="3">
                  <c:v>800-1000</c:v>
                </c:pt>
                <c:pt idx="4">
                  <c:v>1000-1200</c:v>
                </c:pt>
                <c:pt idx="5">
                  <c:v>1200+</c:v>
                </c:pt>
              </c:strCache>
            </c:strRef>
          </c:cat>
          <c:val>
            <c:numRef>
              <c:f>Sheet1!$B$2:$B$7</c:f>
              <c:numCache>
                <c:formatCode>General</c:formatCode>
                <c:ptCount val="6"/>
                <c:pt idx="0">
                  <c:v>42</c:v>
                </c:pt>
                <c:pt idx="1">
                  <c:v>88</c:v>
                </c:pt>
                <c:pt idx="2">
                  <c:v>145</c:v>
                </c:pt>
                <c:pt idx="3">
                  <c:v>120</c:v>
                </c:pt>
                <c:pt idx="4">
                  <c:v>65</c:v>
                </c:pt>
                <c:pt idx="5">
                  <c:v>30</c:v>
                </c:pt>
              </c:numCache>
            </c:numRef>
          </c:val>
          <c:extLst>
            <c:ext xmlns:c16="http://schemas.microsoft.com/office/drawing/2014/chart" uri="{C3380CC4-5D6E-409C-BE32-E72D297353CC}">
              <c16:uniqueId val="{00000000-5209-49F6-A1F0-B5E6AECA6FF3}"/>
            </c:ext>
          </c:extLst>
        </c:ser>
        <c:dLbls>
          <c:dLblPos val="inEnd"/>
          <c:showLegendKey val="0"/>
          <c:showVal val="1"/>
          <c:showCatName val="0"/>
          <c:showSerName val="0"/>
          <c:showPercent val="0"/>
          <c:showBubbleSize val="0"/>
        </c:dLbls>
        <c:gapWidth val="41"/>
        <c:axId val="2094734554"/>
        <c:axId val="2094734552"/>
      </c:barChart>
      <c:catAx>
        <c:axId val="2094734554"/>
        <c:scaling>
          <c:orientation val="minMax"/>
        </c:scaling>
        <c:delete val="0"/>
        <c:axPos val="b"/>
        <c:numFmt formatCode="General" sourceLinked="1"/>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none"/>
        <c:minorTickMark val="none"/>
        <c:tickLblPos val="nextTo"/>
        <c:crossAx val="2094734554"/>
        <c:crosses val="autoZero"/>
        <c:crossBetween val="between"/>
      </c:valAx>
      <c:spPr>
        <a:noFill/>
        <a:ln>
          <a:noFill/>
        </a:ln>
        <a:effectLst/>
      </c:spPr>
    </c:plotArea>
    <c:plotVisOnly val="1"/>
    <c:dispBlanksAs val="span"/>
    <c:showDLblsOverMax val="1"/>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r>
              <a:rPr lang="en-US"/>
              <a:t>Temperature Distribution (°C)</a:t>
            </a:r>
          </a:p>
        </c:rich>
      </c:tx>
      <c:overlay val="0"/>
      <c:spPr>
        <a:noFill/>
        <a:ln>
          <a:noFill/>
        </a:ln>
        <a:effectLst/>
      </c:spPr>
      <c:txPr>
        <a:bodyPr rot="0" spcFirstLastPara="1" vertOverflow="ellipsis" vert="horz" wrap="square" anchor="ctr" anchorCtr="1"/>
        <a:lstStyle/>
        <a:p>
          <a:pPr>
            <a:defRPr b="0" i="0" u="none" strike="noStrike" kern="1200" baseline="0">
              <a:solidFill>
                <a:schemeClr val="dk1">
                  <a:lumMod val="65000"/>
                  <a:lumOff val="35000"/>
                </a:schemeClr>
              </a:solidFill>
              <a:effectLst/>
              <a:latin typeface="+mn-lt"/>
              <a:ea typeface="+mn-ea"/>
              <a:cs typeface="+mn-cs"/>
            </a:defRPr>
          </a:pPr>
          <a:endParaRPr lang="en-US"/>
        </a:p>
      </c:txPr>
    </c:title>
    <c:autoTitleDeleted val="0"/>
    <c:plotArea>
      <c:layout/>
      <c:barChart>
        <c:barDir val="col"/>
        <c:grouping val="clustered"/>
        <c:varyColors val="0"/>
        <c:ser>
          <c:idx val="0"/>
          <c:order val="0"/>
          <c:tx>
            <c:strRef>
              <c:f>Sheet1!$B$1</c:f>
              <c:strCache>
                <c:ptCount val="1"/>
                <c:pt idx="0">
                  <c:v>Observations</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12-18</c:v>
                </c:pt>
                <c:pt idx="1">
                  <c:v>18-24</c:v>
                </c:pt>
                <c:pt idx="2">
                  <c:v>24-30</c:v>
                </c:pt>
                <c:pt idx="3">
                  <c:v>30-36</c:v>
                </c:pt>
                <c:pt idx="4">
                  <c:v>36-40</c:v>
                </c:pt>
              </c:strCache>
            </c:strRef>
          </c:cat>
          <c:val>
            <c:numRef>
              <c:f>Sheet1!$B$2:$B$6</c:f>
              <c:numCache>
                <c:formatCode>General</c:formatCode>
                <c:ptCount val="5"/>
                <c:pt idx="0">
                  <c:v>35</c:v>
                </c:pt>
                <c:pt idx="1">
                  <c:v>130</c:v>
                </c:pt>
                <c:pt idx="2">
                  <c:v>210</c:v>
                </c:pt>
                <c:pt idx="3">
                  <c:v>95</c:v>
                </c:pt>
                <c:pt idx="4">
                  <c:v>20</c:v>
                </c:pt>
              </c:numCache>
            </c:numRef>
          </c:val>
          <c:extLst>
            <c:ext xmlns:c16="http://schemas.microsoft.com/office/drawing/2014/chart" uri="{C3380CC4-5D6E-409C-BE32-E72D297353CC}">
              <c16:uniqueId val="{00000000-2374-4A56-B77F-539BA38F2E06}"/>
            </c:ext>
          </c:extLst>
        </c:ser>
        <c:dLbls>
          <c:dLblPos val="inEnd"/>
          <c:showLegendKey val="0"/>
          <c:showVal val="1"/>
          <c:showCatName val="0"/>
          <c:showSerName val="0"/>
          <c:showPercent val="0"/>
          <c:showBubbleSize val="0"/>
        </c:dLbls>
        <c:gapWidth val="41"/>
        <c:axId val="2094734554"/>
        <c:axId val="2094734552"/>
      </c:barChart>
      <c:catAx>
        <c:axId val="2094734554"/>
        <c:scaling>
          <c:orientation val="minMax"/>
        </c:scaling>
        <c:delete val="0"/>
        <c:axPos val="b"/>
        <c:numFmt formatCode="General" sourceLinked="1"/>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none"/>
        <c:minorTickMark val="none"/>
        <c:tickLblPos val="nextTo"/>
        <c:crossAx val="2094734554"/>
        <c:crosses val="autoZero"/>
        <c:crossBetween val="between"/>
      </c:valAx>
      <c:spPr>
        <a:noFill/>
        <a:ln>
          <a:noFill/>
        </a:ln>
        <a:effectLst/>
      </c:spPr>
    </c:plotArea>
    <c:plotVisOnly val="1"/>
    <c:dispBlanksAs val="span"/>
    <c:showDLblsOverMax val="1"/>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Avg Yield (t/ha)</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numFmt formatCode="0.0" sourceLinked="0"/>
            <c:spPr>
              <a:noFill/>
              <a:ln>
                <a:noFill/>
              </a:ln>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Rice</c:v>
                </c:pt>
                <c:pt idx="1">
                  <c:v>Wheat</c:v>
                </c:pt>
                <c:pt idx="2">
                  <c:v>Maize</c:v>
                </c:pt>
                <c:pt idx="3">
                  <c:v>Soybean</c:v>
                </c:pt>
                <c:pt idx="4">
                  <c:v>Cotton</c:v>
                </c:pt>
                <c:pt idx="5">
                  <c:v>Sugarcane</c:v>
                </c:pt>
              </c:strCache>
            </c:strRef>
          </c:cat>
          <c:val>
            <c:numRef>
              <c:f>Sheet1!$B$2:$B$7</c:f>
              <c:numCache>
                <c:formatCode>General</c:formatCode>
                <c:ptCount val="6"/>
                <c:pt idx="0">
                  <c:v>5.8</c:v>
                </c:pt>
                <c:pt idx="1">
                  <c:v>4.2</c:v>
                </c:pt>
                <c:pt idx="2">
                  <c:v>6.4</c:v>
                </c:pt>
                <c:pt idx="3">
                  <c:v>3.1</c:v>
                </c:pt>
                <c:pt idx="4">
                  <c:v>2.6</c:v>
                </c:pt>
                <c:pt idx="5">
                  <c:v>7.9</c:v>
                </c:pt>
              </c:numCache>
            </c:numRef>
          </c:val>
          <c:extLst>
            <c:ext xmlns:c16="http://schemas.microsoft.com/office/drawing/2014/chart" uri="{C3380CC4-5D6E-409C-BE32-E72D297353CC}">
              <c16:uniqueId val="{00000000-216B-4947-A5D1-33568EA34FC7}"/>
            </c:ext>
          </c:extLst>
        </c:ser>
        <c:dLbls>
          <c:dLblPos val="inEnd"/>
          <c:showLegendKey val="0"/>
          <c:showVal val="1"/>
          <c:showCatName val="0"/>
          <c:showSerName val="0"/>
          <c:showPercent val="0"/>
          <c:showBubbleSize val="0"/>
        </c:dLbls>
        <c:gapWidth val="41"/>
        <c:axId val="2094734554"/>
        <c:axId val="2094734552"/>
      </c:barChart>
      <c:catAx>
        <c:axId val="2094734554"/>
        <c:scaling>
          <c:orientation val="minMax"/>
        </c:scaling>
        <c:delete val="0"/>
        <c:axPos val="b"/>
        <c:numFmt formatCode="General" sourceLinked="1"/>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dk1">
                    <a:lumMod val="65000"/>
                    <a:lumOff val="35000"/>
                  </a:schemeClr>
                </a:solidFill>
                <a:effectLst/>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numFmt formatCode="General" sourceLinked="0"/>
        <c:majorTickMark val="none"/>
        <c:minorTickMark val="none"/>
        <c:tickLblPos val="nextTo"/>
        <c:crossAx val="2094734554"/>
        <c:crosses val="autoZero"/>
        <c:crossBetween val="between"/>
      </c:valAx>
      <c:spPr>
        <a:noFill/>
        <a:ln>
          <a:noFill/>
        </a:ln>
        <a:effectLst/>
      </c:spPr>
    </c:plotArea>
    <c:plotVisOnly val="1"/>
    <c:dispBlanksAs val="span"/>
    <c:showDLblsOverMax val="1"/>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Kharif</c:v>
                </c:pt>
              </c:strCache>
            </c:strRef>
          </c:tx>
          <c:spPr>
            <a:solidFill>
              <a:schemeClr val="accent1">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North</c:v>
                </c:pt>
                <c:pt idx="1">
                  <c:v>South</c:v>
                </c:pt>
                <c:pt idx="2">
                  <c:v>East</c:v>
                </c:pt>
                <c:pt idx="3">
                  <c:v>West</c:v>
                </c:pt>
              </c:strCache>
            </c:strRef>
          </c:cat>
          <c:val>
            <c:numRef>
              <c:f>Sheet1!$B$2:$B$5</c:f>
              <c:numCache>
                <c:formatCode>General</c:formatCode>
                <c:ptCount val="4"/>
                <c:pt idx="0">
                  <c:v>5.0999999999999996</c:v>
                </c:pt>
                <c:pt idx="1">
                  <c:v>6.2</c:v>
                </c:pt>
                <c:pt idx="2">
                  <c:v>4.8</c:v>
                </c:pt>
                <c:pt idx="3">
                  <c:v>5.6</c:v>
                </c:pt>
              </c:numCache>
            </c:numRef>
          </c:val>
          <c:extLst>
            <c:ext xmlns:c16="http://schemas.microsoft.com/office/drawing/2014/chart" uri="{C3380CC4-5D6E-409C-BE32-E72D297353CC}">
              <c16:uniqueId val="{00000000-00BF-4CAC-AD26-67DA53A9366C}"/>
            </c:ext>
          </c:extLst>
        </c:ser>
        <c:ser>
          <c:idx val="1"/>
          <c:order val="1"/>
          <c:tx>
            <c:strRef>
              <c:f>Sheet1!$C$1</c:f>
              <c:strCache>
                <c:ptCount val="1"/>
                <c:pt idx="0">
                  <c:v>Rabi</c:v>
                </c:pt>
              </c:strCache>
            </c:strRef>
          </c:tx>
          <c:spPr>
            <a:solidFill>
              <a:schemeClr val="accent2">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North</c:v>
                </c:pt>
                <c:pt idx="1">
                  <c:v>South</c:v>
                </c:pt>
                <c:pt idx="2">
                  <c:v>East</c:v>
                </c:pt>
                <c:pt idx="3">
                  <c:v>West</c:v>
                </c:pt>
              </c:strCache>
            </c:strRef>
          </c:cat>
          <c:val>
            <c:numRef>
              <c:f>Sheet1!$C$2:$C$5</c:f>
              <c:numCache>
                <c:formatCode>General</c:formatCode>
                <c:ptCount val="4"/>
                <c:pt idx="0">
                  <c:v>4.3</c:v>
                </c:pt>
                <c:pt idx="1">
                  <c:v>5</c:v>
                </c:pt>
                <c:pt idx="2">
                  <c:v>4.0999999999999996</c:v>
                </c:pt>
                <c:pt idx="3">
                  <c:v>4.7</c:v>
                </c:pt>
              </c:numCache>
            </c:numRef>
          </c:val>
          <c:extLst>
            <c:ext xmlns:c16="http://schemas.microsoft.com/office/drawing/2014/chart" uri="{C3380CC4-5D6E-409C-BE32-E72D297353CC}">
              <c16:uniqueId val="{00000001-00BF-4CAC-AD26-67DA53A9366C}"/>
            </c:ext>
          </c:extLst>
        </c:ser>
        <c:ser>
          <c:idx val="2"/>
          <c:order val="2"/>
          <c:tx>
            <c:strRef>
              <c:f>Sheet1!$D$1</c:f>
              <c:strCache>
                <c:ptCount val="1"/>
                <c:pt idx="0">
                  <c:v>Summer</c:v>
                </c:pt>
              </c:strCache>
            </c:strRef>
          </c:tx>
          <c:spPr>
            <a:solidFill>
              <a:schemeClr val="accent3">
                <a:alpha val="85000"/>
              </a:schemeClr>
            </a:solidFill>
            <a:ln w="9525" cap="flat" cmpd="sng" algn="ctr">
              <a:solidFill>
                <a:schemeClr val="lt1">
                  <a:alpha val="50000"/>
                </a:schemeClr>
              </a:solidFill>
              <a:round/>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a:solidFill>
                        <a:schemeClr val="dk1">
                          <a:lumMod val="50000"/>
                          <a:lumOff val="50000"/>
                        </a:schemeClr>
                      </a:solidFill>
                    </a:ln>
                    <a:effectLst/>
                  </c:spPr>
                </c15:leaderLines>
              </c:ext>
            </c:extLst>
          </c:dLbls>
          <c:cat>
            <c:strRef>
              <c:f>Sheet1!$A$2:$A$5</c:f>
              <c:strCache>
                <c:ptCount val="4"/>
                <c:pt idx="0">
                  <c:v>North</c:v>
                </c:pt>
                <c:pt idx="1">
                  <c:v>South</c:v>
                </c:pt>
                <c:pt idx="2">
                  <c:v>East</c:v>
                </c:pt>
                <c:pt idx="3">
                  <c:v>West</c:v>
                </c:pt>
              </c:strCache>
            </c:strRef>
          </c:cat>
          <c:val>
            <c:numRef>
              <c:f>Sheet1!$D$2:$D$5</c:f>
              <c:numCache>
                <c:formatCode>General</c:formatCode>
                <c:ptCount val="4"/>
                <c:pt idx="0">
                  <c:v>3.6</c:v>
                </c:pt>
                <c:pt idx="1">
                  <c:v>4.4000000000000004</c:v>
                </c:pt>
                <c:pt idx="2">
                  <c:v>3.3</c:v>
                </c:pt>
                <c:pt idx="3">
                  <c:v>3.9</c:v>
                </c:pt>
              </c:numCache>
            </c:numRef>
          </c:val>
          <c:extLst>
            <c:ext xmlns:c16="http://schemas.microsoft.com/office/drawing/2014/chart" uri="{C3380CC4-5D6E-409C-BE32-E72D297353CC}">
              <c16:uniqueId val="{00000002-00BF-4CAC-AD26-67DA53A9366C}"/>
            </c:ext>
          </c:extLst>
        </c:ser>
        <c:dLbls>
          <c:dLblPos val="inEnd"/>
          <c:showLegendKey val="0"/>
          <c:showVal val="1"/>
          <c:showCatName val="0"/>
          <c:showSerName val="0"/>
          <c:showPercent val="0"/>
          <c:showBubbleSize val="0"/>
        </c:dLbls>
        <c:gapWidth val="65"/>
        <c:axId val="2094734554"/>
        <c:axId val="2094734552"/>
      </c:barChart>
      <c:catAx>
        <c:axId val="2094734554"/>
        <c:scaling>
          <c:orientation val="minMax"/>
        </c:scaling>
        <c:delete val="0"/>
        <c:axPos val="b"/>
        <c:numFmt formatCode="General" sourceLinked="1"/>
        <c:majorTickMark val="none"/>
        <c:minorTickMark val="none"/>
        <c:tickLblPos val="low"/>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1"/>
        <c:axPos val="l"/>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General" sourceLinked="0"/>
        <c:majorTickMark val="none"/>
        <c:minorTickMark val="none"/>
        <c:tickLblPos val="nextTo"/>
        <c:crossAx val="2094734554"/>
        <c:crosses val="autoZero"/>
        <c:crossBetween val="between"/>
      </c:valAx>
      <c:spPr>
        <a:noFill/>
        <a:ln>
          <a:noFill/>
        </a:ln>
        <a:effectLst/>
      </c:spPr>
    </c:plotArea>
    <c:legend>
      <c:legendPos val="b"/>
      <c:overlay val="0"/>
      <c:spPr>
        <a:solidFill>
          <a:schemeClr val="lt1">
            <a:lumMod val="95000"/>
            <a:alpha val="39000"/>
          </a:schemeClr>
        </a:solidFill>
        <a:ln>
          <a:noFill/>
        </a:ln>
        <a:effectLst/>
      </c:spPr>
      <c:txPr>
        <a:bodyPr rot="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legend>
    <c:plotVisOnly val="1"/>
    <c:dispBlanksAs val="span"/>
    <c:showDLblsOverMax val="1"/>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North</c:v>
                </c:pt>
              </c:strCache>
            </c:strRef>
          </c:tx>
          <c:spPr>
            <a:ln w="31750" cap="flat">
              <a:solidFill>
                <a:srgbClr val="5C8A52"/>
              </a:solidFill>
              <a:prstDash val="solid"/>
              <a:round/>
            </a:ln>
            <a:effectLst/>
          </c:spPr>
          <c:marker>
            <c:symbol val="circle"/>
            <c:size val="4"/>
            <c:spPr>
              <a:solidFill>
                <a:srgbClr val="5C8A52"/>
              </a:solidFill>
              <a:ln w="9525" cap="flat">
                <a:solidFill>
                  <a:srgbClr val="5C8A52"/>
                </a:solidFill>
                <a:prstDash val="solid"/>
                <a:round/>
              </a:ln>
              <a:effectLst/>
            </c:spPr>
          </c:marker>
          <c:cat>
            <c:strRef>
              <c:f>Sheet1!$A$2:$A$7</c:f>
              <c:strCache>
                <c:ptCount val="6"/>
                <c:pt idx="0">
                  <c:v>W1</c:v>
                </c:pt>
                <c:pt idx="1">
                  <c:v>W2</c:v>
                </c:pt>
                <c:pt idx="2">
                  <c:v>W3</c:v>
                </c:pt>
                <c:pt idx="3">
                  <c:v>W4</c:v>
                </c:pt>
                <c:pt idx="4">
                  <c:v>W5</c:v>
                </c:pt>
                <c:pt idx="5">
                  <c:v>W6</c:v>
                </c:pt>
              </c:strCache>
            </c:strRef>
          </c:cat>
          <c:val>
            <c:numRef>
              <c:f>Sheet1!$B$2:$B$7</c:f>
              <c:numCache>
                <c:formatCode>General</c:formatCode>
                <c:ptCount val="6"/>
                <c:pt idx="0">
                  <c:v>4.0999999999999996</c:v>
                </c:pt>
                <c:pt idx="1">
                  <c:v>4.4000000000000004</c:v>
                </c:pt>
                <c:pt idx="2">
                  <c:v>4.3</c:v>
                </c:pt>
                <c:pt idx="3">
                  <c:v>4.8</c:v>
                </c:pt>
                <c:pt idx="4">
                  <c:v>5</c:v>
                </c:pt>
                <c:pt idx="5">
                  <c:v>5.0999999999999996</c:v>
                </c:pt>
              </c:numCache>
            </c:numRef>
          </c:val>
          <c:smooth val="0"/>
          <c:extLst>
            <c:ext xmlns:c16="http://schemas.microsoft.com/office/drawing/2014/chart" uri="{C3380CC4-5D6E-409C-BE32-E72D297353CC}">
              <c16:uniqueId val="{00000000-502A-446C-9107-57B14F142224}"/>
            </c:ext>
          </c:extLst>
        </c:ser>
        <c:ser>
          <c:idx val="1"/>
          <c:order val="1"/>
          <c:tx>
            <c:strRef>
              <c:f>Sheet1!$C$1</c:f>
              <c:strCache>
                <c:ptCount val="1"/>
                <c:pt idx="0">
                  <c:v>South</c:v>
                </c:pt>
              </c:strCache>
            </c:strRef>
          </c:tx>
          <c:spPr>
            <a:ln w="31750" cap="flat">
              <a:solidFill>
                <a:srgbClr val="D9A62E"/>
              </a:solidFill>
              <a:prstDash val="solid"/>
              <a:round/>
            </a:ln>
            <a:effectLst/>
          </c:spPr>
          <c:marker>
            <c:symbol val="circle"/>
            <c:size val="4"/>
            <c:spPr>
              <a:solidFill>
                <a:srgbClr val="D9A62E"/>
              </a:solidFill>
              <a:ln w="9525" cap="flat">
                <a:solidFill>
                  <a:srgbClr val="D9A62E"/>
                </a:solidFill>
                <a:prstDash val="solid"/>
                <a:round/>
              </a:ln>
              <a:effectLst/>
            </c:spPr>
          </c:marker>
          <c:cat>
            <c:strRef>
              <c:f>Sheet1!$A$2:$A$7</c:f>
              <c:strCache>
                <c:ptCount val="6"/>
                <c:pt idx="0">
                  <c:v>W1</c:v>
                </c:pt>
                <c:pt idx="1">
                  <c:v>W2</c:v>
                </c:pt>
                <c:pt idx="2">
                  <c:v>W3</c:v>
                </c:pt>
                <c:pt idx="3">
                  <c:v>W4</c:v>
                </c:pt>
                <c:pt idx="4">
                  <c:v>W5</c:v>
                </c:pt>
                <c:pt idx="5">
                  <c:v>W6</c:v>
                </c:pt>
              </c:strCache>
            </c:strRef>
          </c:cat>
          <c:val>
            <c:numRef>
              <c:f>Sheet1!$C$2:$C$7</c:f>
              <c:numCache>
                <c:formatCode>General</c:formatCode>
                <c:ptCount val="6"/>
                <c:pt idx="0">
                  <c:v>5</c:v>
                </c:pt>
                <c:pt idx="1">
                  <c:v>5.2</c:v>
                </c:pt>
                <c:pt idx="2">
                  <c:v>5.6</c:v>
                </c:pt>
                <c:pt idx="3">
                  <c:v>5.9</c:v>
                </c:pt>
                <c:pt idx="4">
                  <c:v>6</c:v>
                </c:pt>
                <c:pt idx="5">
                  <c:v>6.2</c:v>
                </c:pt>
              </c:numCache>
            </c:numRef>
          </c:val>
          <c:smooth val="0"/>
          <c:extLst>
            <c:ext xmlns:c16="http://schemas.microsoft.com/office/drawing/2014/chart" uri="{C3380CC4-5D6E-409C-BE32-E72D297353CC}">
              <c16:uniqueId val="{00000001-502A-446C-9107-57B14F14222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B7A6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DED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6B7A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800">
              <a:solidFill>
                <a:srgbClr val="6B7A6B"/>
              </a:solidFill>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clustered"/>
        <c:varyColors val="0"/>
        <c:ser>
          <c:idx val="0"/>
          <c:order val="0"/>
          <c:tx>
            <c:strRef>
              <c:f>Sheet1!$B$1</c:f>
              <c:strCache>
                <c:ptCount val="1"/>
                <c:pt idx="0">
                  <c:v>Importance</c:v>
                </c:pt>
              </c:strCache>
            </c:strRef>
          </c:tx>
          <c:spPr>
            <a:solidFill>
              <a:schemeClr val="accent1">
                <a:alpha val="85000"/>
              </a:schemeClr>
            </a:solidFill>
            <a:ln w="9525" cap="flat" cmpd="sng" algn="ctr">
              <a:solidFill>
                <a:schemeClr val="lt1">
                  <a:alpha val="50000"/>
                </a:schemeClr>
              </a:solidFill>
              <a:round/>
            </a:ln>
            <a:effectLst/>
          </c:spPr>
          <c:invertIfNegative val="0"/>
          <c:dPt>
            <c:idx val="0"/>
            <c:invertIfNegative val="0"/>
            <c:bubble3D val="0"/>
            <c:extLst>
              <c:ext xmlns:c16="http://schemas.microsoft.com/office/drawing/2014/chart" uri="{C3380CC4-5D6E-409C-BE32-E72D297353CC}">
                <c16:uniqueId val="{00000001-AFA0-4AD9-9388-FC2102348B47}"/>
              </c:ext>
            </c:extLst>
          </c:dPt>
          <c:dPt>
            <c:idx val="1"/>
            <c:invertIfNegative val="0"/>
            <c:bubble3D val="0"/>
            <c:extLst>
              <c:ext xmlns:c16="http://schemas.microsoft.com/office/drawing/2014/chart" uri="{C3380CC4-5D6E-409C-BE32-E72D297353CC}">
                <c16:uniqueId val="{00000003-AFA0-4AD9-9388-FC2102348B47}"/>
              </c:ext>
            </c:extLst>
          </c:dPt>
          <c:dPt>
            <c:idx val="2"/>
            <c:invertIfNegative val="0"/>
            <c:bubble3D val="0"/>
            <c:extLst>
              <c:ext xmlns:c16="http://schemas.microsoft.com/office/drawing/2014/chart" uri="{C3380CC4-5D6E-409C-BE32-E72D297353CC}">
                <c16:uniqueId val="{00000005-AFA0-4AD9-9388-FC2102348B47}"/>
              </c:ext>
            </c:extLst>
          </c:dPt>
          <c:dPt>
            <c:idx val="3"/>
            <c:invertIfNegative val="0"/>
            <c:bubble3D val="0"/>
            <c:extLst>
              <c:ext xmlns:c16="http://schemas.microsoft.com/office/drawing/2014/chart" uri="{C3380CC4-5D6E-409C-BE32-E72D297353CC}">
                <c16:uniqueId val="{00000007-AFA0-4AD9-9388-FC2102348B47}"/>
              </c:ext>
            </c:extLst>
          </c:dPt>
          <c:dPt>
            <c:idx val="4"/>
            <c:invertIfNegative val="0"/>
            <c:bubble3D val="0"/>
            <c:extLst>
              <c:ext xmlns:c16="http://schemas.microsoft.com/office/drawing/2014/chart" uri="{C3380CC4-5D6E-409C-BE32-E72D297353CC}">
                <c16:uniqueId val="{00000009-AFA0-4AD9-9388-FC2102348B47}"/>
              </c:ext>
            </c:extLst>
          </c:dPt>
          <c:dPt>
            <c:idx val="5"/>
            <c:invertIfNegative val="0"/>
            <c:bubble3D val="0"/>
            <c:extLst>
              <c:ext xmlns:c16="http://schemas.microsoft.com/office/drawing/2014/chart" uri="{C3380CC4-5D6E-409C-BE32-E72D297353CC}">
                <c16:uniqueId val="{0000000B-AFA0-4AD9-9388-FC2102348B47}"/>
              </c:ext>
            </c:extLst>
          </c:dPt>
          <c:dPt>
            <c:idx val="6"/>
            <c:invertIfNegative val="0"/>
            <c:bubble3D val="0"/>
            <c:extLst>
              <c:ext xmlns:c16="http://schemas.microsoft.com/office/drawing/2014/chart" uri="{C3380CC4-5D6E-409C-BE32-E72D297353CC}">
                <c16:uniqueId val="{0000000D-AFA0-4AD9-9388-FC2102348B47}"/>
              </c:ext>
            </c:extLst>
          </c:dPt>
          <c:dLbls>
            <c:numFmt formatCode="0%" sourceLinked="0"/>
            <c:spPr>
              <a:noFill/>
              <a:ln>
                <a:noFill/>
              </a:ln>
              <a:effectLst/>
            </c:spPr>
            <c:txPr>
              <a:bodyPr rot="0" spcFirstLastPara="1" vertOverflow="ellipsis" vert="horz" wrap="square" lIns="38100" tIns="19050" rIns="38100" bIns="19050" anchor="ctr" anchorCtr="1">
                <a:spAutoFit/>
              </a:bodyPr>
              <a:lstStyle/>
              <a:p>
                <a:pPr>
                  <a:defRPr sz="1197" b="1" i="0" u="none" strike="noStrike" kern="1200" baseline="0">
                    <a:solidFill>
                      <a:schemeClr val="lt1"/>
                    </a:solidFill>
                    <a:latin typeface="+mn-lt"/>
                    <a:ea typeface="+mn-ea"/>
                    <a:cs typeface="+mn-cs"/>
                  </a:defRPr>
                </a:pPr>
                <a:endParaRPr lang="en-US"/>
              </a:p>
            </c:txPr>
            <c:dLblPos val="in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Season</c:v>
                </c:pt>
                <c:pt idx="1">
                  <c:v>Soil Quality</c:v>
                </c:pt>
                <c:pt idx="2">
                  <c:v>Temperature</c:v>
                </c:pt>
                <c:pt idx="3">
                  <c:v>Crop Type</c:v>
                </c:pt>
                <c:pt idx="4">
                  <c:v>Pesticide Usage</c:v>
                </c:pt>
                <c:pt idx="5">
                  <c:v>Fertilizer Usage</c:v>
                </c:pt>
                <c:pt idx="6">
                  <c:v>Rainfall</c:v>
                </c:pt>
              </c:strCache>
            </c:strRef>
          </c:cat>
          <c:val>
            <c:numRef>
              <c:f>Sheet1!$B$2:$B$8</c:f>
              <c:numCache>
                <c:formatCode>General</c:formatCode>
                <c:ptCount val="7"/>
                <c:pt idx="0">
                  <c:v>0.04</c:v>
                </c:pt>
                <c:pt idx="1">
                  <c:v>0.06</c:v>
                </c:pt>
                <c:pt idx="2">
                  <c:v>0.11</c:v>
                </c:pt>
                <c:pt idx="3">
                  <c:v>0.14000000000000001</c:v>
                </c:pt>
                <c:pt idx="4">
                  <c:v>0.15</c:v>
                </c:pt>
                <c:pt idx="5">
                  <c:v>0.21</c:v>
                </c:pt>
                <c:pt idx="6">
                  <c:v>0.28999999999999998</c:v>
                </c:pt>
              </c:numCache>
            </c:numRef>
          </c:val>
          <c:extLst>
            <c:ext xmlns:c16="http://schemas.microsoft.com/office/drawing/2014/chart" uri="{C3380CC4-5D6E-409C-BE32-E72D297353CC}">
              <c16:uniqueId val="{0000000E-AFA0-4AD9-9388-FC2102348B47}"/>
            </c:ext>
          </c:extLst>
        </c:ser>
        <c:dLbls>
          <c:dLblPos val="inEnd"/>
          <c:showLegendKey val="0"/>
          <c:showVal val="1"/>
          <c:showCatName val="0"/>
          <c:showSerName val="0"/>
          <c:showPercent val="0"/>
          <c:showBubbleSize val="0"/>
        </c:dLbls>
        <c:gapWidth val="65"/>
        <c:axId val="2094734554"/>
        <c:axId val="2094734552"/>
      </c:barChart>
      <c:catAx>
        <c:axId val="2094734554"/>
        <c:scaling>
          <c:orientation val="minMax"/>
        </c:scaling>
        <c:delete val="0"/>
        <c:axPos val="l"/>
        <c:numFmt formatCode="General" sourceLinked="1"/>
        <c:majorTickMark val="none"/>
        <c:minorTickMark val="none"/>
        <c:tickLblPos val="nextTo"/>
        <c:spPr>
          <a:noFill/>
          <a:ln w="19050" cap="flat" cmpd="sng" algn="ctr">
            <a:solidFill>
              <a:schemeClr val="dk1">
                <a:lumMod val="75000"/>
                <a:lumOff val="25000"/>
              </a:schemeClr>
            </a:solidFill>
            <a:round/>
          </a:ln>
          <a:effectLst/>
        </c:spPr>
        <c:txPr>
          <a:bodyPr rot="-60000000" spcFirstLastPara="1" vertOverflow="ellipsis" vert="horz" wrap="square" anchor="ctr" anchorCtr="1"/>
          <a:lstStyle/>
          <a:p>
            <a:pPr>
              <a:defRPr sz="1197" b="0" i="0" u="none" strike="noStrike" kern="1200" cap="all" baseline="0">
                <a:solidFill>
                  <a:schemeClr val="dk1">
                    <a:lumMod val="75000"/>
                    <a:lumOff val="25000"/>
                  </a:schemeClr>
                </a:solidFill>
                <a:latin typeface="+mn-lt"/>
                <a:ea typeface="+mn-ea"/>
                <a:cs typeface="+mn-cs"/>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cmpd="sng" algn="ctr">
              <a:gradFill>
                <a:gsLst>
                  <a:gs pos="100000">
                    <a:schemeClr val="dk1">
                      <a:lumMod val="95000"/>
                      <a:lumOff val="5000"/>
                      <a:alpha val="42000"/>
                    </a:schemeClr>
                  </a:gs>
                  <a:gs pos="0">
                    <a:schemeClr val="lt1">
                      <a:lumMod val="75000"/>
                      <a:alpha val="36000"/>
                    </a:schemeClr>
                  </a:gs>
                </a:gsLst>
                <a:lin ang="5400000" scaled="0"/>
              </a:gradFill>
              <a:round/>
            </a:ln>
            <a:effectLst/>
          </c:spPr>
        </c:majorGridlines>
        <c:numFmt formatCode="0%" sourceLinked="0"/>
        <c:majorTickMark val="none"/>
        <c:minorTickMark val="none"/>
        <c:tickLblPos val="low"/>
        <c:spPr>
          <a:noFill/>
          <a:ln>
            <a:noFill/>
          </a:ln>
          <a:effectLst/>
        </c:spPr>
        <c:txPr>
          <a:bodyPr rot="-60000000" spcFirstLastPara="1" vertOverflow="ellipsis" vert="horz" wrap="square" anchor="ctr" anchorCtr="1"/>
          <a:lstStyle/>
          <a:p>
            <a:pPr>
              <a:defRPr sz="1197" b="0" i="0" u="none" strike="noStrike" kern="1200" baseline="0">
                <a:solidFill>
                  <a:schemeClr val="dk1">
                    <a:lumMod val="75000"/>
                    <a:lumOff val="25000"/>
                  </a:schemeClr>
                </a:solidFill>
                <a:latin typeface="+mn-lt"/>
                <a:ea typeface="+mn-ea"/>
                <a:cs typeface="+mn-cs"/>
              </a:defRPr>
            </a:pPr>
            <a:endParaRPr lang="en-US"/>
          </a:p>
        </c:txPr>
        <c:crossAx val="2094734554"/>
        <c:crosses val="autoZero"/>
        <c:crossBetween val="between"/>
      </c:valAx>
      <c:spPr>
        <a:noFill/>
        <a:ln>
          <a:noFill/>
        </a:ln>
        <a:effectLst/>
      </c:spPr>
    </c:plotArea>
    <c:plotVisOnly val="1"/>
    <c:dispBlanksAs val="span"/>
    <c:showDLblsOverMax val="1"/>
  </c:chart>
  <c: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7" b="1" kern="1200"/>
  </cs:axisTitle>
  <cs:categoryAxis>
    <cs:lnRef idx="0"/>
    <cs:fillRef idx="0"/>
    <cs:effectRef idx="0"/>
    <cs:fontRef idx="minor">
      <a:schemeClr val="dk1">
        <a:lumMod val="65000"/>
        <a:lumOff val="35000"/>
      </a:schemeClr>
    </cs:fontRef>
    <cs:defRPr sz="1197"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spPr/>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7"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7"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7" kern="1200"/>
  </cs:valueAxis>
  <cs:wall>
    <cs:lnRef idx="0"/>
    <cs:fillRef idx="0"/>
    <cs:effectRef idx="0"/>
    <cs:fontRef idx="minor">
      <a:schemeClr val="dk1"/>
    </cs:fontRef>
  </cs:wall>
</cs:chartStyle>
</file>

<file path=ppt/charts/style4.xml><?xml version="1.0" encoding="utf-8"?>
<cs:chartStyle xmlns:cs="http://schemas.microsoft.com/office/drawing/2012/chartStyle" xmlns:a="http://schemas.openxmlformats.org/drawingml/2006/main" id="205">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5.xml><?xml version="1.0" encoding="utf-8"?>
<cs:chartStyle xmlns:cs="http://schemas.microsoft.com/office/drawing/2012/chartStyle" xmlns:a="http://schemas.openxmlformats.org/drawingml/2006/main" id="218">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defRPr sz="1197"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197" b="1"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
  <cs:dataPoint3D>
    <cs:lnRef idx="0"/>
    <cs:fillRef idx="0">
      <cs:styleClr val="auto"/>
    </cs:fillRef>
    <cs:effectRef idx="0"/>
    <cs:fontRef idx="minor">
      <a:schemeClr val="dk1"/>
    </cs:fontRef>
    <cs:spPr>
      <a:solidFill>
        <a:schemeClr val="phClr">
          <a:alpha val="85000"/>
        </a:schemeClr>
      </a:solidFill>
      <a:ln w="9525" cap="flat" cmpd="sng" algn="ctr">
        <a:solidFill>
          <a:schemeClr val="lt1">
            <a:alpha val="50000"/>
          </a:schemeClr>
        </a:solidFill>
        <a:round/>
      </a:ln>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769281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audience. Introduce the project as an end-to-end data science pipeline that predicts crop yield from environmental and agricultural inputs, built to support farmers and agricultural planners with data-driven decisions. Preview the six stages of the pipeline shown at the bottom of the slide.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sections of the presentation, from objectives through to conclusion. This gives the audience a map of the full pipeline before diving into details.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agricultural yield depends on many interacting environmental and human-controlled factors. The project builds a full pipeline, from raw data to a deployed prediction tool, to give farmers and planners actionable, data-driven guidance.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dataset at a glance: eight feature columns plus the yield target, mixed numerical and categorical types, spanning multiple crops and seasons. Point out that a raw data sample would be shown here as a screenshot.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eight input features plus the yield target. Highlight the mix of numerical measurements (rainfall, temperature, input usage) and categorical fields (crop type, season, soil quality) that the model needs to handle.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five-stage cleaning pipeline in order: handling missing values, removing duplicates and outliers, encoding categorical variables, scaling numerical features, and finally splitting into training and testing sets.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before/after picture of data quality. Explain the justification for each imputation choice: median for skewed numeric fields to avoid outlier distortion, mode for categoricals, and dropping any row missing the target variable.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the descriptive statistics for the key numerical features: rainfall, temperature, pesticide and fertilizer usage, and yield itself. Note the wide range in rainfall and yield, which motivates deeper distribution analysis next.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distribution shapes of two key drivers. Rainfall is right-skewed with most observations between 600 and 1000mm; temperature is roughly bell-shaped, centered around 24-30 degrees Celsius, matching typical growing-season conditions.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correlation matrix. Rainfall and fertilizer usage have the strongest positive relationships with yield, while higher temperatures are associated with lower yield, likely reflecting heat stress on crops.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average yield across the six crop types in the dataset. Sugarcane and maize show the highest average yields, while cotton and soybean trail behind — a pattern the model should learn to reflect through the crop-type feature.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Break yield down by season and region. The Kharif (monsoon) season consistently outperforms Rabi and Summer across all four regions, with the South region showing the highest yields in every season.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Summarize the four headline findings from exploratory analysis: rainfall dominance, the negative effect of heat stress, meaningful differences between crop types, and the amplifying effect of season timing.</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interactive dashboard mockup: a yield-trends line chart on the left, and a correlation heatmap plus feature-importance panel on the right. This is the exploratory front-end analysts and planners use to explore the data themselves.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what makes the dashboard interactive: filtering by crop/season/region, drilling into individual records, live recalculation of summary statistics, and the ability to export any filtered view.</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Compare four regression models on the same held-out test set. Random Forest achieves the best R² and lowest error metrics across the board, making it the selected model for deployment.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Drill into the winning model’s test-set metrics: an R² of 0.89 means the model explains 89% of the variance in yield, with a mean absolute error of just 0.34 tonnes per hectare.</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Rank the features by importance from the Random Forest model. Rainfall dominates at 29%, followed by fertilizer usage and pesticide usage — confirming the correlation analysis from earlier and giving farmers a clear priority order for the factors within their control.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the bonus deliverable: a Streamlit web app where a user enters environmental and agricultural parameters and receives an instant predicted yield, powered by the trained Random Forest model, ready for production deployment.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headline findings and business impact: better-informed planting and input decisions for farmers. Preview the roadmap — richer features like satellite imagery, deep learning experiments, and real-time data integration — then thank the audience.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FD92C-EC65-4EB4-68CD-41A2336F1C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DB956BE-65EC-8F6E-590F-BA47C4E7CFE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19DC6CE-4411-BCBB-E751-CDF7F3C713E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852D24C-3ECC-3072-D255-63FA735C78B8}"/>
              </a:ext>
            </a:extLst>
          </p:cNvPr>
          <p:cNvSpPr>
            <a:spLocks noGrp="1"/>
          </p:cNvSpPr>
          <p:nvPr>
            <p:ph type="dt" sz="half" idx="10"/>
          </p:nvPr>
        </p:nvSpPr>
        <p:spPr/>
        <p:txBody>
          <a:bodyPr/>
          <a:lstStyle/>
          <a:p>
            <a:fld id="{5B0EA292-4F68-4AA6-B4B5-149545518E67}" type="datetimeFigureOut">
              <a:rPr lang="en-US" smtClean="0"/>
              <a:t>8/22/2026</a:t>
            </a:fld>
            <a:endParaRPr lang="en-US"/>
          </a:p>
        </p:txBody>
      </p:sp>
      <p:sp>
        <p:nvSpPr>
          <p:cNvPr id="6" name="Footer Placeholder 5">
            <a:extLst>
              <a:ext uri="{FF2B5EF4-FFF2-40B4-BE49-F238E27FC236}">
                <a16:creationId xmlns:a16="http://schemas.microsoft.com/office/drawing/2014/main" id="{61868DAE-03B8-303E-DB9A-4CCC349D3C6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34AB6D7-E6A5-2804-734B-2F27C6FA711A}"/>
              </a:ext>
            </a:extLst>
          </p:cNvPr>
          <p:cNvSpPr>
            <a:spLocks noGrp="1"/>
          </p:cNvSpPr>
          <p:nvPr>
            <p:ph type="sldNum" sz="quarter" idx="12"/>
          </p:nvPr>
        </p:nvSpPr>
        <p:spPr/>
        <p:txBody>
          <a:bodyPr/>
          <a:lstStyle/>
          <a:p>
            <a:fld id="{F9D5BD2E-DA77-4AE6-A379-66DC1D98737F}" type="slidenum">
              <a:rPr lang="en-US" smtClean="0"/>
              <a:t>‹#›</a:t>
            </a:fld>
            <a:endParaRPr lang="en-US"/>
          </a:p>
        </p:txBody>
      </p:sp>
    </p:spTree>
    <p:extLst>
      <p:ext uri="{BB962C8B-B14F-4D97-AF65-F5344CB8AC3E}">
        <p14:creationId xmlns:p14="http://schemas.microsoft.com/office/powerpoint/2010/main" val="13747404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919E2C-C067-2732-B059-304617C6FD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EF23FD4-B94F-A93E-E865-65007C22652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375B0FB-4BCA-E05C-1682-0CA5BE59CE04}"/>
              </a:ext>
            </a:extLst>
          </p:cNvPr>
          <p:cNvSpPr>
            <a:spLocks noGrp="1"/>
          </p:cNvSpPr>
          <p:nvPr>
            <p:ph type="dt" sz="half" idx="10"/>
          </p:nvPr>
        </p:nvSpPr>
        <p:spPr/>
        <p:txBody>
          <a:bodyPr/>
          <a:lstStyle/>
          <a:p>
            <a:fld id="{5B0EA292-4F68-4AA6-B4B5-149545518E67}" type="datetimeFigureOut">
              <a:rPr lang="en-US" smtClean="0"/>
              <a:t>8/22/2026</a:t>
            </a:fld>
            <a:endParaRPr lang="en-US"/>
          </a:p>
        </p:txBody>
      </p:sp>
      <p:sp>
        <p:nvSpPr>
          <p:cNvPr id="5" name="Footer Placeholder 4">
            <a:extLst>
              <a:ext uri="{FF2B5EF4-FFF2-40B4-BE49-F238E27FC236}">
                <a16:creationId xmlns:a16="http://schemas.microsoft.com/office/drawing/2014/main" id="{86BF9960-0A6B-74F1-F50B-B65AFB45BEF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FEEAF8F-3D1B-59F3-627B-58CADD5A087E}"/>
              </a:ext>
            </a:extLst>
          </p:cNvPr>
          <p:cNvSpPr>
            <a:spLocks noGrp="1"/>
          </p:cNvSpPr>
          <p:nvPr>
            <p:ph type="sldNum" sz="quarter" idx="12"/>
          </p:nvPr>
        </p:nvSpPr>
        <p:spPr/>
        <p:txBody>
          <a:bodyPr/>
          <a:lstStyle/>
          <a:p>
            <a:fld id="{F9D5BD2E-DA77-4AE6-A379-66DC1D98737F}" type="slidenum">
              <a:rPr lang="en-US" smtClean="0"/>
              <a:t>‹#›</a:t>
            </a:fld>
            <a:endParaRPr lang="en-US"/>
          </a:p>
        </p:txBody>
      </p:sp>
    </p:spTree>
    <p:extLst>
      <p:ext uri="{BB962C8B-B14F-4D97-AF65-F5344CB8AC3E}">
        <p14:creationId xmlns:p14="http://schemas.microsoft.com/office/powerpoint/2010/main" val="120657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themeOverride" Target="../theme/themeOverride1.xml"/><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10" Type="http://schemas.openxmlformats.org/officeDocument/2006/relationships/image" Target="../media/image9.png"/><Relationship Id="rId4" Type="http://schemas.openxmlformats.org/officeDocument/2006/relationships/image" Target="../media/image3.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4.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chart" Target="../charts/char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2.png"/><Relationship Id="rId4"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6.jpeg"/></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1.xml"/><Relationship Id="rId1" Type="http://schemas.openxmlformats.org/officeDocument/2006/relationships/themeOverride" Target="../theme/themeOverride2.xml"/></Relationships>
</file>

<file path=ppt/slides/_rels/slide21.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1.xml"/><Relationship Id="rId1" Type="http://schemas.openxmlformats.org/officeDocument/2006/relationships/themeOverride" Target="../theme/themeOverride3.xml"/><Relationship Id="rId6" Type="http://schemas.openxmlformats.org/officeDocument/2006/relationships/image" Target="../media/image27.png"/><Relationship Id="rId5" Type="http://schemas.openxmlformats.org/officeDocument/2006/relationships/image" Target="../media/image7.png"/><Relationship Id="rId4"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8961120" y="-2011680"/>
            <a:ext cx="6400800" cy="6400800"/>
          </a:xfrm>
          <a:prstGeom prst="ellipse">
            <a:avLst/>
          </a:prstGeom>
          <a:solidFill>
            <a:schemeClr val="accent1">
              <a:alpha val="45000"/>
            </a:schemeClr>
          </a:solidFill>
          <a:ln/>
        </p:spPr>
        <p:txBody>
          <a:bodyPr/>
          <a:lstStyle/>
          <a:p>
            <a:endParaRPr lang="en-US" dirty="0"/>
          </a:p>
        </p:txBody>
      </p:sp>
      <p:sp>
        <p:nvSpPr>
          <p:cNvPr id="3" name="Shape 1"/>
          <p:cNvSpPr/>
          <p:nvPr/>
        </p:nvSpPr>
        <p:spPr>
          <a:xfrm>
            <a:off x="-2286000" y="4114800"/>
            <a:ext cx="5486400" cy="5486400"/>
          </a:xfrm>
          <a:prstGeom prst="ellipse">
            <a:avLst/>
          </a:prstGeom>
          <a:solidFill>
            <a:schemeClr val="accent1">
              <a:alpha val="30000"/>
            </a:schemeClr>
          </a:solidFill>
          <a:ln/>
        </p:spPr>
        <p:txBody>
          <a:bodyPr/>
          <a:lstStyle/>
          <a:p>
            <a:endParaRPr lang="en-US" dirty="0"/>
          </a:p>
        </p:txBody>
      </p:sp>
      <p:sp>
        <p:nvSpPr>
          <p:cNvPr id="4" name="Shape 2"/>
          <p:cNvSpPr/>
          <p:nvPr/>
        </p:nvSpPr>
        <p:spPr>
          <a:xfrm>
            <a:off x="914400" y="914400"/>
            <a:ext cx="1005840" cy="1005840"/>
          </a:xfrm>
          <a:prstGeom prst="ellipse">
            <a:avLst/>
          </a:prstGeom>
          <a:solidFill>
            <a:schemeClr val="accent1"/>
          </a:solidFill>
          <a:ln/>
        </p:spPr>
        <p:txBody>
          <a:bodyPr/>
          <a:lstStyle/>
          <a:p>
            <a:endParaRPr lang="en-US"/>
          </a:p>
        </p:txBody>
      </p:sp>
      <p:pic>
        <p:nvPicPr>
          <p:cNvPr id="5" name="Image 0" descr="/home/claude/crop_yield_ppt/icons/seedling_FFFFFF.png"/>
          <p:cNvPicPr>
            <a:picLocks noChangeAspect="1"/>
          </p:cNvPicPr>
          <p:nvPr/>
        </p:nvPicPr>
        <p:blipFill>
          <a:blip r:embed="rId4"/>
          <a:stretch>
            <a:fillRect/>
          </a:stretch>
        </p:blipFill>
        <p:spPr>
          <a:xfrm>
            <a:off x="1140714" y="1140714"/>
            <a:ext cx="553212" cy="553212"/>
          </a:xfrm>
          <a:prstGeom prst="rect">
            <a:avLst/>
          </a:prstGeom>
        </p:spPr>
      </p:pic>
      <p:sp>
        <p:nvSpPr>
          <p:cNvPr id="6" name="Text 3"/>
          <p:cNvSpPr/>
          <p:nvPr/>
        </p:nvSpPr>
        <p:spPr>
          <a:xfrm>
            <a:off x="822960" y="2514600"/>
            <a:ext cx="9144000" cy="365760"/>
          </a:xfrm>
          <a:prstGeom prst="rect">
            <a:avLst/>
          </a:prstGeom>
          <a:noFill/>
          <a:ln/>
        </p:spPr>
        <p:txBody>
          <a:bodyPr wrap="square" rtlCol="0" anchor="ctr"/>
          <a:lstStyle/>
          <a:p>
            <a:pPr marL="0" indent="0">
              <a:buNone/>
            </a:pPr>
            <a:r>
              <a:rPr lang="en-US" sz="1400" b="1" kern="0" spc="300" dirty="0">
                <a:solidFill>
                  <a:schemeClr val="bg2">
                    <a:lumMod val="25000"/>
                  </a:schemeClr>
                </a:solidFill>
                <a:latin typeface="Calibri" pitchFamily="34" charset="0"/>
                <a:ea typeface="Calibri" pitchFamily="34" charset="-122"/>
                <a:cs typeface="Calibri" pitchFamily="34" charset="-120"/>
              </a:rPr>
              <a:t>DATA ANALYSIS  &amp;  MACHINE LEARNING</a:t>
            </a:r>
            <a:endParaRPr lang="en-US" sz="1400" dirty="0">
              <a:solidFill>
                <a:schemeClr val="bg2">
                  <a:lumMod val="25000"/>
                </a:schemeClr>
              </a:solidFill>
            </a:endParaRPr>
          </a:p>
        </p:txBody>
      </p:sp>
      <p:sp>
        <p:nvSpPr>
          <p:cNvPr id="7" name="Text 4"/>
          <p:cNvSpPr/>
          <p:nvPr/>
        </p:nvSpPr>
        <p:spPr>
          <a:xfrm>
            <a:off x="777240" y="2880360"/>
            <a:ext cx="10515600" cy="1371600"/>
          </a:xfrm>
          <a:prstGeom prst="rect">
            <a:avLst/>
          </a:prstGeom>
          <a:noFill/>
          <a:ln/>
        </p:spPr>
        <p:txBody>
          <a:bodyPr wrap="square" rtlCol="0" anchor="ctr"/>
          <a:lstStyle/>
          <a:p>
            <a:pPr marL="0" indent="0">
              <a:buNone/>
            </a:pPr>
            <a:r>
              <a:rPr lang="en-US" sz="5400" b="1" dirty="0">
                <a:solidFill>
                  <a:schemeClr val="tx1">
                    <a:lumMod val="95000"/>
                    <a:lumOff val="5000"/>
                  </a:schemeClr>
                </a:solidFill>
                <a:latin typeface="Cambria" pitchFamily="34" charset="0"/>
                <a:ea typeface="Cambria" pitchFamily="34" charset="-122"/>
                <a:cs typeface="Cambria" pitchFamily="34" charset="-120"/>
              </a:rPr>
              <a:t>Crop Yield Prediction</a:t>
            </a:r>
            <a:endParaRPr lang="en-US" sz="5400" dirty="0">
              <a:solidFill>
                <a:schemeClr val="tx1">
                  <a:lumMod val="95000"/>
                  <a:lumOff val="5000"/>
                </a:schemeClr>
              </a:solidFill>
            </a:endParaRPr>
          </a:p>
        </p:txBody>
      </p:sp>
      <p:sp>
        <p:nvSpPr>
          <p:cNvPr id="8" name="Text 5"/>
          <p:cNvSpPr/>
          <p:nvPr/>
        </p:nvSpPr>
        <p:spPr>
          <a:xfrm>
            <a:off x="822960" y="4160520"/>
            <a:ext cx="8686800" cy="548640"/>
          </a:xfrm>
          <a:prstGeom prst="rect">
            <a:avLst/>
          </a:prstGeom>
          <a:noFill/>
          <a:ln/>
        </p:spPr>
        <p:txBody>
          <a:bodyPr wrap="square" rtlCol="0" anchor="ctr"/>
          <a:lstStyle/>
          <a:p>
            <a:pPr marL="0" indent="0">
              <a:buNone/>
            </a:pPr>
            <a:r>
              <a:rPr lang="en-US" sz="1700" i="1" dirty="0">
                <a:solidFill>
                  <a:schemeClr val="tx1">
                    <a:lumMod val="75000"/>
                    <a:lumOff val="25000"/>
                  </a:schemeClr>
                </a:solidFill>
                <a:latin typeface="Calibri" pitchFamily="34" charset="0"/>
                <a:ea typeface="Calibri" pitchFamily="34" charset="-122"/>
                <a:cs typeface="Calibri" pitchFamily="34" charset="-120"/>
              </a:rPr>
              <a:t>Turning environmental and agricultural data into actionable yield forecasts</a:t>
            </a:r>
            <a:endParaRPr lang="en-US" sz="1700" dirty="0">
              <a:solidFill>
                <a:schemeClr val="tx1">
                  <a:lumMod val="75000"/>
                  <a:lumOff val="25000"/>
                </a:schemeClr>
              </a:solidFill>
            </a:endParaRPr>
          </a:p>
        </p:txBody>
      </p:sp>
      <p:sp>
        <p:nvSpPr>
          <p:cNvPr id="9" name="Shape 6"/>
          <p:cNvSpPr/>
          <p:nvPr/>
        </p:nvSpPr>
        <p:spPr>
          <a:xfrm>
            <a:off x="822960" y="4892040"/>
            <a:ext cx="2011680" cy="0"/>
          </a:xfrm>
          <a:prstGeom prst="line">
            <a:avLst/>
          </a:prstGeom>
          <a:noFill/>
          <a:ln w="31750">
            <a:solidFill>
              <a:srgbClr val="D9A62E"/>
            </a:solidFill>
            <a:prstDash val="solid"/>
          </a:ln>
        </p:spPr>
        <p:txBody>
          <a:bodyPr/>
          <a:lstStyle/>
          <a:p>
            <a:endParaRPr lang="en-US"/>
          </a:p>
        </p:txBody>
      </p:sp>
      <p:sp>
        <p:nvSpPr>
          <p:cNvPr id="10" name="Text 7"/>
          <p:cNvSpPr/>
          <p:nvPr/>
        </p:nvSpPr>
        <p:spPr>
          <a:xfrm>
            <a:off x="822960" y="5074920"/>
            <a:ext cx="9875520" cy="365760"/>
          </a:xfrm>
          <a:prstGeom prst="rect">
            <a:avLst/>
          </a:prstGeom>
          <a:noFill/>
          <a:ln/>
        </p:spPr>
        <p:txBody>
          <a:bodyPr wrap="square" rtlCol="0" anchor="ctr"/>
          <a:lstStyle/>
          <a:p>
            <a:pPr marL="0" indent="0">
              <a:buNone/>
            </a:pPr>
            <a:r>
              <a:rPr lang="en-US" sz="1250" dirty="0">
                <a:solidFill>
                  <a:schemeClr val="tx1">
                    <a:lumMod val="75000"/>
                    <a:lumOff val="25000"/>
                  </a:schemeClr>
                </a:solidFill>
                <a:latin typeface="Calibri" pitchFamily="34" charset="0"/>
                <a:ea typeface="Calibri" pitchFamily="34" charset="-122"/>
                <a:cs typeface="Calibri" pitchFamily="34" charset="-120"/>
              </a:rPr>
              <a:t>An end-to-end pipeline: Data  →  Cleaning  →  Analysis  →  Dashboard  →  ML  →  Web App</a:t>
            </a:r>
            <a:endParaRPr lang="en-US" sz="1250" dirty="0">
              <a:solidFill>
                <a:schemeClr val="tx1">
                  <a:lumMod val="75000"/>
                  <a:lumOff val="25000"/>
                </a:schemeClr>
              </a:solidFill>
            </a:endParaRPr>
          </a:p>
        </p:txBody>
      </p:sp>
      <p:sp>
        <p:nvSpPr>
          <p:cNvPr id="11" name="Text 8"/>
          <p:cNvSpPr/>
          <p:nvPr/>
        </p:nvSpPr>
        <p:spPr>
          <a:xfrm>
            <a:off x="822960" y="5989320"/>
            <a:ext cx="7315200" cy="274320"/>
          </a:xfrm>
          <a:prstGeom prst="rect">
            <a:avLst/>
          </a:prstGeom>
          <a:noFill/>
          <a:ln/>
        </p:spPr>
        <p:txBody>
          <a:bodyPr wrap="square" rtlCol="0" anchor="ctr"/>
          <a:lstStyle/>
          <a:p>
            <a:pPr marL="0" indent="0">
              <a:buNone/>
            </a:pPr>
            <a:r>
              <a:rPr lang="en-US" sz="900" i="1" dirty="0">
                <a:solidFill>
                  <a:schemeClr val="tx1">
                    <a:lumMod val="75000"/>
                    <a:lumOff val="25000"/>
                  </a:schemeClr>
                </a:solidFill>
                <a:latin typeface="Calibri" pitchFamily="34" charset="0"/>
                <a:ea typeface="Calibri" pitchFamily="34" charset="-122"/>
                <a:cs typeface="Calibri" pitchFamily="34" charset="-120"/>
              </a:rPr>
              <a:t>[IMAGE PLACEHOLDER: aerial view of agricultural field / farmland]</a:t>
            </a:r>
            <a:endParaRPr lang="en-US" sz="900" dirty="0">
              <a:solidFill>
                <a:schemeClr val="tx1">
                  <a:lumMod val="75000"/>
                  <a:lumOff val="25000"/>
                </a:schemeClr>
              </a:solidFill>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ROADMAP</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548640" y="169164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5" name="Shape 3"/>
          <p:cNvSpPr/>
          <p:nvPr/>
        </p:nvSpPr>
        <p:spPr>
          <a:xfrm>
            <a:off x="1463040" y="1929384"/>
            <a:ext cx="658368" cy="658368"/>
          </a:xfrm>
          <a:prstGeom prst="ellipse">
            <a:avLst/>
          </a:prstGeom>
          <a:solidFill>
            <a:schemeClr val="accent1"/>
          </a:solidFill>
          <a:ln>
            <a:solidFill>
              <a:schemeClr val="accent1"/>
            </a:solidFill>
          </a:ln>
        </p:spPr>
        <p:txBody>
          <a:bodyPr/>
          <a:lstStyle/>
          <a:p>
            <a:endParaRPr lang="en-US" dirty="0"/>
          </a:p>
        </p:txBody>
      </p:sp>
      <p:pic>
        <p:nvPicPr>
          <p:cNvPr id="6" name="Image 0" descr="/home/claude/crop_yield_ppt/icons/target_FFFFFF.png"/>
          <p:cNvPicPr>
            <a:picLocks noChangeAspect="1"/>
          </p:cNvPicPr>
          <p:nvPr/>
        </p:nvPicPr>
        <p:blipFill>
          <a:blip r:embed="rId3"/>
          <a:stretch>
            <a:fillRect/>
          </a:stretch>
        </p:blipFill>
        <p:spPr>
          <a:xfrm>
            <a:off x="1611173" y="2077517"/>
            <a:ext cx="362102" cy="362102"/>
          </a:xfrm>
          <a:prstGeom prst="rect">
            <a:avLst/>
          </a:prstGeom>
        </p:spPr>
      </p:pic>
      <p:sp>
        <p:nvSpPr>
          <p:cNvPr id="7" name="Text 4"/>
          <p:cNvSpPr/>
          <p:nvPr/>
        </p:nvSpPr>
        <p:spPr>
          <a:xfrm>
            <a:off x="658368" y="176479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01</a:t>
            </a:r>
            <a:endParaRPr lang="en-US" sz="1200" dirty="0"/>
          </a:p>
        </p:txBody>
      </p:sp>
      <p:sp>
        <p:nvSpPr>
          <p:cNvPr id="8" name="Text 5"/>
          <p:cNvSpPr/>
          <p:nvPr/>
        </p:nvSpPr>
        <p:spPr>
          <a:xfrm>
            <a:off x="685800" y="277063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Objectives</a:t>
            </a:r>
            <a:endParaRPr lang="en-US" sz="1500" dirty="0"/>
          </a:p>
        </p:txBody>
      </p:sp>
      <p:sp>
        <p:nvSpPr>
          <p:cNvPr id="9" name="Text 6"/>
          <p:cNvSpPr/>
          <p:nvPr/>
        </p:nvSpPr>
        <p:spPr>
          <a:xfrm>
            <a:off x="685800" y="313639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Problem statement &amp; goals</a:t>
            </a:r>
            <a:endParaRPr lang="en-US" sz="1050" dirty="0"/>
          </a:p>
        </p:txBody>
      </p:sp>
      <p:sp>
        <p:nvSpPr>
          <p:cNvPr id="10" name="Shape 7"/>
          <p:cNvSpPr/>
          <p:nvPr/>
        </p:nvSpPr>
        <p:spPr>
          <a:xfrm>
            <a:off x="3200400" y="169164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11" name="Shape 8"/>
          <p:cNvSpPr/>
          <p:nvPr/>
        </p:nvSpPr>
        <p:spPr>
          <a:xfrm>
            <a:off x="4114800" y="1929384"/>
            <a:ext cx="658368" cy="658368"/>
          </a:xfrm>
          <a:prstGeom prst="ellipse">
            <a:avLst/>
          </a:prstGeom>
          <a:solidFill>
            <a:schemeClr val="accent1"/>
          </a:solidFill>
          <a:ln>
            <a:solidFill>
              <a:schemeClr val="accent1"/>
            </a:solidFill>
          </a:ln>
        </p:spPr>
        <p:txBody>
          <a:bodyPr/>
          <a:lstStyle/>
          <a:p>
            <a:endParaRPr lang="en-US"/>
          </a:p>
        </p:txBody>
      </p:sp>
      <p:pic>
        <p:nvPicPr>
          <p:cNvPr id="12" name="Image 1" descr="/home/claude/crop_yield_ppt/icons/database_FFFFFF.png"/>
          <p:cNvPicPr>
            <a:picLocks noChangeAspect="1"/>
          </p:cNvPicPr>
          <p:nvPr/>
        </p:nvPicPr>
        <p:blipFill>
          <a:blip r:embed="rId4"/>
          <a:stretch>
            <a:fillRect/>
          </a:stretch>
        </p:blipFill>
        <p:spPr>
          <a:xfrm>
            <a:off x="4262933" y="2077517"/>
            <a:ext cx="362102" cy="362102"/>
          </a:xfrm>
          <a:prstGeom prst="rect">
            <a:avLst/>
          </a:prstGeom>
        </p:spPr>
      </p:pic>
      <p:sp>
        <p:nvSpPr>
          <p:cNvPr id="13" name="Text 9"/>
          <p:cNvSpPr/>
          <p:nvPr/>
        </p:nvSpPr>
        <p:spPr>
          <a:xfrm>
            <a:off x="3310128" y="176479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02</a:t>
            </a:r>
            <a:endParaRPr lang="en-US" sz="1200" dirty="0"/>
          </a:p>
        </p:txBody>
      </p:sp>
      <p:sp>
        <p:nvSpPr>
          <p:cNvPr id="14" name="Text 10"/>
          <p:cNvSpPr/>
          <p:nvPr/>
        </p:nvSpPr>
        <p:spPr>
          <a:xfrm>
            <a:off x="3337560" y="277063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Dataset</a:t>
            </a:r>
            <a:endParaRPr lang="en-US" sz="1500" dirty="0"/>
          </a:p>
        </p:txBody>
      </p:sp>
      <p:sp>
        <p:nvSpPr>
          <p:cNvPr id="15" name="Text 11"/>
          <p:cNvSpPr/>
          <p:nvPr/>
        </p:nvSpPr>
        <p:spPr>
          <a:xfrm>
            <a:off x="3337560" y="313639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Source, size &amp; features</a:t>
            </a:r>
            <a:endParaRPr lang="en-US" sz="1050" dirty="0"/>
          </a:p>
        </p:txBody>
      </p:sp>
      <p:sp>
        <p:nvSpPr>
          <p:cNvPr id="16" name="Shape 12"/>
          <p:cNvSpPr/>
          <p:nvPr/>
        </p:nvSpPr>
        <p:spPr>
          <a:xfrm>
            <a:off x="5852160" y="169164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17" name="Shape 13"/>
          <p:cNvSpPr/>
          <p:nvPr/>
        </p:nvSpPr>
        <p:spPr>
          <a:xfrm>
            <a:off x="6766560" y="1929384"/>
            <a:ext cx="658368" cy="658368"/>
          </a:xfrm>
          <a:prstGeom prst="ellipse">
            <a:avLst/>
          </a:prstGeom>
          <a:solidFill>
            <a:schemeClr val="accent1"/>
          </a:solidFill>
          <a:ln>
            <a:solidFill>
              <a:schemeClr val="accent1"/>
            </a:solidFill>
          </a:ln>
        </p:spPr>
        <p:txBody>
          <a:bodyPr/>
          <a:lstStyle/>
          <a:p>
            <a:endParaRPr lang="en-US" dirty="0"/>
          </a:p>
        </p:txBody>
      </p:sp>
      <p:pic>
        <p:nvPicPr>
          <p:cNvPr id="18" name="Image 2" descr="/home/claude/crop_yield_ppt/icons/filter_FFFFFF.png"/>
          <p:cNvPicPr>
            <a:picLocks noChangeAspect="1"/>
          </p:cNvPicPr>
          <p:nvPr/>
        </p:nvPicPr>
        <p:blipFill>
          <a:blip r:embed="rId5"/>
          <a:stretch>
            <a:fillRect/>
          </a:stretch>
        </p:blipFill>
        <p:spPr>
          <a:xfrm>
            <a:off x="6914693" y="2077517"/>
            <a:ext cx="362102" cy="362102"/>
          </a:xfrm>
          <a:prstGeom prst="rect">
            <a:avLst/>
          </a:prstGeom>
          <a:solidFill>
            <a:schemeClr val="accent1"/>
          </a:solidFill>
          <a:ln>
            <a:solidFill>
              <a:schemeClr val="accent1"/>
            </a:solidFill>
          </a:ln>
        </p:spPr>
      </p:pic>
      <p:sp>
        <p:nvSpPr>
          <p:cNvPr id="19" name="Text 14"/>
          <p:cNvSpPr/>
          <p:nvPr/>
        </p:nvSpPr>
        <p:spPr>
          <a:xfrm>
            <a:off x="5961888" y="176479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03</a:t>
            </a:r>
            <a:endParaRPr lang="en-US" sz="1200" dirty="0"/>
          </a:p>
        </p:txBody>
      </p:sp>
      <p:sp>
        <p:nvSpPr>
          <p:cNvPr id="20" name="Text 15"/>
          <p:cNvSpPr/>
          <p:nvPr/>
        </p:nvSpPr>
        <p:spPr>
          <a:xfrm>
            <a:off x="5989320" y="277063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Data Cleaning</a:t>
            </a:r>
            <a:endParaRPr lang="en-US" sz="1500" dirty="0"/>
          </a:p>
        </p:txBody>
      </p:sp>
      <p:sp>
        <p:nvSpPr>
          <p:cNvPr id="21" name="Text 16"/>
          <p:cNvSpPr/>
          <p:nvPr/>
        </p:nvSpPr>
        <p:spPr>
          <a:xfrm>
            <a:off x="5989320" y="313639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Preprocessing pipeline</a:t>
            </a:r>
            <a:endParaRPr lang="en-US" sz="1050" dirty="0"/>
          </a:p>
        </p:txBody>
      </p:sp>
      <p:sp>
        <p:nvSpPr>
          <p:cNvPr id="22" name="Shape 17"/>
          <p:cNvSpPr/>
          <p:nvPr/>
        </p:nvSpPr>
        <p:spPr>
          <a:xfrm>
            <a:off x="8503920" y="169164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23" name="Shape 18"/>
          <p:cNvSpPr/>
          <p:nvPr/>
        </p:nvSpPr>
        <p:spPr>
          <a:xfrm>
            <a:off x="9418320" y="1929384"/>
            <a:ext cx="658368" cy="658368"/>
          </a:xfrm>
          <a:prstGeom prst="ellipse">
            <a:avLst/>
          </a:prstGeom>
          <a:solidFill>
            <a:schemeClr val="accent1"/>
          </a:solidFill>
          <a:ln>
            <a:solidFill>
              <a:schemeClr val="accent1"/>
            </a:solidFill>
          </a:ln>
        </p:spPr>
        <p:txBody>
          <a:bodyPr/>
          <a:lstStyle/>
          <a:p>
            <a:endParaRPr lang="en-US"/>
          </a:p>
        </p:txBody>
      </p:sp>
      <p:pic>
        <p:nvPicPr>
          <p:cNvPr id="24" name="Image 3" descr="/home/claude/crop_yield_ppt/icons/barchart_FFFFFF.png"/>
          <p:cNvPicPr>
            <a:picLocks noChangeAspect="1"/>
          </p:cNvPicPr>
          <p:nvPr/>
        </p:nvPicPr>
        <p:blipFill>
          <a:blip r:embed="rId6"/>
          <a:stretch>
            <a:fillRect/>
          </a:stretch>
        </p:blipFill>
        <p:spPr>
          <a:xfrm>
            <a:off x="9566453" y="2077517"/>
            <a:ext cx="362102" cy="362102"/>
          </a:xfrm>
          <a:prstGeom prst="rect">
            <a:avLst/>
          </a:prstGeom>
          <a:solidFill>
            <a:schemeClr val="accent1"/>
          </a:solidFill>
          <a:ln>
            <a:solidFill>
              <a:schemeClr val="accent1"/>
            </a:solidFill>
          </a:ln>
        </p:spPr>
      </p:pic>
      <p:sp>
        <p:nvSpPr>
          <p:cNvPr id="25" name="Text 19"/>
          <p:cNvSpPr/>
          <p:nvPr/>
        </p:nvSpPr>
        <p:spPr>
          <a:xfrm>
            <a:off x="8613648" y="176479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04</a:t>
            </a:r>
            <a:endParaRPr lang="en-US" sz="1200" dirty="0"/>
          </a:p>
        </p:txBody>
      </p:sp>
      <p:sp>
        <p:nvSpPr>
          <p:cNvPr id="26" name="Text 20"/>
          <p:cNvSpPr/>
          <p:nvPr/>
        </p:nvSpPr>
        <p:spPr>
          <a:xfrm>
            <a:off x="8641080" y="277063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EDA</a:t>
            </a:r>
            <a:endParaRPr lang="en-US" sz="1500" dirty="0"/>
          </a:p>
        </p:txBody>
      </p:sp>
      <p:sp>
        <p:nvSpPr>
          <p:cNvPr id="27" name="Text 21"/>
          <p:cNvSpPr/>
          <p:nvPr/>
        </p:nvSpPr>
        <p:spPr>
          <a:xfrm>
            <a:off x="8641080" y="313639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Patterns &amp; correlations</a:t>
            </a:r>
            <a:endParaRPr lang="en-US" sz="1050" dirty="0"/>
          </a:p>
        </p:txBody>
      </p:sp>
      <p:sp>
        <p:nvSpPr>
          <p:cNvPr id="28" name="Shape 22"/>
          <p:cNvSpPr/>
          <p:nvPr/>
        </p:nvSpPr>
        <p:spPr>
          <a:xfrm>
            <a:off x="548640" y="406908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29" name="Shape 23"/>
          <p:cNvSpPr/>
          <p:nvPr/>
        </p:nvSpPr>
        <p:spPr>
          <a:xfrm>
            <a:off x="1463040" y="4306824"/>
            <a:ext cx="658368" cy="658368"/>
          </a:xfrm>
          <a:prstGeom prst="ellipse">
            <a:avLst/>
          </a:prstGeom>
          <a:solidFill>
            <a:schemeClr val="accent1"/>
          </a:solidFill>
          <a:ln>
            <a:solidFill>
              <a:schemeClr val="accent1"/>
            </a:solidFill>
          </a:ln>
        </p:spPr>
        <p:txBody>
          <a:bodyPr/>
          <a:lstStyle/>
          <a:p>
            <a:endParaRPr lang="en-US"/>
          </a:p>
        </p:txBody>
      </p:sp>
      <p:pic>
        <p:nvPicPr>
          <p:cNvPr id="30" name="Image 4" descr="/home/claude/crop_yield_ppt/icons/monitor_FFFFFF.png"/>
          <p:cNvPicPr>
            <a:picLocks noChangeAspect="1"/>
          </p:cNvPicPr>
          <p:nvPr/>
        </p:nvPicPr>
        <p:blipFill>
          <a:blip r:embed="rId7"/>
          <a:stretch>
            <a:fillRect/>
          </a:stretch>
        </p:blipFill>
        <p:spPr>
          <a:xfrm>
            <a:off x="1611173" y="4454957"/>
            <a:ext cx="362102" cy="362102"/>
          </a:xfrm>
          <a:prstGeom prst="rect">
            <a:avLst/>
          </a:prstGeom>
          <a:solidFill>
            <a:schemeClr val="accent1"/>
          </a:solidFill>
          <a:ln>
            <a:solidFill>
              <a:schemeClr val="accent1"/>
            </a:solidFill>
          </a:ln>
        </p:spPr>
      </p:pic>
      <p:sp>
        <p:nvSpPr>
          <p:cNvPr id="31" name="Text 24"/>
          <p:cNvSpPr/>
          <p:nvPr/>
        </p:nvSpPr>
        <p:spPr>
          <a:xfrm>
            <a:off x="658368" y="414223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05</a:t>
            </a:r>
            <a:endParaRPr lang="en-US" sz="1200" dirty="0"/>
          </a:p>
        </p:txBody>
      </p:sp>
      <p:sp>
        <p:nvSpPr>
          <p:cNvPr id="32" name="Text 25"/>
          <p:cNvSpPr/>
          <p:nvPr/>
        </p:nvSpPr>
        <p:spPr>
          <a:xfrm>
            <a:off x="685800" y="514807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Dashboard</a:t>
            </a:r>
            <a:endParaRPr lang="en-US" sz="1500" dirty="0"/>
          </a:p>
        </p:txBody>
      </p:sp>
      <p:sp>
        <p:nvSpPr>
          <p:cNvPr id="33" name="Text 26"/>
          <p:cNvSpPr/>
          <p:nvPr/>
        </p:nvSpPr>
        <p:spPr>
          <a:xfrm>
            <a:off x="685800" y="551383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Interactive visual exploration</a:t>
            </a:r>
            <a:endParaRPr lang="en-US" sz="1050" dirty="0"/>
          </a:p>
        </p:txBody>
      </p:sp>
      <p:sp>
        <p:nvSpPr>
          <p:cNvPr id="34" name="Shape 27"/>
          <p:cNvSpPr/>
          <p:nvPr/>
        </p:nvSpPr>
        <p:spPr>
          <a:xfrm>
            <a:off x="3200400" y="406908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35" name="Shape 28"/>
          <p:cNvSpPr/>
          <p:nvPr/>
        </p:nvSpPr>
        <p:spPr>
          <a:xfrm>
            <a:off x="4114800" y="4306824"/>
            <a:ext cx="658368" cy="658368"/>
          </a:xfrm>
          <a:prstGeom prst="ellipse">
            <a:avLst/>
          </a:prstGeom>
          <a:solidFill>
            <a:schemeClr val="accent1"/>
          </a:solidFill>
          <a:ln>
            <a:solidFill>
              <a:schemeClr val="accent1"/>
            </a:solidFill>
          </a:ln>
        </p:spPr>
        <p:txBody>
          <a:bodyPr/>
          <a:lstStyle/>
          <a:p>
            <a:endParaRPr lang="en-US"/>
          </a:p>
        </p:txBody>
      </p:sp>
      <p:pic>
        <p:nvPicPr>
          <p:cNvPr id="36" name="Image 5" descr="/home/claude/crop_yield_ppt/icons/cpu_FFFFFF.png"/>
          <p:cNvPicPr>
            <a:picLocks noChangeAspect="1"/>
          </p:cNvPicPr>
          <p:nvPr/>
        </p:nvPicPr>
        <p:blipFill>
          <a:blip r:embed="rId8"/>
          <a:stretch>
            <a:fillRect/>
          </a:stretch>
        </p:blipFill>
        <p:spPr>
          <a:xfrm>
            <a:off x="4262933" y="4454957"/>
            <a:ext cx="362102" cy="362102"/>
          </a:xfrm>
          <a:prstGeom prst="rect">
            <a:avLst/>
          </a:prstGeom>
          <a:solidFill>
            <a:schemeClr val="accent1"/>
          </a:solidFill>
          <a:ln>
            <a:solidFill>
              <a:schemeClr val="accent1"/>
            </a:solidFill>
          </a:ln>
        </p:spPr>
      </p:pic>
      <p:sp>
        <p:nvSpPr>
          <p:cNvPr id="37" name="Text 29"/>
          <p:cNvSpPr/>
          <p:nvPr/>
        </p:nvSpPr>
        <p:spPr>
          <a:xfrm>
            <a:off x="3310128" y="414223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06</a:t>
            </a:r>
            <a:endParaRPr lang="en-US" sz="1200" dirty="0"/>
          </a:p>
        </p:txBody>
      </p:sp>
      <p:sp>
        <p:nvSpPr>
          <p:cNvPr id="38" name="Text 30"/>
          <p:cNvSpPr/>
          <p:nvPr/>
        </p:nvSpPr>
        <p:spPr>
          <a:xfrm>
            <a:off x="3337560" y="514807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ML Models</a:t>
            </a:r>
            <a:endParaRPr lang="en-US" sz="1500" dirty="0"/>
          </a:p>
        </p:txBody>
      </p:sp>
      <p:sp>
        <p:nvSpPr>
          <p:cNvPr id="39" name="Text 31"/>
          <p:cNvSpPr/>
          <p:nvPr/>
        </p:nvSpPr>
        <p:spPr>
          <a:xfrm>
            <a:off x="3337560" y="551383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Training &amp; evaluation</a:t>
            </a:r>
            <a:endParaRPr lang="en-US" sz="1050" dirty="0"/>
          </a:p>
        </p:txBody>
      </p:sp>
      <p:sp>
        <p:nvSpPr>
          <p:cNvPr id="40" name="Shape 32"/>
          <p:cNvSpPr/>
          <p:nvPr/>
        </p:nvSpPr>
        <p:spPr>
          <a:xfrm>
            <a:off x="5852160" y="406908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41" name="Shape 33"/>
          <p:cNvSpPr/>
          <p:nvPr/>
        </p:nvSpPr>
        <p:spPr>
          <a:xfrm>
            <a:off x="6766560" y="4306824"/>
            <a:ext cx="658368" cy="658368"/>
          </a:xfrm>
          <a:prstGeom prst="ellipse">
            <a:avLst/>
          </a:prstGeom>
          <a:solidFill>
            <a:schemeClr val="accent1"/>
          </a:solidFill>
          <a:ln>
            <a:solidFill>
              <a:schemeClr val="accent1"/>
            </a:solidFill>
          </a:ln>
        </p:spPr>
        <p:txBody>
          <a:bodyPr/>
          <a:lstStyle/>
          <a:p>
            <a:endParaRPr lang="en-US"/>
          </a:p>
        </p:txBody>
      </p:sp>
      <p:pic>
        <p:nvPicPr>
          <p:cNvPr id="42" name="Image 6" descr="/home/claude/crop_yield_ppt/icons/smartphone_FFFFFF.png"/>
          <p:cNvPicPr>
            <a:picLocks noChangeAspect="1"/>
          </p:cNvPicPr>
          <p:nvPr/>
        </p:nvPicPr>
        <p:blipFill>
          <a:blip r:embed="rId9"/>
          <a:stretch>
            <a:fillRect/>
          </a:stretch>
        </p:blipFill>
        <p:spPr>
          <a:xfrm>
            <a:off x="6914693" y="4454957"/>
            <a:ext cx="362102" cy="362102"/>
          </a:xfrm>
          <a:prstGeom prst="rect">
            <a:avLst/>
          </a:prstGeom>
        </p:spPr>
      </p:pic>
      <p:sp>
        <p:nvSpPr>
          <p:cNvPr id="43" name="Text 34"/>
          <p:cNvSpPr/>
          <p:nvPr/>
        </p:nvSpPr>
        <p:spPr>
          <a:xfrm>
            <a:off x="5961888" y="414223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07</a:t>
            </a:r>
            <a:endParaRPr lang="en-US" sz="1200" dirty="0"/>
          </a:p>
        </p:txBody>
      </p:sp>
      <p:sp>
        <p:nvSpPr>
          <p:cNvPr id="44" name="Text 35"/>
          <p:cNvSpPr/>
          <p:nvPr/>
        </p:nvSpPr>
        <p:spPr>
          <a:xfrm>
            <a:off x="5989320" y="514807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Web App</a:t>
            </a:r>
            <a:endParaRPr lang="en-US" sz="1500" dirty="0"/>
          </a:p>
        </p:txBody>
      </p:sp>
      <p:sp>
        <p:nvSpPr>
          <p:cNvPr id="45" name="Text 36"/>
          <p:cNvSpPr/>
          <p:nvPr/>
        </p:nvSpPr>
        <p:spPr>
          <a:xfrm>
            <a:off x="5989320" y="551383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Live prediction demo</a:t>
            </a:r>
            <a:endParaRPr lang="en-US" sz="1050" dirty="0"/>
          </a:p>
        </p:txBody>
      </p:sp>
      <p:sp>
        <p:nvSpPr>
          <p:cNvPr id="46" name="Shape 37"/>
          <p:cNvSpPr/>
          <p:nvPr/>
        </p:nvSpPr>
        <p:spPr>
          <a:xfrm>
            <a:off x="8503920" y="4069080"/>
            <a:ext cx="2487168" cy="2148840"/>
          </a:xfrm>
          <a:prstGeom prst="roundRect">
            <a:avLst>
              <a:gd name="adj" fmla="val 3404"/>
            </a:avLst>
          </a:prstGeom>
          <a:solidFill>
            <a:srgbClr val="F4F7F2"/>
          </a:solidFill>
          <a:ln/>
          <a:effectLst>
            <a:outerShdw blurRad="76200" dist="25400" dir="5400000" algn="bl" rotWithShape="0">
              <a:srgbClr val="000000">
                <a:alpha val="12000"/>
              </a:srgbClr>
            </a:outerShdw>
          </a:effectLst>
        </p:spPr>
        <p:txBody>
          <a:bodyPr/>
          <a:lstStyle/>
          <a:p>
            <a:endParaRPr lang="en-US"/>
          </a:p>
        </p:txBody>
      </p:sp>
      <p:sp>
        <p:nvSpPr>
          <p:cNvPr id="47" name="Shape 38"/>
          <p:cNvSpPr/>
          <p:nvPr/>
        </p:nvSpPr>
        <p:spPr>
          <a:xfrm>
            <a:off x="9418320" y="4306824"/>
            <a:ext cx="658368" cy="658368"/>
          </a:xfrm>
          <a:prstGeom prst="ellipse">
            <a:avLst/>
          </a:prstGeom>
          <a:solidFill>
            <a:schemeClr val="accent1"/>
          </a:solidFill>
          <a:ln>
            <a:solidFill>
              <a:schemeClr val="accent1"/>
            </a:solidFill>
          </a:ln>
        </p:spPr>
        <p:txBody>
          <a:bodyPr/>
          <a:lstStyle/>
          <a:p>
            <a:endParaRPr lang="en-US"/>
          </a:p>
        </p:txBody>
      </p:sp>
      <p:pic>
        <p:nvPicPr>
          <p:cNvPr id="48" name="Image 7" descr="/home/claude/crop_yield_ppt/icons/flag_FFFFFF.png"/>
          <p:cNvPicPr>
            <a:picLocks noChangeAspect="1"/>
          </p:cNvPicPr>
          <p:nvPr/>
        </p:nvPicPr>
        <p:blipFill>
          <a:blip r:embed="rId10"/>
          <a:stretch>
            <a:fillRect/>
          </a:stretch>
        </p:blipFill>
        <p:spPr>
          <a:xfrm>
            <a:off x="9566453" y="4454957"/>
            <a:ext cx="362102" cy="362102"/>
          </a:xfrm>
          <a:prstGeom prst="rect">
            <a:avLst/>
          </a:prstGeom>
        </p:spPr>
      </p:pic>
      <p:sp>
        <p:nvSpPr>
          <p:cNvPr id="49" name="Text 39"/>
          <p:cNvSpPr/>
          <p:nvPr/>
        </p:nvSpPr>
        <p:spPr>
          <a:xfrm>
            <a:off x="8613648" y="4142232"/>
            <a:ext cx="548640" cy="274320"/>
          </a:xfrm>
          <a:prstGeom prst="rect">
            <a:avLst/>
          </a:prstGeom>
          <a:noFill/>
          <a:ln/>
        </p:spPr>
        <p:txBody>
          <a:bodyPr wrap="square" rtlCol="0" anchor="ctr"/>
          <a:lstStyle/>
          <a:p>
            <a:pPr marL="0" indent="0">
              <a:buNone/>
            </a:pPr>
            <a:r>
              <a:rPr lang="en-US" sz="1200" b="1" dirty="0">
                <a:solidFill>
                  <a:srgbClr val="D9A62E"/>
                </a:solidFill>
                <a:latin typeface="Cambria" pitchFamily="34" charset="0"/>
                <a:ea typeface="Cambria" pitchFamily="34" charset="-122"/>
                <a:cs typeface="Cambria" pitchFamily="34" charset="-120"/>
              </a:rPr>
              <a:t>08</a:t>
            </a:r>
            <a:endParaRPr lang="en-US" sz="1200" dirty="0"/>
          </a:p>
        </p:txBody>
      </p:sp>
      <p:sp>
        <p:nvSpPr>
          <p:cNvPr id="50" name="Text 40"/>
          <p:cNvSpPr/>
          <p:nvPr/>
        </p:nvSpPr>
        <p:spPr>
          <a:xfrm>
            <a:off x="8641080" y="5148072"/>
            <a:ext cx="2212848"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Conclusion</a:t>
            </a:r>
            <a:endParaRPr lang="en-US" sz="1500" dirty="0"/>
          </a:p>
        </p:txBody>
      </p:sp>
      <p:sp>
        <p:nvSpPr>
          <p:cNvPr id="51" name="Text 41"/>
          <p:cNvSpPr/>
          <p:nvPr/>
        </p:nvSpPr>
        <p:spPr>
          <a:xfrm>
            <a:off x="8641080" y="5513832"/>
            <a:ext cx="2212848" cy="594360"/>
          </a:xfrm>
          <a:prstGeom prst="rect">
            <a:avLst/>
          </a:prstGeom>
          <a:noFill/>
          <a:ln/>
        </p:spPr>
        <p:txBody>
          <a:bodyPr wrap="square" rtlCol="0" anchor="ctr"/>
          <a:lstStyle/>
          <a:p>
            <a:pPr marL="0" indent="0" algn="ctr">
              <a:buNone/>
            </a:pPr>
            <a:r>
              <a:rPr lang="en-US" sz="1050" dirty="0">
                <a:solidFill>
                  <a:srgbClr val="6B7A6B"/>
                </a:solidFill>
                <a:latin typeface="Calibri" pitchFamily="34" charset="0"/>
                <a:ea typeface="Calibri" pitchFamily="34" charset="-122"/>
                <a:cs typeface="Calibri" pitchFamily="34" charset="-120"/>
              </a:rPr>
              <a:t>Impact &amp; future work</a:t>
            </a:r>
            <a:endParaRPr lang="en-US" sz="1050" dirty="0"/>
          </a:p>
        </p:txBody>
      </p:sp>
      <p:sp>
        <p:nvSpPr>
          <p:cNvPr id="52" name="Text 42"/>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53" name="Text 43"/>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01 — OVERVIEW</a:t>
            </a:r>
            <a:endParaRPr lang="en-US" sz="1200" dirty="0">
              <a:solidFill>
                <a:srgbClr val="0070C0"/>
              </a:solidFill>
            </a:endParaRPr>
          </a:p>
        </p:txBody>
      </p:sp>
      <p:sp>
        <p:nvSpPr>
          <p:cNvPr id="3" name="Text 1"/>
          <p:cNvSpPr/>
          <p:nvPr/>
        </p:nvSpPr>
        <p:spPr>
          <a:xfrm>
            <a:off x="548640" y="658368"/>
            <a:ext cx="6309360" cy="731520"/>
          </a:xfrm>
          <a:prstGeom prst="rect">
            <a:avLst/>
          </a:prstGeom>
          <a:noFill/>
          <a:ln/>
        </p:spPr>
        <p:txBody>
          <a:bodyPr wrap="square" rtlCol="0" anchor="ctr"/>
          <a:lstStyle/>
          <a:p>
            <a:pPr marL="0" indent="0">
              <a:buNone/>
            </a:pPr>
            <a:r>
              <a:rPr lang="en-US" sz="2600" b="1" dirty="0">
                <a:solidFill>
                  <a:srgbClr val="223522"/>
                </a:solidFill>
                <a:latin typeface="Cambria" pitchFamily="34" charset="0"/>
                <a:ea typeface="Cambria" pitchFamily="34" charset="-122"/>
                <a:cs typeface="Cambria" pitchFamily="34" charset="-120"/>
              </a:rPr>
              <a:t>Project Objectives &amp; Problem Statement</a:t>
            </a:r>
            <a:endParaRPr lang="en-US" sz="2600" dirty="0"/>
          </a:p>
        </p:txBody>
      </p:sp>
      <p:sp>
        <p:nvSpPr>
          <p:cNvPr id="4" name="Shape 2"/>
          <p:cNvSpPr/>
          <p:nvPr/>
        </p:nvSpPr>
        <p:spPr>
          <a:xfrm>
            <a:off x="7040880" y="0"/>
            <a:ext cx="5120640" cy="6858000"/>
          </a:xfrm>
          <a:prstGeom prst="rect">
            <a:avLst/>
          </a:prstGeom>
          <a:solidFill>
            <a:schemeClr val="accent1"/>
          </a:solidFill>
          <a:ln/>
        </p:spPr>
        <p:txBody>
          <a:bodyPr/>
          <a:lstStyle/>
          <a:p>
            <a:endParaRPr lang="en-US" dirty="0">
              <a:highlight>
                <a:srgbClr val="000080"/>
              </a:highlight>
            </a:endParaRPr>
          </a:p>
        </p:txBody>
      </p:sp>
      <p:sp>
        <p:nvSpPr>
          <p:cNvPr id="5" name="Shape 3"/>
          <p:cNvSpPr/>
          <p:nvPr/>
        </p:nvSpPr>
        <p:spPr>
          <a:xfrm>
            <a:off x="7406640" y="1554480"/>
            <a:ext cx="4389120" cy="3749040"/>
          </a:xfrm>
          <a:prstGeom prst="roundRect">
            <a:avLst>
              <a:gd name="adj" fmla="val 1463"/>
            </a:avLst>
          </a:prstGeom>
          <a:solidFill>
            <a:srgbClr val="FFFFFF"/>
          </a:solidFill>
          <a:ln w="12700">
            <a:solidFill>
              <a:srgbClr val="5C8A52"/>
            </a:solidFill>
            <a:prstDash val="solid"/>
          </a:ln>
        </p:spPr>
        <p:txBody>
          <a:bodyPr/>
          <a:lstStyle/>
          <a:p>
            <a:endParaRPr lang="en-US"/>
          </a:p>
        </p:txBody>
      </p:sp>
      <p:sp>
        <p:nvSpPr>
          <p:cNvPr id="6" name="Text 4"/>
          <p:cNvSpPr/>
          <p:nvPr/>
        </p:nvSpPr>
        <p:spPr>
          <a:xfrm>
            <a:off x="7406640" y="2743200"/>
            <a:ext cx="4389120" cy="1371600"/>
          </a:xfrm>
          <a:prstGeom prst="rect">
            <a:avLst/>
          </a:prstGeom>
          <a:noFill/>
          <a:ln/>
        </p:spPr>
        <p:txBody>
          <a:bodyPr wrap="square" rtlCol="0" anchor="ctr"/>
          <a:lstStyle/>
          <a:p>
            <a:pPr marL="0" indent="0" algn="ctr">
              <a:buNone/>
            </a:pPr>
            <a:r>
              <a:rPr lang="en-US" sz="1100" i="1" dirty="0">
                <a:solidFill>
                  <a:srgbClr val="6B7A6B"/>
                </a:solidFill>
                <a:latin typeface="Calibri" pitchFamily="34" charset="0"/>
                <a:ea typeface="Calibri" pitchFamily="34" charset="-122"/>
                <a:cs typeface="Calibri" pitchFamily="34" charset="-120"/>
              </a:rPr>
              <a:t>[IMAGE PLACEHOLDER:</a:t>
            </a:r>
            <a:endParaRPr lang="en-US" sz="1100" dirty="0"/>
          </a:p>
          <a:p>
            <a:pPr marL="0" indent="0" algn="ctr">
              <a:buNone/>
            </a:pPr>
            <a:r>
              <a:rPr lang="en-US" sz="1100" i="1" dirty="0">
                <a:solidFill>
                  <a:srgbClr val="6B7A6B"/>
                </a:solidFill>
                <a:latin typeface="Calibri" pitchFamily="34" charset="0"/>
                <a:ea typeface="Calibri" pitchFamily="34" charset="-122"/>
                <a:cs typeface="Calibri" pitchFamily="34" charset="-120"/>
              </a:rPr>
              <a:t>farmer working in field]</a:t>
            </a:r>
            <a:endParaRPr lang="en-US" sz="1100" dirty="0"/>
          </a:p>
        </p:txBody>
      </p:sp>
      <p:sp>
        <p:nvSpPr>
          <p:cNvPr id="7" name="Shape 5"/>
          <p:cNvSpPr/>
          <p:nvPr/>
        </p:nvSpPr>
        <p:spPr>
          <a:xfrm>
            <a:off x="708660" y="1696212"/>
            <a:ext cx="502920" cy="502920"/>
          </a:xfrm>
          <a:prstGeom prst="ellipse">
            <a:avLst/>
          </a:prstGeom>
          <a:solidFill>
            <a:schemeClr val="accent1"/>
          </a:solidFill>
          <a:ln>
            <a:solidFill>
              <a:schemeClr val="accent1"/>
            </a:solidFill>
          </a:ln>
        </p:spPr>
        <p:txBody>
          <a:bodyPr/>
          <a:lstStyle/>
          <a:p>
            <a:endParaRPr lang="en-US"/>
          </a:p>
        </p:txBody>
      </p:sp>
      <p:pic>
        <p:nvPicPr>
          <p:cNvPr id="8" name="Image 0" descr="/home/claude/crop_yield_ppt/icons/check_FFFFFF.png"/>
          <p:cNvPicPr>
            <a:picLocks noChangeAspect="1"/>
          </p:cNvPicPr>
          <p:nvPr/>
        </p:nvPicPr>
        <p:blipFill>
          <a:blip r:embed="rId3"/>
          <a:stretch>
            <a:fillRect/>
          </a:stretch>
        </p:blipFill>
        <p:spPr>
          <a:xfrm>
            <a:off x="821817" y="1809369"/>
            <a:ext cx="276606" cy="276606"/>
          </a:xfrm>
          <a:prstGeom prst="rect">
            <a:avLst/>
          </a:prstGeom>
        </p:spPr>
      </p:pic>
      <p:sp>
        <p:nvSpPr>
          <p:cNvPr id="9" name="Text 6"/>
          <p:cNvSpPr/>
          <p:nvPr/>
        </p:nvSpPr>
        <p:spPr>
          <a:xfrm>
            <a:off x="1417320" y="1691640"/>
            <a:ext cx="5303520" cy="1051560"/>
          </a:xfrm>
          <a:prstGeom prst="rect">
            <a:avLst/>
          </a:prstGeom>
          <a:noFill/>
          <a:ln/>
        </p:spPr>
        <p:txBody>
          <a:bodyPr wrap="square" rtlCol="0" anchor="t"/>
          <a:lstStyle/>
          <a:p>
            <a:pPr marL="0" indent="0">
              <a:lnSpc>
                <a:spcPct val="115000"/>
              </a:lnSpc>
              <a:buNone/>
            </a:pPr>
            <a:r>
              <a:rPr lang="en-US" sz="1500" b="1" dirty="0">
                <a:solidFill>
                  <a:srgbClr val="223522"/>
                </a:solidFill>
                <a:latin typeface="Calibri" pitchFamily="34" charset="0"/>
                <a:ea typeface="Calibri" pitchFamily="34" charset="-122"/>
                <a:cs typeface="Calibri" pitchFamily="34" charset="-120"/>
              </a:rPr>
              <a:t>Predict crop yield  </a:t>
            </a:r>
            <a:r>
              <a:rPr lang="en-US" sz="1300" dirty="0">
                <a:solidFill>
                  <a:srgbClr val="6B7A6B"/>
                </a:solidFill>
                <a:latin typeface="Calibri" pitchFamily="34" charset="0"/>
                <a:ea typeface="Calibri" pitchFamily="34" charset="-122"/>
                <a:cs typeface="Calibri" pitchFamily="34" charset="-120"/>
              </a:rPr>
              <a:t>from environmental and agricultural factors such as rainfall, temperature, and soil quality.</a:t>
            </a:r>
            <a:endParaRPr lang="en-US" sz="1500" dirty="0"/>
          </a:p>
        </p:txBody>
      </p:sp>
      <p:sp>
        <p:nvSpPr>
          <p:cNvPr id="10" name="Shape 7"/>
          <p:cNvSpPr/>
          <p:nvPr/>
        </p:nvSpPr>
        <p:spPr>
          <a:xfrm>
            <a:off x="708660" y="3113532"/>
            <a:ext cx="502920" cy="502920"/>
          </a:xfrm>
          <a:prstGeom prst="ellipse">
            <a:avLst/>
          </a:prstGeom>
          <a:solidFill>
            <a:schemeClr val="accent1"/>
          </a:solidFill>
          <a:ln>
            <a:solidFill>
              <a:schemeClr val="accent1"/>
            </a:solidFill>
          </a:ln>
        </p:spPr>
        <p:txBody>
          <a:bodyPr/>
          <a:lstStyle/>
          <a:p>
            <a:endParaRPr lang="en-US"/>
          </a:p>
        </p:txBody>
      </p:sp>
      <p:pic>
        <p:nvPicPr>
          <p:cNvPr id="11" name="Image 1" descr="/home/claude/crop_yield_ppt/icons/check_FFFFFF.png"/>
          <p:cNvPicPr>
            <a:picLocks noChangeAspect="1"/>
          </p:cNvPicPr>
          <p:nvPr/>
        </p:nvPicPr>
        <p:blipFill>
          <a:blip r:embed="rId3"/>
          <a:stretch>
            <a:fillRect/>
          </a:stretch>
        </p:blipFill>
        <p:spPr>
          <a:xfrm>
            <a:off x="821817" y="3226689"/>
            <a:ext cx="276606" cy="276606"/>
          </a:xfrm>
          <a:prstGeom prst="rect">
            <a:avLst/>
          </a:prstGeom>
          <a:solidFill>
            <a:schemeClr val="accent1"/>
          </a:solidFill>
          <a:ln>
            <a:solidFill>
              <a:schemeClr val="accent1"/>
            </a:solidFill>
          </a:ln>
        </p:spPr>
      </p:pic>
      <p:sp>
        <p:nvSpPr>
          <p:cNvPr id="12" name="Text 8"/>
          <p:cNvSpPr/>
          <p:nvPr/>
        </p:nvSpPr>
        <p:spPr>
          <a:xfrm>
            <a:off x="1417320" y="3108960"/>
            <a:ext cx="5303520" cy="1051560"/>
          </a:xfrm>
          <a:prstGeom prst="rect">
            <a:avLst/>
          </a:prstGeom>
          <a:noFill/>
          <a:ln/>
        </p:spPr>
        <p:txBody>
          <a:bodyPr wrap="square" rtlCol="0" anchor="t"/>
          <a:lstStyle/>
          <a:p>
            <a:pPr marL="0" indent="0">
              <a:lnSpc>
                <a:spcPct val="115000"/>
              </a:lnSpc>
              <a:buNone/>
            </a:pPr>
            <a:r>
              <a:rPr lang="en-US" sz="1500" b="1" dirty="0">
                <a:solidFill>
                  <a:srgbClr val="223522"/>
                </a:solidFill>
                <a:latin typeface="Calibri" pitchFamily="34" charset="0"/>
                <a:ea typeface="Calibri" pitchFamily="34" charset="-122"/>
                <a:cs typeface="Calibri" pitchFamily="34" charset="-120"/>
              </a:rPr>
              <a:t>Support decision-making  </a:t>
            </a:r>
            <a:r>
              <a:rPr lang="en-US" sz="1300" dirty="0">
                <a:solidFill>
                  <a:srgbClr val="6B7A6B"/>
                </a:solidFill>
                <a:latin typeface="Calibri" pitchFamily="34" charset="0"/>
                <a:ea typeface="Calibri" pitchFamily="34" charset="-122"/>
                <a:cs typeface="Calibri" pitchFamily="34" charset="-120"/>
              </a:rPr>
              <a:t>give farmers and agricultural planners a data-driven basis for planning.</a:t>
            </a:r>
            <a:endParaRPr lang="en-US" sz="1500" dirty="0"/>
          </a:p>
        </p:txBody>
      </p:sp>
      <p:sp>
        <p:nvSpPr>
          <p:cNvPr id="13" name="Shape 9"/>
          <p:cNvSpPr/>
          <p:nvPr/>
        </p:nvSpPr>
        <p:spPr>
          <a:xfrm>
            <a:off x="708660" y="4530852"/>
            <a:ext cx="502920" cy="502920"/>
          </a:xfrm>
          <a:prstGeom prst="ellipse">
            <a:avLst/>
          </a:prstGeom>
          <a:solidFill>
            <a:schemeClr val="accent1"/>
          </a:solidFill>
          <a:ln>
            <a:solidFill>
              <a:schemeClr val="accent1"/>
            </a:solidFill>
          </a:ln>
        </p:spPr>
        <p:txBody>
          <a:bodyPr/>
          <a:lstStyle/>
          <a:p>
            <a:endParaRPr lang="en-US"/>
          </a:p>
        </p:txBody>
      </p:sp>
      <p:pic>
        <p:nvPicPr>
          <p:cNvPr id="14" name="Image 2" descr="/home/claude/crop_yield_ppt/icons/check_FFFFFF.png"/>
          <p:cNvPicPr>
            <a:picLocks noChangeAspect="1"/>
          </p:cNvPicPr>
          <p:nvPr/>
        </p:nvPicPr>
        <p:blipFill>
          <a:blip r:embed="rId3"/>
          <a:stretch>
            <a:fillRect/>
          </a:stretch>
        </p:blipFill>
        <p:spPr>
          <a:xfrm>
            <a:off x="821817" y="4644009"/>
            <a:ext cx="276606" cy="276606"/>
          </a:xfrm>
          <a:prstGeom prst="rect">
            <a:avLst/>
          </a:prstGeom>
          <a:solidFill>
            <a:schemeClr val="accent1"/>
          </a:solidFill>
          <a:ln>
            <a:solidFill>
              <a:schemeClr val="accent1"/>
            </a:solidFill>
          </a:ln>
        </p:spPr>
      </p:pic>
      <p:sp>
        <p:nvSpPr>
          <p:cNvPr id="15" name="Text 10"/>
          <p:cNvSpPr/>
          <p:nvPr/>
        </p:nvSpPr>
        <p:spPr>
          <a:xfrm>
            <a:off x="1417320" y="4526280"/>
            <a:ext cx="5303520" cy="1051560"/>
          </a:xfrm>
          <a:prstGeom prst="rect">
            <a:avLst/>
          </a:prstGeom>
          <a:noFill/>
          <a:ln/>
        </p:spPr>
        <p:txBody>
          <a:bodyPr wrap="square" rtlCol="0" anchor="t"/>
          <a:lstStyle/>
          <a:p>
            <a:pPr marL="0" indent="0">
              <a:lnSpc>
                <a:spcPct val="115000"/>
              </a:lnSpc>
              <a:buNone/>
            </a:pPr>
            <a:r>
              <a:rPr lang="en-US" sz="1500" b="1" dirty="0">
                <a:solidFill>
                  <a:srgbClr val="223522"/>
                </a:solidFill>
                <a:latin typeface="Calibri" pitchFamily="34" charset="0"/>
                <a:ea typeface="Calibri" pitchFamily="34" charset="-122"/>
                <a:cs typeface="Calibri" pitchFamily="34" charset="-120"/>
              </a:rPr>
              <a:t>Build an end-to-end pipeline  </a:t>
            </a:r>
            <a:r>
              <a:rPr lang="en-US" sz="1300" dirty="0">
                <a:solidFill>
                  <a:srgbClr val="6B7A6B"/>
                </a:solidFill>
                <a:latin typeface="Calibri" pitchFamily="34" charset="0"/>
                <a:ea typeface="Calibri" pitchFamily="34" charset="-122"/>
                <a:cs typeface="Calibri" pitchFamily="34" charset="-120"/>
              </a:rPr>
              <a:t>covering collection, cleaning, analysis, dashboarding, modeling, and deployment.</a:t>
            </a:r>
            <a:endParaRPr lang="en-US" sz="1500" dirty="0"/>
          </a:p>
        </p:txBody>
      </p:sp>
      <p:sp>
        <p:nvSpPr>
          <p:cNvPr id="16" name="Text 11"/>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17" name="Text 12"/>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02 — DATASET</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Dataset Overview &amp; Source</a:t>
            </a:r>
            <a:endParaRPr lang="en-US" sz="3000" dirty="0"/>
          </a:p>
        </p:txBody>
      </p:sp>
      <p:sp>
        <p:nvSpPr>
          <p:cNvPr id="4" name="Text 2"/>
          <p:cNvSpPr/>
          <p:nvPr/>
        </p:nvSpPr>
        <p:spPr>
          <a:xfrm>
            <a:off x="548640" y="1554480"/>
            <a:ext cx="10789920" cy="548640"/>
          </a:xfrm>
          <a:prstGeom prst="rect">
            <a:avLst/>
          </a:prstGeom>
          <a:noFill/>
          <a:ln/>
        </p:spPr>
        <p:txBody>
          <a:bodyPr wrap="square" rtlCol="0" anchor="ctr"/>
          <a:lstStyle/>
          <a:p>
            <a:pPr marL="0" indent="0">
              <a:buNone/>
            </a:pPr>
            <a:r>
              <a:rPr lang="en-US" sz="1300" dirty="0">
                <a:solidFill>
                  <a:srgbClr val="6B7A6B"/>
                </a:solidFill>
                <a:latin typeface="Calibri" pitchFamily="34" charset="0"/>
                <a:ea typeface="Calibri" pitchFamily="34" charset="-122"/>
                <a:cs typeface="Calibri" pitchFamily="34" charset="-120"/>
              </a:rPr>
              <a:t>An agricultural dataset combining climate, input-usage, and soil measurements collected across crops and seasons, with crop yield as the prediction target.</a:t>
            </a:r>
            <a:endParaRPr lang="en-US" sz="1300" dirty="0"/>
          </a:p>
        </p:txBody>
      </p:sp>
      <p:sp>
        <p:nvSpPr>
          <p:cNvPr id="5" name="Shape 3"/>
          <p:cNvSpPr/>
          <p:nvPr/>
        </p:nvSpPr>
        <p:spPr>
          <a:xfrm>
            <a:off x="548640" y="2331720"/>
            <a:ext cx="2606040" cy="1737360"/>
          </a:xfrm>
          <a:prstGeom prst="roundRect">
            <a:avLst>
              <a:gd name="adj" fmla="val 4211"/>
            </a:avLst>
          </a:prstGeom>
          <a:solidFill>
            <a:schemeClr val="accent1"/>
          </a:solidFill>
          <a:ln/>
        </p:spPr>
        <p:txBody>
          <a:bodyPr/>
          <a:lstStyle/>
          <a:p>
            <a:endParaRPr lang="en-US"/>
          </a:p>
        </p:txBody>
      </p:sp>
      <p:sp>
        <p:nvSpPr>
          <p:cNvPr id="6" name="Text 4"/>
          <p:cNvSpPr/>
          <p:nvPr/>
        </p:nvSpPr>
        <p:spPr>
          <a:xfrm>
            <a:off x="548640" y="2560320"/>
            <a:ext cx="2606040" cy="777240"/>
          </a:xfrm>
          <a:prstGeom prst="rect">
            <a:avLst/>
          </a:prstGeom>
          <a:noFill/>
          <a:ln/>
        </p:spPr>
        <p:txBody>
          <a:bodyPr wrap="square" rtlCol="0" anchor="ctr"/>
          <a:lstStyle/>
          <a:p>
            <a:pPr marL="0" indent="0" algn="ctr">
              <a:buNone/>
            </a:pPr>
            <a:r>
              <a:rPr lang="en-US" sz="3000" b="1" dirty="0">
                <a:solidFill>
                  <a:srgbClr val="FFFFFF"/>
                </a:solidFill>
                <a:latin typeface="Cambria" pitchFamily="34" charset="0"/>
                <a:ea typeface="Cambria" pitchFamily="34" charset="-122"/>
                <a:cs typeface="Cambria" pitchFamily="34" charset="-120"/>
              </a:rPr>
              <a:t>8</a:t>
            </a:r>
            <a:endParaRPr lang="en-US" sz="3000" dirty="0"/>
          </a:p>
        </p:txBody>
      </p:sp>
      <p:sp>
        <p:nvSpPr>
          <p:cNvPr id="7" name="Text 5"/>
          <p:cNvSpPr/>
          <p:nvPr/>
        </p:nvSpPr>
        <p:spPr>
          <a:xfrm>
            <a:off x="685800" y="3383280"/>
            <a:ext cx="2331720" cy="548640"/>
          </a:xfrm>
          <a:prstGeom prst="rect">
            <a:avLst/>
          </a:prstGeom>
          <a:noFill/>
          <a:ln/>
        </p:spPr>
        <p:txBody>
          <a:bodyPr wrap="square" rtlCol="0" anchor="ctr"/>
          <a:lstStyle/>
          <a:p>
            <a:pPr marL="0" indent="0" algn="ctr">
              <a:buNone/>
            </a:pPr>
            <a:r>
              <a:rPr lang="en-US" sz="1150" dirty="0">
                <a:solidFill>
                  <a:srgbClr val="E5EEE1"/>
                </a:solidFill>
                <a:latin typeface="Calibri" pitchFamily="34" charset="0"/>
                <a:ea typeface="Calibri" pitchFamily="34" charset="-122"/>
                <a:cs typeface="Calibri" pitchFamily="34" charset="-120"/>
              </a:rPr>
              <a:t>Feature Columns</a:t>
            </a:r>
            <a:endParaRPr lang="en-US" sz="1150" dirty="0"/>
          </a:p>
        </p:txBody>
      </p:sp>
      <p:sp>
        <p:nvSpPr>
          <p:cNvPr id="8" name="Shape 6"/>
          <p:cNvSpPr/>
          <p:nvPr/>
        </p:nvSpPr>
        <p:spPr>
          <a:xfrm>
            <a:off x="3337560" y="2331720"/>
            <a:ext cx="2606040" cy="1737360"/>
          </a:xfrm>
          <a:prstGeom prst="roundRect">
            <a:avLst>
              <a:gd name="adj" fmla="val 4211"/>
            </a:avLst>
          </a:prstGeom>
          <a:solidFill>
            <a:srgbClr val="F4F7F2"/>
          </a:solidFill>
          <a:ln/>
        </p:spPr>
        <p:txBody>
          <a:bodyPr/>
          <a:lstStyle/>
          <a:p>
            <a:endParaRPr lang="en-US"/>
          </a:p>
        </p:txBody>
      </p:sp>
      <p:sp>
        <p:nvSpPr>
          <p:cNvPr id="9" name="Text 7"/>
          <p:cNvSpPr/>
          <p:nvPr/>
        </p:nvSpPr>
        <p:spPr>
          <a:xfrm>
            <a:off x="3337560" y="2560320"/>
            <a:ext cx="2606040" cy="777240"/>
          </a:xfrm>
          <a:prstGeom prst="rect">
            <a:avLst/>
          </a:prstGeom>
          <a:noFill/>
          <a:ln/>
        </p:spPr>
        <p:txBody>
          <a:bodyPr wrap="square" rtlCol="0" anchor="ctr"/>
          <a:lstStyle/>
          <a:p>
            <a:pPr marL="0" indent="0" algn="ctr">
              <a:buNone/>
            </a:pPr>
            <a:r>
              <a:rPr lang="en-US" sz="3000" b="1" dirty="0">
                <a:solidFill>
                  <a:srgbClr val="0070C0"/>
                </a:solidFill>
                <a:latin typeface="Cambria" pitchFamily="34" charset="0"/>
                <a:ea typeface="Cambria" pitchFamily="34" charset="-122"/>
                <a:cs typeface="Cambria" pitchFamily="34" charset="-120"/>
              </a:rPr>
              <a:t>1</a:t>
            </a:r>
            <a:endParaRPr lang="en-US" sz="3000" dirty="0">
              <a:solidFill>
                <a:srgbClr val="0070C0"/>
              </a:solidFill>
            </a:endParaRPr>
          </a:p>
        </p:txBody>
      </p:sp>
      <p:sp>
        <p:nvSpPr>
          <p:cNvPr id="10" name="Text 8"/>
          <p:cNvSpPr/>
          <p:nvPr/>
        </p:nvSpPr>
        <p:spPr>
          <a:xfrm>
            <a:off x="3474720" y="3383280"/>
            <a:ext cx="2331720" cy="548640"/>
          </a:xfrm>
          <a:prstGeom prst="rect">
            <a:avLst/>
          </a:prstGeom>
          <a:noFill/>
          <a:ln/>
        </p:spPr>
        <p:txBody>
          <a:bodyPr wrap="square" rtlCol="0" anchor="ctr"/>
          <a:lstStyle/>
          <a:p>
            <a:pPr marL="0" indent="0" algn="ctr">
              <a:buNone/>
            </a:pPr>
            <a:r>
              <a:rPr lang="en-US" sz="1150" dirty="0">
                <a:solidFill>
                  <a:srgbClr val="6B7A6B"/>
                </a:solidFill>
                <a:latin typeface="Calibri" pitchFamily="34" charset="0"/>
                <a:ea typeface="Calibri" pitchFamily="34" charset="-122"/>
                <a:cs typeface="Calibri" pitchFamily="34" charset="-120"/>
              </a:rPr>
              <a:t>Target Variable</a:t>
            </a:r>
            <a:endParaRPr lang="en-US" sz="1150" dirty="0"/>
          </a:p>
          <a:p>
            <a:pPr marL="0" indent="0" algn="ctr">
              <a:buNone/>
            </a:pPr>
            <a:r>
              <a:rPr lang="en-US" sz="1150" dirty="0">
                <a:solidFill>
                  <a:srgbClr val="6B7A6B"/>
                </a:solidFill>
                <a:latin typeface="Calibri" pitchFamily="34" charset="0"/>
                <a:ea typeface="Calibri" pitchFamily="34" charset="-122"/>
                <a:cs typeface="Calibri" pitchFamily="34" charset="-120"/>
              </a:rPr>
              <a:t>(Yield)</a:t>
            </a:r>
            <a:endParaRPr lang="en-US" sz="1150" dirty="0"/>
          </a:p>
        </p:txBody>
      </p:sp>
      <p:sp>
        <p:nvSpPr>
          <p:cNvPr id="11" name="Shape 9"/>
          <p:cNvSpPr/>
          <p:nvPr/>
        </p:nvSpPr>
        <p:spPr>
          <a:xfrm>
            <a:off x="6126480" y="2331720"/>
            <a:ext cx="2606040" cy="1737360"/>
          </a:xfrm>
          <a:prstGeom prst="roundRect">
            <a:avLst>
              <a:gd name="adj" fmla="val 4211"/>
            </a:avLst>
          </a:prstGeom>
          <a:solidFill>
            <a:srgbClr val="F4F7F2"/>
          </a:solidFill>
          <a:ln/>
        </p:spPr>
        <p:txBody>
          <a:bodyPr/>
          <a:lstStyle/>
          <a:p>
            <a:endParaRPr lang="en-US"/>
          </a:p>
        </p:txBody>
      </p:sp>
      <p:sp>
        <p:nvSpPr>
          <p:cNvPr id="12" name="Text 10"/>
          <p:cNvSpPr/>
          <p:nvPr/>
        </p:nvSpPr>
        <p:spPr>
          <a:xfrm>
            <a:off x="6126480" y="2560320"/>
            <a:ext cx="2606040" cy="777240"/>
          </a:xfrm>
          <a:prstGeom prst="rect">
            <a:avLst/>
          </a:prstGeom>
          <a:noFill/>
          <a:ln/>
        </p:spPr>
        <p:txBody>
          <a:bodyPr wrap="square" rtlCol="0" anchor="ctr"/>
          <a:lstStyle/>
          <a:p>
            <a:pPr marL="0" indent="0" algn="ctr">
              <a:buNone/>
            </a:pPr>
            <a:r>
              <a:rPr lang="en-US" sz="3000" b="1" dirty="0">
                <a:solidFill>
                  <a:srgbClr val="0070C0"/>
                </a:solidFill>
                <a:latin typeface="Cambria" pitchFamily="34" charset="0"/>
                <a:ea typeface="Cambria" pitchFamily="34" charset="-122"/>
                <a:cs typeface="Cambria" pitchFamily="34" charset="-120"/>
              </a:rPr>
              <a:t>Mixed</a:t>
            </a:r>
            <a:endParaRPr lang="en-US" sz="3000" dirty="0">
              <a:solidFill>
                <a:srgbClr val="0070C0"/>
              </a:solidFill>
            </a:endParaRPr>
          </a:p>
        </p:txBody>
      </p:sp>
      <p:sp>
        <p:nvSpPr>
          <p:cNvPr id="13" name="Text 11"/>
          <p:cNvSpPr/>
          <p:nvPr/>
        </p:nvSpPr>
        <p:spPr>
          <a:xfrm>
            <a:off x="6263640" y="3383280"/>
            <a:ext cx="2331720" cy="548640"/>
          </a:xfrm>
          <a:prstGeom prst="rect">
            <a:avLst/>
          </a:prstGeom>
          <a:noFill/>
          <a:ln/>
        </p:spPr>
        <p:txBody>
          <a:bodyPr wrap="square" rtlCol="0" anchor="ctr"/>
          <a:lstStyle/>
          <a:p>
            <a:pPr marL="0" indent="0" algn="ctr">
              <a:buNone/>
            </a:pPr>
            <a:r>
              <a:rPr lang="en-US" sz="1150" dirty="0">
                <a:solidFill>
                  <a:srgbClr val="6B7A6B"/>
                </a:solidFill>
                <a:latin typeface="Calibri" pitchFamily="34" charset="0"/>
                <a:ea typeface="Calibri" pitchFamily="34" charset="-122"/>
                <a:cs typeface="Calibri" pitchFamily="34" charset="-120"/>
              </a:rPr>
              <a:t>Numerical &amp;</a:t>
            </a:r>
            <a:endParaRPr lang="en-US" sz="1150" dirty="0"/>
          </a:p>
          <a:p>
            <a:pPr marL="0" indent="0" algn="ctr">
              <a:buNone/>
            </a:pPr>
            <a:r>
              <a:rPr lang="en-US" sz="1150" dirty="0">
                <a:solidFill>
                  <a:srgbClr val="6B7A6B"/>
                </a:solidFill>
                <a:latin typeface="Calibri" pitchFamily="34" charset="0"/>
                <a:ea typeface="Calibri" pitchFamily="34" charset="-122"/>
                <a:cs typeface="Calibri" pitchFamily="34" charset="-120"/>
              </a:rPr>
              <a:t>Categorical</a:t>
            </a:r>
            <a:endParaRPr lang="en-US" sz="1150" dirty="0"/>
          </a:p>
        </p:txBody>
      </p:sp>
      <p:sp>
        <p:nvSpPr>
          <p:cNvPr id="14" name="Shape 12"/>
          <p:cNvSpPr/>
          <p:nvPr/>
        </p:nvSpPr>
        <p:spPr>
          <a:xfrm>
            <a:off x="8915400" y="2331720"/>
            <a:ext cx="2606040" cy="1737360"/>
          </a:xfrm>
          <a:prstGeom prst="roundRect">
            <a:avLst>
              <a:gd name="adj" fmla="val 4211"/>
            </a:avLst>
          </a:prstGeom>
          <a:solidFill>
            <a:srgbClr val="F4F7F2"/>
          </a:solidFill>
          <a:ln/>
        </p:spPr>
        <p:txBody>
          <a:bodyPr/>
          <a:lstStyle/>
          <a:p>
            <a:endParaRPr lang="en-US"/>
          </a:p>
        </p:txBody>
      </p:sp>
      <p:sp>
        <p:nvSpPr>
          <p:cNvPr id="15" name="Text 13"/>
          <p:cNvSpPr/>
          <p:nvPr/>
        </p:nvSpPr>
        <p:spPr>
          <a:xfrm>
            <a:off x="8915400" y="2560320"/>
            <a:ext cx="2606040" cy="777240"/>
          </a:xfrm>
          <a:prstGeom prst="rect">
            <a:avLst/>
          </a:prstGeom>
          <a:noFill/>
          <a:ln/>
        </p:spPr>
        <p:txBody>
          <a:bodyPr wrap="square" rtlCol="0" anchor="ctr"/>
          <a:lstStyle/>
          <a:p>
            <a:pPr marL="0" indent="0" algn="ctr">
              <a:buNone/>
            </a:pPr>
            <a:r>
              <a:rPr lang="en-US" sz="3000" b="1" dirty="0">
                <a:solidFill>
                  <a:srgbClr val="0070C0"/>
                </a:solidFill>
                <a:latin typeface="Cambria" pitchFamily="34" charset="0"/>
                <a:ea typeface="Cambria" pitchFamily="34" charset="-122"/>
                <a:cs typeface="Cambria" pitchFamily="34" charset="-120"/>
              </a:rPr>
              <a:t>Multi-</a:t>
            </a:r>
            <a:endParaRPr lang="en-US" sz="3000" dirty="0">
              <a:solidFill>
                <a:srgbClr val="0070C0"/>
              </a:solidFill>
            </a:endParaRPr>
          </a:p>
          <a:p>
            <a:pPr marL="0" indent="0" algn="ctr">
              <a:buNone/>
            </a:pPr>
            <a:r>
              <a:rPr lang="en-US" sz="3000" b="1" dirty="0">
                <a:solidFill>
                  <a:srgbClr val="0070C0"/>
                </a:solidFill>
                <a:latin typeface="Cambria" pitchFamily="34" charset="0"/>
                <a:ea typeface="Cambria" pitchFamily="34" charset="-122"/>
                <a:cs typeface="Cambria" pitchFamily="34" charset="-120"/>
              </a:rPr>
              <a:t>Season</a:t>
            </a:r>
            <a:endParaRPr lang="en-US" sz="3000" dirty="0">
              <a:solidFill>
                <a:srgbClr val="0070C0"/>
              </a:solidFill>
            </a:endParaRPr>
          </a:p>
        </p:txBody>
      </p:sp>
      <p:sp>
        <p:nvSpPr>
          <p:cNvPr id="16" name="Text 14"/>
          <p:cNvSpPr/>
          <p:nvPr/>
        </p:nvSpPr>
        <p:spPr>
          <a:xfrm>
            <a:off x="9052560" y="3383280"/>
            <a:ext cx="2331720" cy="548640"/>
          </a:xfrm>
          <a:prstGeom prst="rect">
            <a:avLst/>
          </a:prstGeom>
          <a:noFill/>
          <a:ln/>
        </p:spPr>
        <p:txBody>
          <a:bodyPr wrap="square" rtlCol="0" anchor="ctr"/>
          <a:lstStyle/>
          <a:p>
            <a:pPr marL="0" indent="0" algn="ctr">
              <a:buNone/>
            </a:pPr>
            <a:r>
              <a:rPr lang="en-US" sz="1150" dirty="0">
                <a:solidFill>
                  <a:srgbClr val="6B7A6B"/>
                </a:solidFill>
                <a:latin typeface="Calibri" pitchFamily="34" charset="0"/>
                <a:ea typeface="Calibri" pitchFamily="34" charset="-122"/>
                <a:cs typeface="Calibri" pitchFamily="34" charset="-120"/>
              </a:rPr>
              <a:t>Coverage</a:t>
            </a:r>
            <a:endParaRPr lang="en-US" sz="1150" dirty="0"/>
          </a:p>
        </p:txBody>
      </p:sp>
      <p:sp>
        <p:nvSpPr>
          <p:cNvPr id="17" name="Shape 15"/>
          <p:cNvSpPr/>
          <p:nvPr/>
        </p:nvSpPr>
        <p:spPr>
          <a:xfrm>
            <a:off x="548640" y="4434840"/>
            <a:ext cx="11064240" cy="1691640"/>
          </a:xfrm>
          <a:prstGeom prst="roundRect">
            <a:avLst>
              <a:gd name="adj" fmla="val 3243"/>
            </a:avLst>
          </a:prstGeom>
          <a:solidFill>
            <a:srgbClr val="FFFFFF"/>
          </a:solidFill>
          <a:ln w="19050">
            <a:solidFill>
              <a:srgbClr val="DCE9D5"/>
            </a:solidFill>
            <a:prstDash val="solid"/>
          </a:ln>
        </p:spPr>
        <p:txBody>
          <a:bodyPr/>
          <a:lstStyle/>
          <a:p>
            <a:endParaRPr lang="en-US"/>
          </a:p>
        </p:txBody>
      </p:sp>
      <p:sp>
        <p:nvSpPr>
          <p:cNvPr id="18" name="Shape 16"/>
          <p:cNvSpPr/>
          <p:nvPr/>
        </p:nvSpPr>
        <p:spPr>
          <a:xfrm>
            <a:off x="937260" y="4594860"/>
            <a:ext cx="594360" cy="594360"/>
          </a:xfrm>
          <a:prstGeom prst="ellipse">
            <a:avLst/>
          </a:prstGeom>
          <a:solidFill>
            <a:schemeClr val="accent1"/>
          </a:solidFill>
          <a:ln>
            <a:solidFill>
              <a:schemeClr val="accent1"/>
            </a:solidFill>
          </a:ln>
        </p:spPr>
        <p:txBody>
          <a:bodyPr/>
          <a:lstStyle/>
          <a:p>
            <a:endParaRPr lang="en-US">
              <a:solidFill>
                <a:srgbClr val="0070C0"/>
              </a:solidFill>
            </a:endParaRPr>
          </a:p>
        </p:txBody>
      </p:sp>
      <p:pic>
        <p:nvPicPr>
          <p:cNvPr id="19" name="Image 0" descr="/home/claude/crop_yield_ppt/icons/database_FFFFFF.png"/>
          <p:cNvPicPr>
            <a:picLocks noChangeAspect="1"/>
          </p:cNvPicPr>
          <p:nvPr/>
        </p:nvPicPr>
        <p:blipFill>
          <a:blip r:embed="rId3"/>
          <a:stretch>
            <a:fillRect/>
          </a:stretch>
        </p:blipFill>
        <p:spPr>
          <a:xfrm>
            <a:off x="1070991" y="4728591"/>
            <a:ext cx="326898" cy="326898"/>
          </a:xfrm>
          <a:prstGeom prst="rect">
            <a:avLst/>
          </a:prstGeom>
        </p:spPr>
      </p:pic>
      <p:sp>
        <p:nvSpPr>
          <p:cNvPr id="20" name="Text 17"/>
          <p:cNvSpPr/>
          <p:nvPr/>
        </p:nvSpPr>
        <p:spPr>
          <a:xfrm>
            <a:off x="1691640" y="4617720"/>
            <a:ext cx="9692640" cy="1371600"/>
          </a:xfrm>
          <a:prstGeom prst="rect">
            <a:avLst/>
          </a:prstGeom>
          <a:noFill/>
          <a:ln/>
        </p:spPr>
        <p:txBody>
          <a:bodyPr wrap="square" rtlCol="0" anchor="t"/>
          <a:lstStyle/>
          <a:p>
            <a:pPr marL="0" indent="0">
              <a:lnSpc>
                <a:spcPct val="115000"/>
              </a:lnSpc>
              <a:buNone/>
            </a:pPr>
            <a:r>
              <a:rPr lang="en-US" sz="1300" b="1" dirty="0">
                <a:solidFill>
                  <a:srgbClr val="223522"/>
                </a:solidFill>
                <a:latin typeface="Calibri" pitchFamily="34" charset="0"/>
                <a:ea typeface="Calibri" pitchFamily="34" charset="-122"/>
                <a:cs typeface="Calibri" pitchFamily="34" charset="-120"/>
              </a:rPr>
              <a:t>[IMAGE PLACEHOLDER: data sample screenshot]
</a:t>
            </a:r>
            <a:r>
              <a:rPr lang="en-US" sz="1150" dirty="0">
                <a:solidFill>
                  <a:srgbClr val="6B7A6B"/>
                </a:solidFill>
                <a:latin typeface="Calibri" pitchFamily="34" charset="0"/>
                <a:ea typeface="Calibri" pitchFamily="34" charset="-122"/>
                <a:cs typeface="Calibri" pitchFamily="34" charset="-120"/>
              </a:rPr>
              <a:t>Raw records sourced from field observations and agricultural records; loaded as a structured table with one row per crop/season observation.</a:t>
            </a:r>
            <a:endParaRPr lang="en-US" sz="1300" dirty="0"/>
          </a:p>
        </p:txBody>
      </p:sp>
      <p:sp>
        <p:nvSpPr>
          <p:cNvPr id="21" name="Text 18"/>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22" name="Text 19"/>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02 — DATASET</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0070C0"/>
                </a:solidFill>
                <a:highlight>
                  <a:srgbClr val="C0C0C0"/>
                </a:highlight>
                <a:latin typeface="Cambria" pitchFamily="34" charset="0"/>
                <a:ea typeface="Cambria" pitchFamily="34" charset="-122"/>
                <a:cs typeface="Cambria" pitchFamily="34" charset="-120"/>
              </a:rPr>
              <a:t>Data Dictionary &amp; Features List</a:t>
            </a:r>
            <a:endParaRPr lang="en-US" sz="3000" dirty="0">
              <a:solidFill>
                <a:srgbClr val="0070C0"/>
              </a:solidFill>
              <a:highlight>
                <a:srgbClr val="C0C0C0"/>
              </a:highlight>
            </a:endParaRPr>
          </a:p>
        </p:txBody>
      </p:sp>
      <p:graphicFrame>
        <p:nvGraphicFramePr>
          <p:cNvPr id="6" name="Table 0"/>
          <p:cNvGraphicFramePr>
            <a:graphicFrameLocks noGrp="1"/>
          </p:cNvGraphicFramePr>
          <p:nvPr>
            <p:extLst>
              <p:ext uri="{D42A27DB-BD31-4B8C-83A1-F6EECF244321}">
                <p14:modId xmlns:p14="http://schemas.microsoft.com/office/powerpoint/2010/main" val="1709033712"/>
              </p:ext>
            </p:extLst>
          </p:nvPr>
        </p:nvGraphicFramePr>
        <p:xfrm>
          <a:off x="548640" y="1600200"/>
          <a:ext cx="11064240" cy="4114800"/>
        </p:xfrm>
        <a:graphic>
          <a:graphicData uri="http://schemas.openxmlformats.org/drawingml/2006/table">
            <a:tbl>
              <a:tblPr>
                <a:tableStyleId>{3C2FFA5D-87B4-456A-9821-1D502468CF0F}</a:tableStyleId>
              </a:tblPr>
              <a:tblGrid>
                <a:gridCol w="2913017">
                  <a:extLst>
                    <a:ext uri="{9D8B030D-6E8A-4147-A177-3AD203B41FA5}">
                      <a16:colId xmlns:a16="http://schemas.microsoft.com/office/drawing/2014/main" val="20000"/>
                    </a:ext>
                  </a:extLst>
                </a:gridCol>
                <a:gridCol w="2664823">
                  <a:extLst>
                    <a:ext uri="{9D8B030D-6E8A-4147-A177-3AD203B41FA5}">
                      <a16:colId xmlns:a16="http://schemas.microsoft.com/office/drawing/2014/main" val="20001"/>
                    </a:ext>
                  </a:extLst>
                </a:gridCol>
                <a:gridCol w="5486400">
                  <a:extLst>
                    <a:ext uri="{9D8B030D-6E8A-4147-A177-3AD203B41FA5}">
                      <a16:colId xmlns:a16="http://schemas.microsoft.com/office/drawing/2014/main" val="20002"/>
                    </a:ext>
                  </a:extLst>
                </a:gridCol>
              </a:tblGrid>
              <a:tr h="457200">
                <a:tc>
                  <a:txBody>
                    <a:bodyPr/>
                    <a:lstStyle/>
                    <a:p>
                      <a:pPr marL="0" indent="0">
                        <a:buNone/>
                      </a:pPr>
                      <a:r>
                        <a:rPr lang="en-US" sz="1200" b="1" dirty="0">
                          <a:solidFill>
                            <a:srgbClr val="FFFFFF"/>
                          </a:solidFill>
                        </a:rPr>
                        <a:t>Feature</a:t>
                      </a:r>
                      <a:endParaRPr lang="en-US" sz="1200" dirty="0">
                        <a:latin typeface="Calibri" charset="0"/>
                        <a:ea typeface="Calibri" charset="0"/>
                        <a:cs typeface="Calibri" charset="0"/>
                      </a:endParaRPr>
                    </a:p>
                  </a:txBody>
                  <a:tcPr anchor="ctr"/>
                </a:tc>
                <a:tc>
                  <a:txBody>
                    <a:bodyPr/>
                    <a:lstStyle/>
                    <a:p>
                      <a:pPr marL="0" indent="0">
                        <a:buNone/>
                      </a:pPr>
                      <a:r>
                        <a:rPr lang="en-US" sz="1200" b="1" dirty="0">
                          <a:solidFill>
                            <a:srgbClr val="FFFFFF"/>
                          </a:solidFill>
                        </a:rPr>
                        <a:t>Type</a:t>
                      </a:r>
                      <a:endParaRPr lang="en-US" sz="1200" dirty="0">
                        <a:latin typeface="Calibri" charset="0"/>
                        <a:ea typeface="Calibri" charset="0"/>
                        <a:cs typeface="Calibri" charset="0"/>
                      </a:endParaRPr>
                    </a:p>
                  </a:txBody>
                  <a:tcPr anchor="ctr"/>
                </a:tc>
                <a:tc>
                  <a:txBody>
                    <a:bodyPr/>
                    <a:lstStyle/>
                    <a:p>
                      <a:pPr marL="0" indent="0">
                        <a:buNone/>
                      </a:pPr>
                      <a:r>
                        <a:rPr lang="en-US" sz="1200" b="1" dirty="0">
                          <a:solidFill>
                            <a:srgbClr val="FFFFFF"/>
                          </a:solidFill>
                        </a:rPr>
                        <a:t>Description</a:t>
                      </a:r>
                      <a:endParaRPr lang="en-US" sz="1200" dirty="0">
                        <a:latin typeface="Calibri" charset="0"/>
                        <a:ea typeface="Calibri" charset="0"/>
                        <a:cs typeface="Calibri" charset="0"/>
                      </a:endParaRPr>
                    </a:p>
                  </a:txBody>
                  <a:tcPr anchor="ctr"/>
                </a:tc>
                <a:extLst>
                  <a:ext uri="{0D108BD9-81ED-4DB2-BD59-A6C34878D82A}">
                    <a16:rowId xmlns:a16="http://schemas.microsoft.com/office/drawing/2014/main" val="10000"/>
                  </a:ext>
                </a:extLst>
              </a:tr>
              <a:tr h="457200">
                <a:tc>
                  <a:txBody>
                    <a:bodyPr/>
                    <a:lstStyle/>
                    <a:p>
                      <a:pPr marL="0" indent="0">
                        <a:buNone/>
                      </a:pPr>
                      <a:r>
                        <a:rPr lang="en-US" sz="1200" b="1" dirty="0">
                          <a:solidFill>
                            <a:srgbClr val="223522"/>
                          </a:solidFill>
                        </a:rPr>
                        <a:t>Rainfall</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Total rainfall recorded for the growing period (mm)</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1"/>
                  </a:ext>
                </a:extLst>
              </a:tr>
              <a:tr h="457200">
                <a:tc>
                  <a:txBody>
                    <a:bodyPr/>
                    <a:lstStyle/>
                    <a:p>
                      <a:pPr marL="0" indent="0">
                        <a:buNone/>
                      </a:pPr>
                      <a:r>
                        <a:rPr lang="en-US" sz="1200" b="1" dirty="0">
                          <a:solidFill>
                            <a:srgbClr val="223522"/>
                          </a:solidFill>
                        </a:rPr>
                        <a:t>Temperature</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Average temperature during the growing period (°C)</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2"/>
                  </a:ext>
                </a:extLst>
              </a:tr>
              <a:tr h="457200">
                <a:tc>
                  <a:txBody>
                    <a:bodyPr/>
                    <a:lstStyle/>
                    <a:p>
                      <a:pPr marL="0" indent="0">
                        <a:buNone/>
                      </a:pPr>
                      <a:r>
                        <a:rPr lang="en-US" sz="1200" b="1" dirty="0">
                          <a:solidFill>
                            <a:srgbClr val="223522"/>
                          </a:solidFill>
                        </a:rPr>
                        <a:t>Pesticide Usage</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Quantity of pesticide applied (kg/ha)</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3"/>
                  </a:ext>
                </a:extLst>
              </a:tr>
              <a:tr h="457200">
                <a:tc>
                  <a:txBody>
                    <a:bodyPr/>
                    <a:lstStyle/>
                    <a:p>
                      <a:pPr marL="0" indent="0">
                        <a:buNone/>
                      </a:pPr>
                      <a:r>
                        <a:rPr lang="en-US" sz="1200" b="1" dirty="0">
                          <a:solidFill>
                            <a:srgbClr val="223522"/>
                          </a:solidFill>
                        </a:rPr>
                        <a:t>Fertilizer Usage</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Quantity of fertilizer applied (kg/ha)</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4"/>
                  </a:ext>
                </a:extLst>
              </a:tr>
              <a:tr h="457200">
                <a:tc>
                  <a:txBody>
                    <a:bodyPr/>
                    <a:lstStyle/>
                    <a:p>
                      <a:pPr marL="0" indent="0">
                        <a:buNone/>
                      </a:pPr>
                      <a:r>
                        <a:rPr lang="en-US" sz="1200" b="1" dirty="0">
                          <a:solidFill>
                            <a:srgbClr val="223522"/>
                          </a:solidFill>
                        </a:rPr>
                        <a:t>Soil Quality</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Categorical / 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Soil quality index or classification</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5"/>
                  </a:ext>
                </a:extLst>
              </a:tr>
              <a:tr h="457200">
                <a:tc>
                  <a:txBody>
                    <a:bodyPr/>
                    <a:lstStyle/>
                    <a:p>
                      <a:pPr marL="0" indent="0">
                        <a:buNone/>
                      </a:pPr>
                      <a:r>
                        <a:rPr lang="en-US" sz="1200" b="1" dirty="0">
                          <a:solidFill>
                            <a:srgbClr val="223522"/>
                          </a:solidFill>
                        </a:rPr>
                        <a:t>Crop Type</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Categorical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Crop grown (e.g. wheat, rice, maize)</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6"/>
                  </a:ext>
                </a:extLst>
              </a:tr>
              <a:tr h="457200">
                <a:tc>
                  <a:txBody>
                    <a:bodyPr/>
                    <a:lstStyle/>
                    <a:p>
                      <a:pPr marL="0" indent="0">
                        <a:buNone/>
                      </a:pPr>
                      <a:r>
                        <a:rPr lang="en-US" sz="1200" b="1" dirty="0">
                          <a:solidFill>
                            <a:srgbClr val="223522"/>
                          </a:solidFill>
                        </a:rPr>
                        <a:t>Season</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Categorical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Growing season (e.g. Kharif, Rabi, Summer)</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7"/>
                  </a:ext>
                </a:extLst>
              </a:tr>
              <a:tr h="457200">
                <a:tc>
                  <a:txBody>
                    <a:bodyPr/>
                    <a:lstStyle/>
                    <a:p>
                      <a:pPr marL="0" indent="0">
                        <a:buNone/>
                      </a:pPr>
                      <a:r>
                        <a:rPr lang="en-US" sz="1200" b="1" dirty="0">
                          <a:solidFill>
                            <a:srgbClr val="223522"/>
                          </a:solidFill>
                        </a:rPr>
                        <a:t>Yield  (Target)</a:t>
                      </a:r>
                      <a:endParaRPr lang="en-US" sz="1200" dirty="0">
                        <a:latin typeface="Calibri" charset="0"/>
                        <a:ea typeface="Calibri" charset="0"/>
                        <a:cs typeface="Calibri" charset="0"/>
                      </a:endParaRPr>
                    </a:p>
                  </a:txBody>
                  <a:tcPr anchor="ctr"/>
                </a:tc>
                <a:tc>
                  <a:txBody>
                    <a:bodyPr/>
                    <a:lstStyle/>
                    <a:p>
                      <a:pPr marL="0" indent="0">
                        <a:buNone/>
                      </a:pPr>
                      <a:r>
                        <a:rPr lang="en-US" sz="1200" dirty="0">
                          <a:solidFill>
                            <a:srgbClr val="0070C0"/>
                          </a:solidFill>
                        </a:rPr>
                        <a:t>Numerical</a:t>
                      </a:r>
                      <a:endParaRPr lang="en-US" sz="1200" dirty="0">
                        <a:solidFill>
                          <a:srgbClr val="0070C0"/>
                        </a:solidFill>
                        <a:latin typeface="Calibri" charset="0"/>
                        <a:ea typeface="Calibri" charset="0"/>
                        <a:cs typeface="Calibri" charset="0"/>
                      </a:endParaRPr>
                    </a:p>
                  </a:txBody>
                  <a:tcPr anchor="ctr"/>
                </a:tc>
                <a:tc>
                  <a:txBody>
                    <a:bodyPr/>
                    <a:lstStyle/>
                    <a:p>
                      <a:pPr marL="0" indent="0">
                        <a:buNone/>
                      </a:pPr>
                      <a:r>
                        <a:rPr lang="en-US" sz="1200" dirty="0">
                          <a:solidFill>
                            <a:srgbClr val="0070C0"/>
                          </a:solidFill>
                        </a:rPr>
                        <a:t>Crop yield achieved — the variable being predicted</a:t>
                      </a:r>
                      <a:endParaRPr lang="en-US" sz="12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8"/>
                  </a:ext>
                </a:extLst>
              </a:tr>
            </a:tbl>
          </a:graphicData>
        </a:graphic>
      </p:graphicFrame>
      <p:sp>
        <p:nvSpPr>
          <p:cNvPr id="5" name="Text 2"/>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4" name="Text 3"/>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03 — PREPROCESSING</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Data Cleaning &amp; Preprocessing Pipeline</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cleaning steps diagram]</a:t>
            </a:r>
            <a:endParaRPr lang="en-US" sz="900" dirty="0"/>
          </a:p>
        </p:txBody>
      </p:sp>
      <p:sp>
        <p:nvSpPr>
          <p:cNvPr id="5" name="Shape 3"/>
          <p:cNvSpPr/>
          <p:nvPr/>
        </p:nvSpPr>
        <p:spPr>
          <a:xfrm>
            <a:off x="548640" y="2286000"/>
            <a:ext cx="1920240" cy="2377440"/>
          </a:xfrm>
          <a:prstGeom prst="roundRect">
            <a:avLst>
              <a:gd name="adj" fmla="val 3810"/>
            </a:avLst>
          </a:prstGeom>
          <a:solidFill>
            <a:srgbClr val="F4F7F2"/>
          </a:solidFill>
          <a:ln/>
          <a:effectLst>
            <a:outerShdw blurRad="63500" dist="25400" dir="5400000" algn="bl" rotWithShape="0">
              <a:srgbClr val="000000">
                <a:alpha val="10000"/>
              </a:srgbClr>
            </a:outerShdw>
          </a:effectLst>
        </p:spPr>
        <p:txBody>
          <a:bodyPr/>
          <a:lstStyle/>
          <a:p>
            <a:endParaRPr lang="en-US"/>
          </a:p>
        </p:txBody>
      </p:sp>
      <p:sp>
        <p:nvSpPr>
          <p:cNvPr id="6" name="Shape 4"/>
          <p:cNvSpPr/>
          <p:nvPr/>
        </p:nvSpPr>
        <p:spPr>
          <a:xfrm>
            <a:off x="1197864" y="2542032"/>
            <a:ext cx="621792" cy="621792"/>
          </a:xfrm>
          <a:prstGeom prst="ellipse">
            <a:avLst/>
          </a:prstGeom>
          <a:solidFill>
            <a:schemeClr val="accent1"/>
          </a:solidFill>
          <a:ln>
            <a:solidFill>
              <a:schemeClr val="accent1"/>
            </a:solidFill>
          </a:ln>
        </p:spPr>
        <p:txBody>
          <a:bodyPr/>
          <a:lstStyle/>
          <a:p>
            <a:endParaRPr lang="en-US"/>
          </a:p>
        </p:txBody>
      </p:sp>
      <p:pic>
        <p:nvPicPr>
          <p:cNvPr id="7" name="Image 0" descr="/home/claude/crop_yield_ppt/icons/alert_FFFFFF.png"/>
          <p:cNvPicPr>
            <a:picLocks noChangeAspect="1"/>
          </p:cNvPicPr>
          <p:nvPr/>
        </p:nvPicPr>
        <p:blipFill>
          <a:blip r:embed="rId3"/>
          <a:stretch>
            <a:fillRect/>
          </a:stretch>
        </p:blipFill>
        <p:spPr>
          <a:xfrm>
            <a:off x="1337767" y="2681935"/>
            <a:ext cx="341986" cy="341986"/>
          </a:xfrm>
          <a:prstGeom prst="rect">
            <a:avLst/>
          </a:prstGeom>
          <a:solidFill>
            <a:schemeClr val="accent1"/>
          </a:solidFill>
          <a:ln>
            <a:solidFill>
              <a:schemeClr val="accent1"/>
            </a:solidFill>
          </a:ln>
        </p:spPr>
      </p:pic>
      <p:sp>
        <p:nvSpPr>
          <p:cNvPr id="8" name="Text 5"/>
          <p:cNvSpPr/>
          <p:nvPr/>
        </p:nvSpPr>
        <p:spPr>
          <a:xfrm>
            <a:off x="640080" y="2359152"/>
            <a:ext cx="365760" cy="274320"/>
          </a:xfrm>
          <a:prstGeom prst="rect">
            <a:avLst/>
          </a:prstGeom>
          <a:noFill/>
          <a:ln/>
        </p:spPr>
        <p:txBody>
          <a:bodyPr wrap="square" rtlCol="0" anchor="ctr"/>
          <a:lstStyle/>
          <a:p>
            <a:pPr marL="0" indent="0">
              <a:buNone/>
            </a:pPr>
            <a:r>
              <a:rPr lang="en-US" sz="1100" b="1" dirty="0">
                <a:solidFill>
                  <a:srgbClr val="5C8A52"/>
                </a:solidFill>
                <a:latin typeface="Cambria" pitchFamily="34" charset="0"/>
                <a:ea typeface="Cambria" pitchFamily="34" charset="-122"/>
                <a:cs typeface="Cambria" pitchFamily="34" charset="-120"/>
              </a:rPr>
              <a:t>1</a:t>
            </a:r>
            <a:endParaRPr lang="en-US" sz="1100" dirty="0"/>
          </a:p>
        </p:txBody>
      </p:sp>
      <p:sp>
        <p:nvSpPr>
          <p:cNvPr id="9" name="Text 6"/>
          <p:cNvSpPr/>
          <p:nvPr/>
        </p:nvSpPr>
        <p:spPr>
          <a:xfrm>
            <a:off x="640080" y="3337560"/>
            <a:ext cx="1737360" cy="548640"/>
          </a:xfrm>
          <a:prstGeom prst="rect">
            <a:avLst/>
          </a:prstGeom>
          <a:noFill/>
          <a:ln/>
        </p:spPr>
        <p:txBody>
          <a:bodyPr wrap="square" rtlCol="0" anchor="ctr"/>
          <a:lstStyle/>
          <a:p>
            <a:pPr marL="0" indent="0" algn="ctr">
              <a:buNone/>
            </a:pPr>
            <a:r>
              <a:rPr lang="en-US" sz="1200" b="1" dirty="0">
                <a:solidFill>
                  <a:srgbClr val="223522"/>
                </a:solidFill>
                <a:latin typeface="Calibri" pitchFamily="34" charset="0"/>
                <a:ea typeface="Calibri" pitchFamily="34" charset="-122"/>
                <a:cs typeface="Calibri" pitchFamily="34" charset="-120"/>
              </a:rPr>
              <a:t>Missing Values</a:t>
            </a:r>
            <a:endParaRPr lang="en-US" sz="1200" dirty="0"/>
          </a:p>
        </p:txBody>
      </p:sp>
      <p:sp>
        <p:nvSpPr>
          <p:cNvPr id="10" name="Text 7"/>
          <p:cNvSpPr/>
          <p:nvPr/>
        </p:nvSpPr>
        <p:spPr>
          <a:xfrm>
            <a:off x="685800" y="3886200"/>
            <a:ext cx="1645920" cy="685800"/>
          </a:xfrm>
          <a:prstGeom prst="rect">
            <a:avLst/>
          </a:prstGeom>
          <a:noFill/>
          <a:ln/>
        </p:spPr>
        <p:txBody>
          <a:bodyPr wrap="square" rtlCol="0" anchor="ctr"/>
          <a:lstStyle/>
          <a:p>
            <a:pPr marL="0" indent="0" algn="ctr">
              <a:buNone/>
            </a:pPr>
            <a:r>
              <a:rPr lang="en-US" sz="950" dirty="0">
                <a:solidFill>
                  <a:srgbClr val="6B7A6B"/>
                </a:solidFill>
                <a:latin typeface="Calibri" pitchFamily="34" charset="0"/>
                <a:ea typeface="Calibri" pitchFamily="34" charset="-122"/>
                <a:cs typeface="Calibri" pitchFamily="34" charset="-120"/>
              </a:rPr>
              <a:t>Impute or remove, with justification</a:t>
            </a:r>
            <a:endParaRPr lang="en-US" sz="950" dirty="0"/>
          </a:p>
        </p:txBody>
      </p:sp>
      <p:pic>
        <p:nvPicPr>
          <p:cNvPr id="11" name="Image 1" descr="/home/claude/crop_yield_ppt/icons/arrowRight_D9A62E.png"/>
          <p:cNvPicPr>
            <a:picLocks noChangeAspect="1"/>
          </p:cNvPicPr>
          <p:nvPr/>
        </p:nvPicPr>
        <p:blipFill>
          <a:blip r:embed="rId4"/>
          <a:stretch>
            <a:fillRect/>
          </a:stretch>
        </p:blipFill>
        <p:spPr>
          <a:xfrm>
            <a:off x="2505456" y="3328416"/>
            <a:ext cx="292608" cy="292608"/>
          </a:xfrm>
          <a:prstGeom prst="rect">
            <a:avLst/>
          </a:prstGeom>
        </p:spPr>
      </p:pic>
      <p:sp>
        <p:nvSpPr>
          <p:cNvPr id="12" name="Shape 8"/>
          <p:cNvSpPr/>
          <p:nvPr/>
        </p:nvSpPr>
        <p:spPr>
          <a:xfrm>
            <a:off x="2834640" y="2286000"/>
            <a:ext cx="1920240" cy="2377440"/>
          </a:xfrm>
          <a:prstGeom prst="roundRect">
            <a:avLst>
              <a:gd name="adj" fmla="val 3810"/>
            </a:avLst>
          </a:prstGeom>
          <a:solidFill>
            <a:srgbClr val="F4F7F2"/>
          </a:solidFill>
          <a:ln/>
          <a:effectLst>
            <a:outerShdw blurRad="63500" dist="25400" dir="5400000" algn="bl" rotWithShape="0">
              <a:srgbClr val="000000">
                <a:alpha val="10000"/>
              </a:srgbClr>
            </a:outerShdw>
          </a:effectLst>
        </p:spPr>
        <p:txBody>
          <a:bodyPr/>
          <a:lstStyle/>
          <a:p>
            <a:endParaRPr lang="en-US"/>
          </a:p>
        </p:txBody>
      </p:sp>
      <p:sp>
        <p:nvSpPr>
          <p:cNvPr id="13" name="Shape 9"/>
          <p:cNvSpPr/>
          <p:nvPr/>
        </p:nvSpPr>
        <p:spPr>
          <a:xfrm>
            <a:off x="3483864" y="2542032"/>
            <a:ext cx="621792" cy="621792"/>
          </a:xfrm>
          <a:prstGeom prst="ellipse">
            <a:avLst/>
          </a:prstGeom>
          <a:solidFill>
            <a:schemeClr val="accent1"/>
          </a:solidFill>
          <a:ln>
            <a:solidFill>
              <a:schemeClr val="accent1"/>
            </a:solidFill>
          </a:ln>
        </p:spPr>
        <p:txBody>
          <a:bodyPr/>
          <a:lstStyle/>
          <a:p>
            <a:endParaRPr lang="en-US"/>
          </a:p>
        </p:txBody>
      </p:sp>
      <p:pic>
        <p:nvPicPr>
          <p:cNvPr id="14" name="Image 2" descr="/home/claude/crop_yield_ppt/icons/filter_FFFFFF.png"/>
          <p:cNvPicPr>
            <a:picLocks noChangeAspect="1"/>
          </p:cNvPicPr>
          <p:nvPr/>
        </p:nvPicPr>
        <p:blipFill>
          <a:blip r:embed="rId5"/>
          <a:stretch>
            <a:fillRect/>
          </a:stretch>
        </p:blipFill>
        <p:spPr>
          <a:xfrm>
            <a:off x="3623767" y="2681935"/>
            <a:ext cx="341986" cy="341986"/>
          </a:xfrm>
          <a:prstGeom prst="rect">
            <a:avLst/>
          </a:prstGeom>
        </p:spPr>
      </p:pic>
      <p:sp>
        <p:nvSpPr>
          <p:cNvPr id="15" name="Text 10"/>
          <p:cNvSpPr/>
          <p:nvPr/>
        </p:nvSpPr>
        <p:spPr>
          <a:xfrm>
            <a:off x="2926080" y="2359152"/>
            <a:ext cx="365760" cy="274320"/>
          </a:xfrm>
          <a:prstGeom prst="rect">
            <a:avLst/>
          </a:prstGeom>
          <a:noFill/>
          <a:ln/>
        </p:spPr>
        <p:txBody>
          <a:bodyPr wrap="square" rtlCol="0" anchor="ctr"/>
          <a:lstStyle/>
          <a:p>
            <a:pPr marL="0" indent="0">
              <a:buNone/>
            </a:pPr>
            <a:r>
              <a:rPr lang="en-US" sz="1100" b="1" dirty="0">
                <a:solidFill>
                  <a:srgbClr val="5C8A52"/>
                </a:solidFill>
                <a:latin typeface="Cambria" pitchFamily="34" charset="0"/>
                <a:ea typeface="Cambria" pitchFamily="34" charset="-122"/>
                <a:cs typeface="Cambria" pitchFamily="34" charset="-120"/>
              </a:rPr>
              <a:t>2</a:t>
            </a:r>
            <a:endParaRPr lang="en-US" sz="1100" dirty="0"/>
          </a:p>
        </p:txBody>
      </p:sp>
      <p:sp>
        <p:nvSpPr>
          <p:cNvPr id="16" name="Text 11"/>
          <p:cNvSpPr/>
          <p:nvPr/>
        </p:nvSpPr>
        <p:spPr>
          <a:xfrm>
            <a:off x="2926080" y="3337560"/>
            <a:ext cx="1737360" cy="548640"/>
          </a:xfrm>
          <a:prstGeom prst="rect">
            <a:avLst/>
          </a:prstGeom>
          <a:noFill/>
          <a:ln/>
        </p:spPr>
        <p:txBody>
          <a:bodyPr wrap="square" rtlCol="0" anchor="ctr"/>
          <a:lstStyle/>
          <a:p>
            <a:pPr marL="0" indent="0" algn="ctr">
              <a:buNone/>
            </a:pPr>
            <a:r>
              <a:rPr lang="en-US" sz="1200" b="1" dirty="0">
                <a:solidFill>
                  <a:srgbClr val="223522"/>
                </a:solidFill>
                <a:latin typeface="Calibri" pitchFamily="34" charset="0"/>
                <a:ea typeface="Calibri" pitchFamily="34" charset="-122"/>
                <a:cs typeface="Calibri" pitchFamily="34" charset="-120"/>
              </a:rPr>
              <a:t>Duplicates &amp;</a:t>
            </a:r>
            <a:endParaRPr lang="en-US" sz="1200" dirty="0"/>
          </a:p>
          <a:p>
            <a:pPr marL="0" indent="0" algn="ctr">
              <a:buNone/>
            </a:pPr>
            <a:r>
              <a:rPr lang="en-US" sz="1200" b="1" dirty="0">
                <a:solidFill>
                  <a:srgbClr val="223522"/>
                </a:solidFill>
                <a:latin typeface="Calibri" pitchFamily="34" charset="0"/>
                <a:ea typeface="Calibri" pitchFamily="34" charset="-122"/>
                <a:cs typeface="Calibri" pitchFamily="34" charset="-120"/>
              </a:rPr>
              <a:t>Outliers</a:t>
            </a:r>
            <a:endParaRPr lang="en-US" sz="1200" dirty="0"/>
          </a:p>
        </p:txBody>
      </p:sp>
      <p:sp>
        <p:nvSpPr>
          <p:cNvPr id="17" name="Text 12"/>
          <p:cNvSpPr/>
          <p:nvPr/>
        </p:nvSpPr>
        <p:spPr>
          <a:xfrm>
            <a:off x="2971800" y="3886200"/>
            <a:ext cx="1645920" cy="685800"/>
          </a:xfrm>
          <a:prstGeom prst="rect">
            <a:avLst/>
          </a:prstGeom>
          <a:noFill/>
          <a:ln/>
        </p:spPr>
        <p:txBody>
          <a:bodyPr wrap="square" rtlCol="0" anchor="ctr"/>
          <a:lstStyle/>
          <a:p>
            <a:pPr marL="0" indent="0" algn="ctr">
              <a:buNone/>
            </a:pPr>
            <a:r>
              <a:rPr lang="en-US" sz="950" dirty="0">
                <a:solidFill>
                  <a:srgbClr val="6B7A6B"/>
                </a:solidFill>
                <a:latin typeface="Calibri" pitchFamily="34" charset="0"/>
                <a:ea typeface="Calibri" pitchFamily="34" charset="-122"/>
                <a:cs typeface="Calibri" pitchFamily="34" charset="-120"/>
              </a:rPr>
              <a:t>Detect and remove</a:t>
            </a:r>
            <a:endParaRPr lang="en-US" sz="950" dirty="0"/>
          </a:p>
        </p:txBody>
      </p:sp>
      <p:pic>
        <p:nvPicPr>
          <p:cNvPr id="18" name="Image 3" descr="/home/claude/crop_yield_ppt/icons/arrowRight_D9A62E.png"/>
          <p:cNvPicPr>
            <a:picLocks noChangeAspect="1"/>
          </p:cNvPicPr>
          <p:nvPr/>
        </p:nvPicPr>
        <p:blipFill>
          <a:blip r:embed="rId4"/>
          <a:stretch>
            <a:fillRect/>
          </a:stretch>
        </p:blipFill>
        <p:spPr>
          <a:xfrm>
            <a:off x="4791456" y="3328416"/>
            <a:ext cx="292608" cy="292608"/>
          </a:xfrm>
          <a:prstGeom prst="rect">
            <a:avLst/>
          </a:prstGeom>
        </p:spPr>
      </p:pic>
      <p:sp>
        <p:nvSpPr>
          <p:cNvPr id="19" name="Shape 13"/>
          <p:cNvSpPr/>
          <p:nvPr/>
        </p:nvSpPr>
        <p:spPr>
          <a:xfrm>
            <a:off x="5120640" y="2286000"/>
            <a:ext cx="1920240" cy="2377440"/>
          </a:xfrm>
          <a:prstGeom prst="roundRect">
            <a:avLst>
              <a:gd name="adj" fmla="val 3810"/>
            </a:avLst>
          </a:prstGeom>
          <a:solidFill>
            <a:srgbClr val="F4F7F2"/>
          </a:solidFill>
          <a:ln/>
          <a:effectLst>
            <a:outerShdw blurRad="63500" dist="25400" dir="5400000" algn="bl" rotWithShape="0">
              <a:srgbClr val="000000">
                <a:alpha val="10000"/>
              </a:srgbClr>
            </a:outerShdw>
          </a:effectLst>
        </p:spPr>
        <p:txBody>
          <a:bodyPr/>
          <a:lstStyle/>
          <a:p>
            <a:endParaRPr lang="en-US"/>
          </a:p>
        </p:txBody>
      </p:sp>
      <p:sp>
        <p:nvSpPr>
          <p:cNvPr id="20" name="Shape 14"/>
          <p:cNvSpPr/>
          <p:nvPr/>
        </p:nvSpPr>
        <p:spPr>
          <a:xfrm>
            <a:off x="5769864" y="2542032"/>
            <a:ext cx="621792" cy="621792"/>
          </a:xfrm>
          <a:prstGeom prst="ellipse">
            <a:avLst/>
          </a:prstGeom>
          <a:solidFill>
            <a:schemeClr val="accent1"/>
          </a:solidFill>
          <a:ln>
            <a:solidFill>
              <a:schemeClr val="accent1"/>
            </a:solidFill>
          </a:ln>
        </p:spPr>
        <p:txBody>
          <a:bodyPr/>
          <a:lstStyle/>
          <a:p>
            <a:endParaRPr lang="en-US"/>
          </a:p>
        </p:txBody>
      </p:sp>
      <p:pic>
        <p:nvPicPr>
          <p:cNvPr id="21" name="Image 4" descr="/home/claude/crop_yield_ppt/icons/list_FFFFFF.png"/>
          <p:cNvPicPr>
            <a:picLocks noChangeAspect="1"/>
          </p:cNvPicPr>
          <p:nvPr/>
        </p:nvPicPr>
        <p:blipFill>
          <a:blip r:embed="rId6"/>
          <a:stretch>
            <a:fillRect/>
          </a:stretch>
        </p:blipFill>
        <p:spPr>
          <a:xfrm>
            <a:off x="5909767" y="2681935"/>
            <a:ext cx="341986" cy="341986"/>
          </a:xfrm>
          <a:prstGeom prst="rect">
            <a:avLst/>
          </a:prstGeom>
        </p:spPr>
      </p:pic>
      <p:sp>
        <p:nvSpPr>
          <p:cNvPr id="22" name="Text 15"/>
          <p:cNvSpPr/>
          <p:nvPr/>
        </p:nvSpPr>
        <p:spPr>
          <a:xfrm>
            <a:off x="5212080" y="2359152"/>
            <a:ext cx="365760" cy="274320"/>
          </a:xfrm>
          <a:prstGeom prst="rect">
            <a:avLst/>
          </a:prstGeom>
          <a:noFill/>
          <a:ln/>
        </p:spPr>
        <p:txBody>
          <a:bodyPr wrap="square" rtlCol="0" anchor="ctr"/>
          <a:lstStyle/>
          <a:p>
            <a:pPr marL="0" indent="0">
              <a:buNone/>
            </a:pPr>
            <a:r>
              <a:rPr lang="en-US" sz="1100" b="1" dirty="0">
                <a:solidFill>
                  <a:srgbClr val="5C8A52"/>
                </a:solidFill>
                <a:latin typeface="Cambria" pitchFamily="34" charset="0"/>
                <a:ea typeface="Cambria" pitchFamily="34" charset="-122"/>
                <a:cs typeface="Cambria" pitchFamily="34" charset="-120"/>
              </a:rPr>
              <a:t>3</a:t>
            </a:r>
            <a:endParaRPr lang="en-US" sz="1100" dirty="0"/>
          </a:p>
        </p:txBody>
      </p:sp>
      <p:sp>
        <p:nvSpPr>
          <p:cNvPr id="23" name="Text 16"/>
          <p:cNvSpPr/>
          <p:nvPr/>
        </p:nvSpPr>
        <p:spPr>
          <a:xfrm>
            <a:off x="5212080" y="3337560"/>
            <a:ext cx="1737360" cy="548640"/>
          </a:xfrm>
          <a:prstGeom prst="rect">
            <a:avLst/>
          </a:prstGeom>
          <a:noFill/>
          <a:ln/>
        </p:spPr>
        <p:txBody>
          <a:bodyPr wrap="square" rtlCol="0" anchor="ctr"/>
          <a:lstStyle/>
          <a:p>
            <a:pPr marL="0" indent="0" algn="ctr">
              <a:buNone/>
            </a:pPr>
            <a:r>
              <a:rPr lang="en-US" sz="1200" b="1" dirty="0">
                <a:solidFill>
                  <a:srgbClr val="223522"/>
                </a:solidFill>
                <a:latin typeface="Calibri" pitchFamily="34" charset="0"/>
                <a:ea typeface="Calibri" pitchFamily="34" charset="-122"/>
                <a:cs typeface="Calibri" pitchFamily="34" charset="-120"/>
              </a:rPr>
              <a:t>Encode</a:t>
            </a:r>
            <a:endParaRPr lang="en-US" sz="1200" dirty="0"/>
          </a:p>
          <a:p>
            <a:pPr marL="0" indent="0" algn="ctr">
              <a:buNone/>
            </a:pPr>
            <a:r>
              <a:rPr lang="en-US" sz="1200" b="1" dirty="0">
                <a:solidFill>
                  <a:srgbClr val="223522"/>
                </a:solidFill>
                <a:latin typeface="Calibri" pitchFamily="34" charset="0"/>
                <a:ea typeface="Calibri" pitchFamily="34" charset="-122"/>
                <a:cs typeface="Calibri" pitchFamily="34" charset="-120"/>
              </a:rPr>
              <a:t>Categoricals</a:t>
            </a:r>
            <a:endParaRPr lang="en-US" sz="1200" dirty="0"/>
          </a:p>
        </p:txBody>
      </p:sp>
      <p:sp>
        <p:nvSpPr>
          <p:cNvPr id="24" name="Text 17"/>
          <p:cNvSpPr/>
          <p:nvPr/>
        </p:nvSpPr>
        <p:spPr>
          <a:xfrm>
            <a:off x="5257800" y="3886200"/>
            <a:ext cx="1645920" cy="685800"/>
          </a:xfrm>
          <a:prstGeom prst="rect">
            <a:avLst/>
          </a:prstGeom>
          <a:noFill/>
          <a:ln/>
        </p:spPr>
        <p:txBody>
          <a:bodyPr wrap="square" rtlCol="0" anchor="ctr"/>
          <a:lstStyle/>
          <a:p>
            <a:pPr marL="0" indent="0" algn="ctr">
              <a:buNone/>
            </a:pPr>
            <a:r>
              <a:rPr lang="en-US" sz="950" dirty="0">
                <a:solidFill>
                  <a:srgbClr val="6B7A6B"/>
                </a:solidFill>
                <a:latin typeface="Calibri" pitchFamily="34" charset="0"/>
                <a:ea typeface="Calibri" pitchFamily="34" charset="-122"/>
                <a:cs typeface="Calibri" pitchFamily="34" charset="-120"/>
              </a:rPr>
              <a:t>One-hot / label encoding</a:t>
            </a:r>
            <a:endParaRPr lang="en-US" sz="950" dirty="0"/>
          </a:p>
        </p:txBody>
      </p:sp>
      <p:pic>
        <p:nvPicPr>
          <p:cNvPr id="25" name="Image 5" descr="/home/claude/crop_yield_ppt/icons/arrowRight_D9A62E.png"/>
          <p:cNvPicPr>
            <a:picLocks noChangeAspect="1"/>
          </p:cNvPicPr>
          <p:nvPr/>
        </p:nvPicPr>
        <p:blipFill>
          <a:blip r:embed="rId4"/>
          <a:stretch>
            <a:fillRect/>
          </a:stretch>
        </p:blipFill>
        <p:spPr>
          <a:xfrm>
            <a:off x="7077456" y="3328416"/>
            <a:ext cx="292608" cy="292608"/>
          </a:xfrm>
          <a:prstGeom prst="rect">
            <a:avLst/>
          </a:prstGeom>
        </p:spPr>
      </p:pic>
      <p:sp>
        <p:nvSpPr>
          <p:cNvPr id="26" name="Shape 18"/>
          <p:cNvSpPr/>
          <p:nvPr/>
        </p:nvSpPr>
        <p:spPr>
          <a:xfrm>
            <a:off x="7406640" y="2286000"/>
            <a:ext cx="1920240" cy="2377440"/>
          </a:xfrm>
          <a:prstGeom prst="roundRect">
            <a:avLst>
              <a:gd name="adj" fmla="val 3810"/>
            </a:avLst>
          </a:prstGeom>
          <a:solidFill>
            <a:srgbClr val="F4F7F2"/>
          </a:solidFill>
          <a:ln/>
          <a:effectLst>
            <a:outerShdw blurRad="63500" dist="25400" dir="5400000" algn="bl" rotWithShape="0">
              <a:srgbClr val="000000">
                <a:alpha val="10000"/>
              </a:srgbClr>
            </a:outerShdw>
          </a:effectLst>
        </p:spPr>
        <p:txBody>
          <a:bodyPr/>
          <a:lstStyle/>
          <a:p>
            <a:endParaRPr lang="en-US"/>
          </a:p>
        </p:txBody>
      </p:sp>
      <p:sp>
        <p:nvSpPr>
          <p:cNvPr id="27" name="Shape 19"/>
          <p:cNvSpPr/>
          <p:nvPr/>
        </p:nvSpPr>
        <p:spPr>
          <a:xfrm>
            <a:off x="8055864" y="2542032"/>
            <a:ext cx="621792" cy="621792"/>
          </a:xfrm>
          <a:prstGeom prst="ellipse">
            <a:avLst/>
          </a:prstGeom>
          <a:solidFill>
            <a:schemeClr val="accent1"/>
          </a:solidFill>
          <a:ln>
            <a:solidFill>
              <a:schemeClr val="accent1"/>
            </a:solidFill>
          </a:ln>
        </p:spPr>
        <p:txBody>
          <a:bodyPr/>
          <a:lstStyle/>
          <a:p>
            <a:endParaRPr lang="en-US"/>
          </a:p>
        </p:txBody>
      </p:sp>
      <p:pic>
        <p:nvPicPr>
          <p:cNvPr id="28" name="Image 6" descr="/home/claude/crop_yield_ppt/icons/sliders_FFFFFF.png"/>
          <p:cNvPicPr>
            <a:picLocks noChangeAspect="1"/>
          </p:cNvPicPr>
          <p:nvPr/>
        </p:nvPicPr>
        <p:blipFill>
          <a:blip r:embed="rId7"/>
          <a:stretch>
            <a:fillRect/>
          </a:stretch>
        </p:blipFill>
        <p:spPr>
          <a:xfrm>
            <a:off x="8195767" y="2681935"/>
            <a:ext cx="341986" cy="341986"/>
          </a:xfrm>
          <a:prstGeom prst="rect">
            <a:avLst/>
          </a:prstGeom>
          <a:solidFill>
            <a:schemeClr val="accent1"/>
          </a:solidFill>
          <a:ln>
            <a:solidFill>
              <a:schemeClr val="accent1"/>
            </a:solidFill>
          </a:ln>
        </p:spPr>
      </p:pic>
      <p:sp>
        <p:nvSpPr>
          <p:cNvPr id="29" name="Text 20"/>
          <p:cNvSpPr/>
          <p:nvPr/>
        </p:nvSpPr>
        <p:spPr>
          <a:xfrm>
            <a:off x="7498080" y="2359152"/>
            <a:ext cx="365760" cy="274320"/>
          </a:xfrm>
          <a:prstGeom prst="rect">
            <a:avLst/>
          </a:prstGeom>
          <a:noFill/>
          <a:ln/>
        </p:spPr>
        <p:txBody>
          <a:bodyPr wrap="square" rtlCol="0" anchor="ctr"/>
          <a:lstStyle/>
          <a:p>
            <a:pPr marL="0" indent="0">
              <a:buNone/>
            </a:pPr>
            <a:r>
              <a:rPr lang="en-US" sz="1100" b="1" dirty="0">
                <a:solidFill>
                  <a:srgbClr val="5C8A52"/>
                </a:solidFill>
                <a:latin typeface="Cambria" pitchFamily="34" charset="0"/>
                <a:ea typeface="Cambria" pitchFamily="34" charset="-122"/>
                <a:cs typeface="Cambria" pitchFamily="34" charset="-120"/>
              </a:rPr>
              <a:t>4</a:t>
            </a:r>
            <a:endParaRPr lang="en-US" sz="1100" dirty="0"/>
          </a:p>
        </p:txBody>
      </p:sp>
      <p:sp>
        <p:nvSpPr>
          <p:cNvPr id="30" name="Text 21"/>
          <p:cNvSpPr/>
          <p:nvPr/>
        </p:nvSpPr>
        <p:spPr>
          <a:xfrm>
            <a:off x="7498080" y="3337560"/>
            <a:ext cx="1737360" cy="548640"/>
          </a:xfrm>
          <a:prstGeom prst="rect">
            <a:avLst/>
          </a:prstGeom>
          <a:noFill/>
          <a:ln/>
        </p:spPr>
        <p:txBody>
          <a:bodyPr wrap="square" rtlCol="0" anchor="ctr"/>
          <a:lstStyle/>
          <a:p>
            <a:pPr marL="0" indent="0" algn="ctr">
              <a:buNone/>
            </a:pPr>
            <a:r>
              <a:rPr lang="en-US" sz="1200" b="1" dirty="0">
                <a:solidFill>
                  <a:srgbClr val="223522"/>
                </a:solidFill>
                <a:latin typeface="Calibri" pitchFamily="34" charset="0"/>
                <a:ea typeface="Calibri" pitchFamily="34" charset="-122"/>
                <a:cs typeface="Calibri" pitchFamily="34" charset="-120"/>
              </a:rPr>
              <a:t>Scale &amp;</a:t>
            </a:r>
            <a:endParaRPr lang="en-US" sz="1200" dirty="0"/>
          </a:p>
          <a:p>
            <a:pPr marL="0" indent="0" algn="ctr">
              <a:buNone/>
            </a:pPr>
            <a:r>
              <a:rPr lang="en-US" sz="1200" b="1" dirty="0">
                <a:solidFill>
                  <a:srgbClr val="223522"/>
                </a:solidFill>
                <a:latin typeface="Calibri" pitchFamily="34" charset="0"/>
                <a:ea typeface="Calibri" pitchFamily="34" charset="-122"/>
                <a:cs typeface="Calibri" pitchFamily="34" charset="-120"/>
              </a:rPr>
              <a:t>Normalize</a:t>
            </a:r>
            <a:endParaRPr lang="en-US" sz="1200" dirty="0"/>
          </a:p>
        </p:txBody>
      </p:sp>
      <p:sp>
        <p:nvSpPr>
          <p:cNvPr id="31" name="Text 22"/>
          <p:cNvSpPr/>
          <p:nvPr/>
        </p:nvSpPr>
        <p:spPr>
          <a:xfrm>
            <a:off x="7543800" y="3886200"/>
            <a:ext cx="1645920" cy="685800"/>
          </a:xfrm>
          <a:prstGeom prst="rect">
            <a:avLst/>
          </a:prstGeom>
          <a:noFill/>
          <a:ln/>
        </p:spPr>
        <p:txBody>
          <a:bodyPr wrap="square" rtlCol="0" anchor="ctr"/>
          <a:lstStyle/>
          <a:p>
            <a:pPr marL="0" indent="0" algn="ctr">
              <a:buNone/>
            </a:pPr>
            <a:r>
              <a:rPr lang="en-US" sz="950" dirty="0">
                <a:solidFill>
                  <a:srgbClr val="6B7A6B"/>
                </a:solidFill>
                <a:latin typeface="Calibri" pitchFamily="34" charset="0"/>
                <a:ea typeface="Calibri" pitchFamily="34" charset="-122"/>
                <a:cs typeface="Calibri" pitchFamily="34" charset="-120"/>
              </a:rPr>
              <a:t>Standardize numerical ranges</a:t>
            </a:r>
            <a:endParaRPr lang="en-US" sz="950" dirty="0"/>
          </a:p>
        </p:txBody>
      </p:sp>
      <p:pic>
        <p:nvPicPr>
          <p:cNvPr id="32" name="Image 7" descr="/home/claude/crop_yield_ppt/icons/arrowRight_D9A62E.png"/>
          <p:cNvPicPr>
            <a:picLocks noChangeAspect="1"/>
          </p:cNvPicPr>
          <p:nvPr/>
        </p:nvPicPr>
        <p:blipFill>
          <a:blip r:embed="rId4"/>
          <a:stretch>
            <a:fillRect/>
          </a:stretch>
        </p:blipFill>
        <p:spPr>
          <a:xfrm>
            <a:off x="9363456" y="3328416"/>
            <a:ext cx="292608" cy="292608"/>
          </a:xfrm>
          <a:prstGeom prst="rect">
            <a:avLst/>
          </a:prstGeom>
        </p:spPr>
      </p:pic>
      <p:sp>
        <p:nvSpPr>
          <p:cNvPr id="33" name="Shape 23"/>
          <p:cNvSpPr/>
          <p:nvPr/>
        </p:nvSpPr>
        <p:spPr>
          <a:xfrm>
            <a:off x="9692640" y="2286000"/>
            <a:ext cx="1920240" cy="2377440"/>
          </a:xfrm>
          <a:prstGeom prst="roundRect">
            <a:avLst>
              <a:gd name="adj" fmla="val 3810"/>
            </a:avLst>
          </a:prstGeom>
          <a:solidFill>
            <a:srgbClr val="F4F7F2"/>
          </a:solidFill>
          <a:ln/>
          <a:effectLst>
            <a:outerShdw blurRad="63500" dist="25400" dir="5400000" algn="bl" rotWithShape="0">
              <a:srgbClr val="000000">
                <a:alpha val="10000"/>
              </a:srgbClr>
            </a:outerShdw>
          </a:effectLst>
        </p:spPr>
        <p:txBody>
          <a:bodyPr/>
          <a:lstStyle/>
          <a:p>
            <a:endParaRPr lang="en-US"/>
          </a:p>
        </p:txBody>
      </p:sp>
      <p:sp>
        <p:nvSpPr>
          <p:cNvPr id="34" name="Shape 24"/>
          <p:cNvSpPr/>
          <p:nvPr/>
        </p:nvSpPr>
        <p:spPr>
          <a:xfrm>
            <a:off x="10341864" y="2542032"/>
            <a:ext cx="621792" cy="621792"/>
          </a:xfrm>
          <a:prstGeom prst="ellipse">
            <a:avLst/>
          </a:prstGeom>
          <a:solidFill>
            <a:schemeClr val="accent1"/>
          </a:solidFill>
          <a:ln>
            <a:solidFill>
              <a:schemeClr val="accent1"/>
            </a:solidFill>
          </a:ln>
        </p:spPr>
        <p:txBody>
          <a:bodyPr/>
          <a:lstStyle/>
          <a:p>
            <a:endParaRPr lang="en-US"/>
          </a:p>
        </p:txBody>
      </p:sp>
      <p:pic>
        <p:nvPicPr>
          <p:cNvPr id="35" name="Image 8" descr="/home/claude/crop_yield_ppt/icons/layers_FFFFFF.png"/>
          <p:cNvPicPr>
            <a:picLocks noChangeAspect="1"/>
          </p:cNvPicPr>
          <p:nvPr/>
        </p:nvPicPr>
        <p:blipFill>
          <a:blip r:embed="rId8"/>
          <a:stretch>
            <a:fillRect/>
          </a:stretch>
        </p:blipFill>
        <p:spPr>
          <a:xfrm>
            <a:off x="10481767" y="2681935"/>
            <a:ext cx="341986" cy="341986"/>
          </a:xfrm>
          <a:prstGeom prst="rect">
            <a:avLst/>
          </a:prstGeom>
        </p:spPr>
      </p:pic>
      <p:sp>
        <p:nvSpPr>
          <p:cNvPr id="36" name="Text 25"/>
          <p:cNvSpPr/>
          <p:nvPr/>
        </p:nvSpPr>
        <p:spPr>
          <a:xfrm>
            <a:off x="9784080" y="2359152"/>
            <a:ext cx="365760" cy="274320"/>
          </a:xfrm>
          <a:prstGeom prst="rect">
            <a:avLst/>
          </a:prstGeom>
          <a:noFill/>
          <a:ln/>
        </p:spPr>
        <p:txBody>
          <a:bodyPr wrap="square" rtlCol="0" anchor="ctr"/>
          <a:lstStyle/>
          <a:p>
            <a:pPr marL="0" indent="0">
              <a:buNone/>
            </a:pPr>
            <a:r>
              <a:rPr lang="en-US" sz="1100" b="1" dirty="0">
                <a:solidFill>
                  <a:srgbClr val="D9A62E"/>
                </a:solidFill>
                <a:latin typeface="Cambria" pitchFamily="34" charset="0"/>
                <a:ea typeface="Cambria" pitchFamily="34" charset="-122"/>
                <a:cs typeface="Cambria" pitchFamily="34" charset="-120"/>
              </a:rPr>
              <a:t>5</a:t>
            </a:r>
            <a:endParaRPr lang="en-US" sz="1100" dirty="0"/>
          </a:p>
        </p:txBody>
      </p:sp>
      <p:sp>
        <p:nvSpPr>
          <p:cNvPr id="37" name="Text 26"/>
          <p:cNvSpPr/>
          <p:nvPr/>
        </p:nvSpPr>
        <p:spPr>
          <a:xfrm>
            <a:off x="9784080" y="3337560"/>
            <a:ext cx="1737360" cy="548640"/>
          </a:xfrm>
          <a:prstGeom prst="rect">
            <a:avLst/>
          </a:prstGeom>
          <a:noFill/>
          <a:ln/>
        </p:spPr>
        <p:txBody>
          <a:bodyPr wrap="square" rtlCol="0" anchor="ctr"/>
          <a:lstStyle/>
          <a:p>
            <a:pPr algn="ctr"/>
            <a:r>
              <a:rPr lang="en-US" sz="1200" b="1" dirty="0">
                <a:solidFill>
                  <a:srgbClr val="223522"/>
                </a:solidFill>
                <a:latin typeface="Calibri" pitchFamily="34" charset="0"/>
                <a:ea typeface="Calibri" pitchFamily="34" charset="-122"/>
                <a:cs typeface="Calibri" pitchFamily="34" charset="-120"/>
              </a:rPr>
              <a:t>Train / Test</a:t>
            </a:r>
          </a:p>
          <a:p>
            <a:pPr algn="ctr"/>
            <a:r>
              <a:rPr lang="en-US" sz="1200" b="1" dirty="0">
                <a:solidFill>
                  <a:srgbClr val="223522"/>
                </a:solidFill>
                <a:latin typeface="Calibri" pitchFamily="34" charset="0"/>
                <a:ea typeface="Calibri" pitchFamily="34" charset="-122"/>
                <a:cs typeface="Calibri" pitchFamily="34" charset="-120"/>
              </a:rPr>
              <a:t>Split</a:t>
            </a:r>
          </a:p>
        </p:txBody>
      </p:sp>
      <p:sp>
        <p:nvSpPr>
          <p:cNvPr id="38" name="Text 27"/>
          <p:cNvSpPr/>
          <p:nvPr/>
        </p:nvSpPr>
        <p:spPr>
          <a:xfrm>
            <a:off x="9829800" y="3886200"/>
            <a:ext cx="1645920" cy="685800"/>
          </a:xfrm>
          <a:prstGeom prst="rect">
            <a:avLst/>
          </a:prstGeom>
          <a:noFill/>
          <a:ln/>
        </p:spPr>
        <p:txBody>
          <a:bodyPr wrap="square" rtlCol="0" anchor="ctr"/>
          <a:lstStyle/>
          <a:p>
            <a:pPr algn="ctr"/>
            <a:r>
              <a:rPr lang="en-US" sz="950" dirty="0">
                <a:solidFill>
                  <a:srgbClr val="6B7A6B"/>
                </a:solidFill>
                <a:latin typeface="Calibri" pitchFamily="34" charset="0"/>
                <a:ea typeface="Calibri" pitchFamily="34" charset="-122"/>
                <a:cs typeface="Calibri" pitchFamily="34" charset="-120"/>
              </a:rPr>
              <a:t>Partition for evaluation</a:t>
            </a:r>
          </a:p>
        </p:txBody>
      </p:sp>
      <p:sp>
        <p:nvSpPr>
          <p:cNvPr id="39" name="Text 28"/>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40" name="Text 29"/>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F821940F-7A1D-4ACC-85B4-A932898AB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16674508-81D3-48CF-96BF-7FC60EAA57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741994" cy="6858000"/>
          </a:xfrm>
          <a:custGeom>
            <a:avLst/>
            <a:gdLst>
              <a:gd name="connsiteX0" fmla="*/ 0 w 6568309"/>
              <a:gd name="connsiteY0" fmla="*/ 0 h 6858000"/>
              <a:gd name="connsiteX1" fmla="*/ 362841 w 6568309"/>
              <a:gd name="connsiteY1" fmla="*/ 0 h 6858000"/>
              <a:gd name="connsiteX2" fmla="*/ 523269 w 6568309"/>
              <a:gd name="connsiteY2" fmla="*/ 0 h 6858000"/>
              <a:gd name="connsiteX3" fmla="*/ 1343025 w 6568309"/>
              <a:gd name="connsiteY3" fmla="*/ 0 h 6858000"/>
              <a:gd name="connsiteX4" fmla="*/ 1705866 w 6568309"/>
              <a:gd name="connsiteY4" fmla="*/ 0 h 6858000"/>
              <a:gd name="connsiteX5" fmla="*/ 1866294 w 6568309"/>
              <a:gd name="connsiteY5" fmla="*/ 0 h 6858000"/>
              <a:gd name="connsiteX6" fmla="*/ 5225154 w 6568309"/>
              <a:gd name="connsiteY6" fmla="*/ 0 h 6858000"/>
              <a:gd name="connsiteX7" fmla="*/ 6568179 w 6568309"/>
              <a:gd name="connsiteY7" fmla="*/ 0 h 6858000"/>
              <a:gd name="connsiteX8" fmla="*/ 6568309 w 6568309"/>
              <a:gd name="connsiteY8" fmla="*/ 1 h 6858000"/>
              <a:gd name="connsiteX9" fmla="*/ 6562951 w 6568309"/>
              <a:gd name="connsiteY9" fmla="*/ 30700 h 6858000"/>
              <a:gd name="connsiteX10" fmla="*/ 6547446 w 6568309"/>
              <a:gd name="connsiteY10" fmla="*/ 310025 h 6858000"/>
              <a:gd name="connsiteX11" fmla="*/ 6558316 w 6568309"/>
              <a:gd name="connsiteY11" fmla="*/ 443960 h 6858000"/>
              <a:gd name="connsiteX12" fmla="*/ 6528896 w 6568309"/>
              <a:gd name="connsiteY12" fmla="*/ 642659 h 6858000"/>
              <a:gd name="connsiteX13" fmla="*/ 6523095 w 6568309"/>
              <a:gd name="connsiteY13" fmla="*/ 673307 h 6858000"/>
              <a:gd name="connsiteX14" fmla="*/ 6496169 w 6568309"/>
              <a:gd name="connsiteY14" fmla="*/ 839641 h 6858000"/>
              <a:gd name="connsiteX15" fmla="*/ 6450789 w 6568309"/>
              <a:gd name="connsiteY15" fmla="*/ 958357 h 6858000"/>
              <a:gd name="connsiteX16" fmla="*/ 6453996 w 6568309"/>
              <a:gd name="connsiteY16" fmla="*/ 963398 h 6858000"/>
              <a:gd name="connsiteX17" fmla="*/ 6419467 w 6568309"/>
              <a:gd name="connsiteY17" fmla="*/ 1117169 h 6858000"/>
              <a:gd name="connsiteX18" fmla="*/ 6417348 w 6568309"/>
              <a:gd name="connsiteY18" fmla="*/ 1144352 h 6858000"/>
              <a:gd name="connsiteX19" fmla="*/ 6418473 w 6568309"/>
              <a:gd name="connsiteY19" fmla="*/ 1164484 h 6858000"/>
              <a:gd name="connsiteX20" fmla="*/ 6406979 w 6568309"/>
              <a:gd name="connsiteY20" fmla="*/ 1213829 h 6858000"/>
              <a:gd name="connsiteX21" fmla="*/ 6381928 w 6568309"/>
              <a:gd name="connsiteY21" fmla="*/ 1294823 h 6858000"/>
              <a:gd name="connsiteX22" fmla="*/ 6377948 w 6568309"/>
              <a:gd name="connsiteY22" fmla="*/ 1312193 h 6858000"/>
              <a:gd name="connsiteX23" fmla="*/ 6379894 w 6568309"/>
              <a:gd name="connsiteY23" fmla="*/ 1327626 h 6858000"/>
              <a:gd name="connsiteX24" fmla="*/ 6385024 w 6568309"/>
              <a:gd name="connsiteY24" fmla="*/ 1331644 h 6858000"/>
              <a:gd name="connsiteX25" fmla="*/ 6383696 w 6568309"/>
              <a:gd name="connsiteY25" fmla="*/ 1341276 h 6858000"/>
              <a:gd name="connsiteX26" fmla="*/ 6384464 w 6568309"/>
              <a:gd name="connsiteY26" fmla="*/ 1343945 h 6858000"/>
              <a:gd name="connsiteX27" fmla="*/ 6387748 w 6568309"/>
              <a:gd name="connsiteY27" fmla="*/ 1359134 h 6858000"/>
              <a:gd name="connsiteX28" fmla="*/ 6364157 w 6568309"/>
              <a:gd name="connsiteY28" fmla="*/ 1427803 h 6858000"/>
              <a:gd name="connsiteX29" fmla="*/ 6335874 w 6568309"/>
              <a:gd name="connsiteY29" fmla="*/ 1540278 h 6858000"/>
              <a:gd name="connsiteX30" fmla="*/ 6331892 w 6568309"/>
              <a:gd name="connsiteY30" fmla="*/ 1547262 h 6858000"/>
              <a:gd name="connsiteX31" fmla="*/ 6332744 w 6568309"/>
              <a:gd name="connsiteY31" fmla="*/ 1577056 h 6858000"/>
              <a:gd name="connsiteX32" fmla="*/ 6333604 w 6568309"/>
              <a:gd name="connsiteY32" fmla="*/ 1595898 h 6858000"/>
              <a:gd name="connsiteX33" fmla="*/ 6324749 w 6568309"/>
              <a:gd name="connsiteY33" fmla="*/ 1703726 h 6858000"/>
              <a:gd name="connsiteX34" fmla="*/ 6329594 w 6568309"/>
              <a:gd name="connsiteY34" fmla="*/ 1809535 h 6858000"/>
              <a:gd name="connsiteX35" fmla="*/ 6329062 w 6568309"/>
              <a:gd name="connsiteY35" fmla="*/ 2018310 h 6858000"/>
              <a:gd name="connsiteX36" fmla="*/ 6321735 w 6568309"/>
              <a:gd name="connsiteY36" fmla="*/ 2071355 h 6858000"/>
              <a:gd name="connsiteX37" fmla="*/ 6322678 w 6568309"/>
              <a:gd name="connsiteY37" fmla="*/ 2141166 h 6858000"/>
              <a:gd name="connsiteX38" fmla="*/ 6321340 w 6568309"/>
              <a:gd name="connsiteY38" fmla="*/ 2154548 h 6858000"/>
              <a:gd name="connsiteX39" fmla="*/ 6316582 w 6568309"/>
              <a:gd name="connsiteY39" fmla="*/ 2158153 h 6858000"/>
              <a:gd name="connsiteX40" fmla="*/ 6311428 w 6568309"/>
              <a:gd name="connsiteY40" fmla="*/ 2178174 h 6858000"/>
              <a:gd name="connsiteX41" fmla="*/ 6310192 w 6568309"/>
              <a:gd name="connsiteY41" fmla="*/ 2202858 h 6858000"/>
              <a:gd name="connsiteX42" fmla="*/ 6309211 w 6568309"/>
              <a:gd name="connsiteY42" fmla="*/ 2320214 h 6858000"/>
              <a:gd name="connsiteX43" fmla="*/ 6300151 w 6568309"/>
              <a:gd name="connsiteY43" fmla="*/ 2417011 h 6858000"/>
              <a:gd name="connsiteX44" fmla="*/ 6295176 w 6568309"/>
              <a:gd name="connsiteY44" fmla="*/ 2454207 h 6858000"/>
              <a:gd name="connsiteX45" fmla="*/ 6293727 w 6568309"/>
              <a:gd name="connsiteY45" fmla="*/ 2487203 h 6858000"/>
              <a:gd name="connsiteX46" fmla="*/ 6285477 w 6568309"/>
              <a:gd name="connsiteY46" fmla="*/ 2512282 h 6858000"/>
              <a:gd name="connsiteX47" fmla="*/ 6286205 w 6568309"/>
              <a:gd name="connsiteY47" fmla="*/ 2514318 h 6858000"/>
              <a:gd name="connsiteX48" fmla="*/ 6304629 w 6568309"/>
              <a:gd name="connsiteY48" fmla="*/ 2574334 h 6858000"/>
              <a:gd name="connsiteX49" fmla="*/ 6303842 w 6568309"/>
              <a:gd name="connsiteY49" fmla="*/ 2579877 h 6858000"/>
              <a:gd name="connsiteX50" fmla="*/ 6303953 w 6568309"/>
              <a:gd name="connsiteY50" fmla="*/ 2608928 h 6858000"/>
              <a:gd name="connsiteX51" fmla="*/ 6303530 w 6568309"/>
              <a:gd name="connsiteY51" fmla="*/ 2613111 h 6858000"/>
              <a:gd name="connsiteX52" fmla="*/ 6297474 w 6568309"/>
              <a:gd name="connsiteY52" fmla="*/ 2621996 h 6858000"/>
              <a:gd name="connsiteX53" fmla="*/ 6299263 w 6568309"/>
              <a:gd name="connsiteY53" fmla="*/ 2634265 h 6858000"/>
              <a:gd name="connsiteX54" fmla="*/ 6293065 w 6568309"/>
              <a:gd name="connsiteY54" fmla="*/ 2647237 h 6858000"/>
              <a:gd name="connsiteX55" fmla="*/ 6297496 w 6568309"/>
              <a:gd name="connsiteY55" fmla="*/ 2650786 h 6858000"/>
              <a:gd name="connsiteX56" fmla="*/ 6301708 w 6568309"/>
              <a:gd name="connsiteY56" fmla="*/ 2661993 h 6858000"/>
              <a:gd name="connsiteX57" fmla="*/ 6295884 w 6568309"/>
              <a:gd name="connsiteY57" fmla="*/ 2670949 h 6858000"/>
              <a:gd name="connsiteX58" fmla="*/ 6291714 w 6568309"/>
              <a:gd name="connsiteY58" fmla="*/ 2690255 h 6858000"/>
              <a:gd name="connsiteX59" fmla="*/ 6292327 w 6568309"/>
              <a:gd name="connsiteY59" fmla="*/ 2695683 h 6858000"/>
              <a:gd name="connsiteX60" fmla="*/ 6284410 w 6568309"/>
              <a:gd name="connsiteY60" fmla="*/ 2713964 h 6858000"/>
              <a:gd name="connsiteX61" fmla="*/ 6280410 w 6568309"/>
              <a:gd name="connsiteY61" fmla="*/ 2730175 h 6858000"/>
              <a:gd name="connsiteX62" fmla="*/ 6288082 w 6568309"/>
              <a:gd name="connsiteY62" fmla="*/ 2763497 h 6858000"/>
              <a:gd name="connsiteX63" fmla="*/ 6260924 w 6568309"/>
              <a:gd name="connsiteY63" fmla="*/ 3051539 h 6858000"/>
              <a:gd name="connsiteX64" fmla="*/ 6210151 w 6568309"/>
              <a:gd name="connsiteY64" fmla="*/ 3335396 h 6858000"/>
              <a:gd name="connsiteX65" fmla="*/ 6212034 w 6568309"/>
              <a:gd name="connsiteY65" fmla="*/ 3456509 h 6858000"/>
              <a:gd name="connsiteX66" fmla="*/ 6197490 w 6568309"/>
              <a:gd name="connsiteY66" fmla="*/ 3531827 h 6858000"/>
              <a:gd name="connsiteX67" fmla="*/ 6208018 w 6568309"/>
              <a:gd name="connsiteY67" fmla="*/ 3570877 h 6858000"/>
              <a:gd name="connsiteX68" fmla="*/ 6205920 w 6568309"/>
              <a:gd name="connsiteY68" fmla="*/ 3583849 h 6858000"/>
              <a:gd name="connsiteX69" fmla="*/ 6199616 w 6568309"/>
              <a:gd name="connsiteY69" fmla="*/ 3592763 h 6858000"/>
              <a:gd name="connsiteX70" fmla="*/ 6181288 w 6568309"/>
              <a:gd name="connsiteY70" fmla="*/ 3653485 h 6858000"/>
              <a:gd name="connsiteX71" fmla="*/ 6175963 w 6568309"/>
              <a:gd name="connsiteY71" fmla="*/ 3670528 h 6858000"/>
              <a:gd name="connsiteX72" fmla="*/ 6176722 w 6568309"/>
              <a:gd name="connsiteY72" fmla="*/ 3685990 h 6858000"/>
              <a:gd name="connsiteX73" fmla="*/ 6181549 w 6568309"/>
              <a:gd name="connsiteY73" fmla="*/ 3690283 h 6858000"/>
              <a:gd name="connsiteX74" fmla="*/ 6179476 w 6568309"/>
              <a:gd name="connsiteY74" fmla="*/ 3699787 h 6858000"/>
              <a:gd name="connsiteX75" fmla="*/ 6180040 w 6568309"/>
              <a:gd name="connsiteY75" fmla="*/ 3702486 h 6858000"/>
              <a:gd name="connsiteX76" fmla="*/ 6182155 w 6568309"/>
              <a:gd name="connsiteY76" fmla="*/ 3717784 h 6858000"/>
              <a:gd name="connsiteX77" fmla="*/ 6158980 w 6568309"/>
              <a:gd name="connsiteY77" fmla="*/ 3746229 h 6858000"/>
              <a:gd name="connsiteX78" fmla="*/ 6096049 w 6568309"/>
              <a:gd name="connsiteY78" fmla="*/ 3924910 h 6858000"/>
              <a:gd name="connsiteX79" fmla="*/ 6069712 w 6568309"/>
              <a:gd name="connsiteY79" fmla="*/ 3989353 h 6858000"/>
              <a:gd name="connsiteX80" fmla="*/ 6067330 w 6568309"/>
              <a:gd name="connsiteY80" fmla="*/ 4033899 h 6858000"/>
              <a:gd name="connsiteX81" fmla="*/ 6061081 w 6568309"/>
              <a:gd name="connsiteY81" fmla="*/ 4142250 h 6858000"/>
              <a:gd name="connsiteX82" fmla="*/ 6042858 w 6568309"/>
              <a:gd name="connsiteY82" fmla="*/ 4329442 h 6858000"/>
              <a:gd name="connsiteX83" fmla="*/ 6034182 w 6568309"/>
              <a:gd name="connsiteY83" fmla="*/ 4456184 h 6858000"/>
              <a:gd name="connsiteX84" fmla="*/ 6029178 w 6568309"/>
              <a:gd name="connsiteY84" fmla="*/ 4468478 h 6858000"/>
              <a:gd name="connsiteX85" fmla="*/ 6029974 w 6568309"/>
              <a:gd name="connsiteY85" fmla="*/ 4469862 h 6858000"/>
              <a:gd name="connsiteX86" fmla="*/ 6028340 w 6568309"/>
              <a:gd name="connsiteY86" fmla="*/ 4483797 h 6858000"/>
              <a:gd name="connsiteX87" fmla="*/ 6025168 w 6568309"/>
              <a:gd name="connsiteY87" fmla="*/ 4487091 h 6858000"/>
              <a:gd name="connsiteX88" fmla="*/ 6023164 w 6568309"/>
              <a:gd name="connsiteY88" fmla="*/ 4496728 h 6858000"/>
              <a:gd name="connsiteX89" fmla="*/ 6016839 w 6568309"/>
              <a:gd name="connsiteY89" fmla="*/ 4515918 h 6858000"/>
              <a:gd name="connsiteX90" fmla="*/ 6017886 w 6568309"/>
              <a:gd name="connsiteY90" fmla="*/ 4519316 h 6858000"/>
              <a:gd name="connsiteX91" fmla="*/ 6011819 w 6568309"/>
              <a:gd name="connsiteY91" fmla="*/ 4547957 h 6858000"/>
              <a:gd name="connsiteX92" fmla="*/ 6012791 w 6568309"/>
              <a:gd name="connsiteY92" fmla="*/ 4548262 h 6858000"/>
              <a:gd name="connsiteX93" fmla="*/ 6015703 w 6568309"/>
              <a:gd name="connsiteY93" fmla="*/ 4555939 h 6858000"/>
              <a:gd name="connsiteX94" fmla="*/ 6018854 w 6568309"/>
              <a:gd name="connsiteY94" fmla="*/ 4570815 h 6858000"/>
              <a:gd name="connsiteX95" fmla="*/ 6033000 w 6568309"/>
              <a:gd name="connsiteY95" fmla="*/ 4633846 h 6858000"/>
              <a:gd name="connsiteX96" fmla="*/ 6032325 w 6568309"/>
              <a:gd name="connsiteY96" fmla="*/ 4639816 h 6858000"/>
              <a:gd name="connsiteX97" fmla="*/ 6032549 w 6568309"/>
              <a:gd name="connsiteY97" fmla="*/ 4639923 h 6858000"/>
              <a:gd name="connsiteX98" fmla="*/ 6032309 w 6568309"/>
              <a:gd name="connsiteY98" fmla="*/ 4646192 h 6858000"/>
              <a:gd name="connsiteX99" fmla="*/ 6031095 w 6568309"/>
              <a:gd name="connsiteY99" fmla="*/ 4650706 h 6858000"/>
              <a:gd name="connsiteX100" fmla="*/ 6029786 w 6568309"/>
              <a:gd name="connsiteY100" fmla="*/ 4662290 h 6858000"/>
              <a:gd name="connsiteX101" fmla="*/ 6030911 w 6568309"/>
              <a:gd name="connsiteY101" fmla="*/ 4666180 h 6858000"/>
              <a:gd name="connsiteX102" fmla="*/ 6033630 w 6568309"/>
              <a:gd name="connsiteY102" fmla="*/ 4667585 h 6858000"/>
              <a:gd name="connsiteX103" fmla="*/ 6033189 w 6568309"/>
              <a:gd name="connsiteY103" fmla="*/ 4668660 h 6858000"/>
              <a:gd name="connsiteX104" fmla="*/ 6038764 w 6568309"/>
              <a:gd name="connsiteY104" fmla="*/ 4689807 h 6858000"/>
              <a:gd name="connsiteX105" fmla="*/ 6042217 w 6568309"/>
              <a:gd name="connsiteY105" fmla="*/ 4737890 h 6858000"/>
              <a:gd name="connsiteX106" fmla="*/ 6040543 w 6568309"/>
              <a:gd name="connsiteY106" fmla="*/ 4765657 h 6858000"/>
              <a:gd name="connsiteX107" fmla="*/ 6039956 w 6568309"/>
              <a:gd name="connsiteY107" fmla="*/ 4841463 h 6858000"/>
              <a:gd name="connsiteX108" fmla="*/ 6057123 w 6568309"/>
              <a:gd name="connsiteY108" fmla="*/ 4969863 h 6858000"/>
              <a:gd name="connsiteX109" fmla="*/ 6055039 w 6568309"/>
              <a:gd name="connsiteY109" fmla="*/ 4974028 h 6858000"/>
              <a:gd name="connsiteX110" fmla="*/ 6053462 w 6568309"/>
              <a:gd name="connsiteY110" fmla="*/ 4980318 h 6858000"/>
              <a:gd name="connsiteX111" fmla="*/ 6053643 w 6568309"/>
              <a:gd name="connsiteY111" fmla="*/ 4980501 h 6858000"/>
              <a:gd name="connsiteX112" fmla="*/ 6051733 w 6568309"/>
              <a:gd name="connsiteY112" fmla="*/ 4986338 h 6858000"/>
              <a:gd name="connsiteX113" fmla="*/ 6049602 w 6568309"/>
              <a:gd name="connsiteY113" fmla="*/ 4991296 h 6858000"/>
              <a:gd name="connsiteX114" fmla="*/ 6075165 w 6568309"/>
              <a:gd name="connsiteY114" fmla="*/ 5076895 h 6858000"/>
              <a:gd name="connsiteX115" fmla="*/ 6073751 w 6568309"/>
              <a:gd name="connsiteY115" fmla="*/ 5081568 h 6858000"/>
              <a:gd name="connsiteX116" fmla="*/ 6073150 w 6568309"/>
              <a:gd name="connsiteY116" fmla="*/ 5088173 h 6858000"/>
              <a:gd name="connsiteX117" fmla="*/ 6073355 w 6568309"/>
              <a:gd name="connsiteY117" fmla="*/ 5088300 h 6858000"/>
              <a:gd name="connsiteX118" fmla="*/ 6072362 w 6568309"/>
              <a:gd name="connsiteY118" fmla="*/ 5094558 h 6858000"/>
              <a:gd name="connsiteX119" fmla="*/ 6064726 w 6568309"/>
              <a:gd name="connsiteY119" fmla="*/ 5125620 h 6858000"/>
              <a:gd name="connsiteX120" fmla="*/ 6065415 w 6568309"/>
              <a:gd name="connsiteY120" fmla="*/ 5268004 h 6858000"/>
              <a:gd name="connsiteX121" fmla="*/ 6066081 w 6568309"/>
              <a:gd name="connsiteY121" fmla="*/ 5269530 h 6858000"/>
              <a:gd name="connsiteX122" fmla="*/ 6043407 w 6568309"/>
              <a:gd name="connsiteY122" fmla="*/ 5390941 h 6858000"/>
              <a:gd name="connsiteX123" fmla="*/ 6025377 w 6568309"/>
              <a:gd name="connsiteY123" fmla="*/ 5539927 h 6858000"/>
              <a:gd name="connsiteX124" fmla="*/ 6010052 w 6568309"/>
              <a:gd name="connsiteY124" fmla="*/ 5791594 h 6858000"/>
              <a:gd name="connsiteX125" fmla="*/ 5994220 w 6568309"/>
              <a:gd name="connsiteY125" fmla="*/ 5855206 h 6858000"/>
              <a:gd name="connsiteX126" fmla="*/ 5982580 w 6568309"/>
              <a:gd name="connsiteY126" fmla="*/ 5873582 h 6858000"/>
              <a:gd name="connsiteX127" fmla="*/ 5983608 w 6568309"/>
              <a:gd name="connsiteY127" fmla="*/ 5876037 h 6858000"/>
              <a:gd name="connsiteX128" fmla="*/ 5983535 w 6568309"/>
              <a:gd name="connsiteY128" fmla="*/ 5886534 h 6858000"/>
              <a:gd name="connsiteX129" fmla="*/ 5988737 w 6568309"/>
              <a:gd name="connsiteY129" fmla="*/ 5888644 h 6858000"/>
              <a:gd name="connsiteX130" fmla="*/ 5992371 w 6568309"/>
              <a:gd name="connsiteY130" fmla="*/ 5903832 h 6858000"/>
              <a:gd name="connsiteX131" fmla="*/ 5990780 w 6568309"/>
              <a:gd name="connsiteY131" fmla="*/ 5923391 h 6858000"/>
              <a:gd name="connsiteX132" fmla="*/ 5993870 w 6568309"/>
              <a:gd name="connsiteY132" fmla="*/ 6013205 h 6858000"/>
              <a:gd name="connsiteX133" fmla="*/ 5997673 w 6568309"/>
              <a:gd name="connsiteY133" fmla="*/ 6074018 h 6858000"/>
              <a:gd name="connsiteX134" fmla="*/ 6014840 w 6568309"/>
              <a:gd name="connsiteY134" fmla="*/ 6130837 h 6858000"/>
              <a:gd name="connsiteX135" fmla="*/ 6010704 w 6568309"/>
              <a:gd name="connsiteY135" fmla="*/ 6152982 h 6858000"/>
              <a:gd name="connsiteX136" fmla="*/ 6038294 w 6568309"/>
              <a:gd name="connsiteY136" fmla="*/ 6221100 h 6858000"/>
              <a:gd name="connsiteX137" fmla="*/ 6052331 w 6568309"/>
              <a:gd name="connsiteY137" fmla="*/ 6287550 h 6858000"/>
              <a:gd name="connsiteX138" fmla="*/ 6074143 w 6568309"/>
              <a:gd name="connsiteY138" fmla="*/ 6401595 h 6858000"/>
              <a:gd name="connsiteX139" fmla="*/ 6060199 w 6568309"/>
              <a:gd name="connsiteY139" fmla="*/ 6487110 h 6858000"/>
              <a:gd name="connsiteX140" fmla="*/ 6081156 w 6568309"/>
              <a:gd name="connsiteY140" fmla="*/ 6588589 h 6858000"/>
              <a:gd name="connsiteX141" fmla="*/ 6114944 w 6568309"/>
              <a:gd name="connsiteY141" fmla="*/ 6769963 h 6858000"/>
              <a:gd name="connsiteX142" fmla="*/ 6128950 w 6568309"/>
              <a:gd name="connsiteY142" fmla="*/ 6835814 h 6858000"/>
              <a:gd name="connsiteX143" fmla="*/ 6132536 w 6568309"/>
              <a:gd name="connsiteY143" fmla="*/ 6858000 h 6858000"/>
              <a:gd name="connsiteX144" fmla="*/ 4789511 w 6568309"/>
              <a:gd name="connsiteY144" fmla="*/ 6858000 h 6858000"/>
              <a:gd name="connsiteX145" fmla="*/ 1866294 w 6568309"/>
              <a:gd name="connsiteY145" fmla="*/ 6858000 h 6858000"/>
              <a:gd name="connsiteX146" fmla="*/ 1705866 w 6568309"/>
              <a:gd name="connsiteY146" fmla="*/ 6858000 h 6858000"/>
              <a:gd name="connsiteX147" fmla="*/ 1343025 w 6568309"/>
              <a:gd name="connsiteY147" fmla="*/ 6858000 h 6858000"/>
              <a:gd name="connsiteX148" fmla="*/ 523269 w 6568309"/>
              <a:gd name="connsiteY148" fmla="*/ 6858000 h 6858000"/>
              <a:gd name="connsiteX149" fmla="*/ 362841 w 6568309"/>
              <a:gd name="connsiteY149" fmla="*/ 6858000 h 6858000"/>
              <a:gd name="connsiteX150" fmla="*/ 0 w 6568309"/>
              <a:gd name="connsiteY150"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Lst>
            <a:rect l="l" t="t" r="r" b="b"/>
            <a:pathLst>
              <a:path w="6568309" h="6858000">
                <a:moveTo>
                  <a:pt x="0" y="0"/>
                </a:moveTo>
                <a:lnTo>
                  <a:pt x="362841" y="0"/>
                </a:lnTo>
                <a:lnTo>
                  <a:pt x="523269" y="0"/>
                </a:lnTo>
                <a:lnTo>
                  <a:pt x="1343025" y="0"/>
                </a:lnTo>
                <a:lnTo>
                  <a:pt x="1705866" y="0"/>
                </a:lnTo>
                <a:lnTo>
                  <a:pt x="1866294" y="0"/>
                </a:lnTo>
                <a:lnTo>
                  <a:pt x="5225154" y="0"/>
                </a:lnTo>
                <a:lnTo>
                  <a:pt x="6568179" y="0"/>
                </a:lnTo>
                <a:lnTo>
                  <a:pt x="6568309" y="1"/>
                </a:lnTo>
                <a:lnTo>
                  <a:pt x="6562951" y="30700"/>
                </a:lnTo>
                <a:cubicBezTo>
                  <a:pt x="6559126" y="84364"/>
                  <a:pt x="6548218" y="241149"/>
                  <a:pt x="6547446" y="310025"/>
                </a:cubicBezTo>
                <a:cubicBezTo>
                  <a:pt x="6550151" y="367544"/>
                  <a:pt x="6557712" y="408251"/>
                  <a:pt x="6558316" y="443960"/>
                </a:cubicBezTo>
                <a:cubicBezTo>
                  <a:pt x="6555224" y="499397"/>
                  <a:pt x="6534767" y="604434"/>
                  <a:pt x="6528896" y="642659"/>
                </a:cubicBezTo>
                <a:cubicBezTo>
                  <a:pt x="6535204" y="657287"/>
                  <a:pt x="6515365" y="658191"/>
                  <a:pt x="6523095" y="673307"/>
                </a:cubicBezTo>
                <a:cubicBezTo>
                  <a:pt x="6523388" y="693769"/>
                  <a:pt x="6506868" y="797295"/>
                  <a:pt x="6496169" y="839641"/>
                </a:cubicBezTo>
                <a:cubicBezTo>
                  <a:pt x="6484119" y="887148"/>
                  <a:pt x="6457817" y="937731"/>
                  <a:pt x="6450789" y="958357"/>
                </a:cubicBezTo>
                <a:cubicBezTo>
                  <a:pt x="6443760" y="978983"/>
                  <a:pt x="6459217" y="936930"/>
                  <a:pt x="6453996" y="963398"/>
                </a:cubicBezTo>
                <a:cubicBezTo>
                  <a:pt x="6448777" y="989867"/>
                  <a:pt x="6425575" y="1087010"/>
                  <a:pt x="6419467" y="1117169"/>
                </a:cubicBezTo>
                <a:cubicBezTo>
                  <a:pt x="6431540" y="1118586"/>
                  <a:pt x="6409651" y="1135372"/>
                  <a:pt x="6417348" y="1144352"/>
                </a:cubicBezTo>
                <a:cubicBezTo>
                  <a:pt x="6424109" y="1150681"/>
                  <a:pt x="6419047" y="1157251"/>
                  <a:pt x="6418473" y="1164484"/>
                </a:cubicBezTo>
                <a:cubicBezTo>
                  <a:pt x="6423767" y="1173524"/>
                  <a:pt x="6413947" y="1205209"/>
                  <a:pt x="6406979" y="1213829"/>
                </a:cubicBezTo>
                <a:cubicBezTo>
                  <a:pt x="6382818" y="1235037"/>
                  <a:pt x="6400452" y="1277327"/>
                  <a:pt x="6381928" y="1294823"/>
                </a:cubicBezTo>
                <a:cubicBezTo>
                  <a:pt x="6379195" y="1300845"/>
                  <a:pt x="6378069" y="1306615"/>
                  <a:pt x="6377948" y="1312193"/>
                </a:cubicBezTo>
                <a:lnTo>
                  <a:pt x="6379894" y="1327626"/>
                </a:lnTo>
                <a:lnTo>
                  <a:pt x="6385024" y="1331644"/>
                </a:lnTo>
                <a:lnTo>
                  <a:pt x="6383696" y="1341276"/>
                </a:lnTo>
                <a:cubicBezTo>
                  <a:pt x="6383952" y="1342166"/>
                  <a:pt x="6384208" y="1343055"/>
                  <a:pt x="6384464" y="1343945"/>
                </a:cubicBezTo>
                <a:cubicBezTo>
                  <a:pt x="6385957" y="1349040"/>
                  <a:pt x="6387253" y="1354080"/>
                  <a:pt x="6387748" y="1359134"/>
                </a:cubicBezTo>
                <a:cubicBezTo>
                  <a:pt x="6384363" y="1373109"/>
                  <a:pt x="6372802" y="1397612"/>
                  <a:pt x="6364157" y="1427803"/>
                </a:cubicBezTo>
                <a:cubicBezTo>
                  <a:pt x="6348141" y="1460349"/>
                  <a:pt x="6348362" y="1505076"/>
                  <a:pt x="6335874" y="1540278"/>
                </a:cubicBezTo>
                <a:lnTo>
                  <a:pt x="6331892" y="1547262"/>
                </a:lnTo>
                <a:lnTo>
                  <a:pt x="6332744" y="1577056"/>
                </a:lnTo>
                <a:cubicBezTo>
                  <a:pt x="6335859" y="1582205"/>
                  <a:pt x="6336674" y="1589568"/>
                  <a:pt x="6333604" y="1595898"/>
                </a:cubicBezTo>
                <a:lnTo>
                  <a:pt x="6324749" y="1703726"/>
                </a:lnTo>
                <a:cubicBezTo>
                  <a:pt x="6324080" y="1739332"/>
                  <a:pt x="6318019" y="1754453"/>
                  <a:pt x="6329594" y="1809535"/>
                </a:cubicBezTo>
                <a:cubicBezTo>
                  <a:pt x="6344930" y="1868036"/>
                  <a:pt x="6323725" y="1952670"/>
                  <a:pt x="6329062" y="2018310"/>
                </a:cubicBezTo>
                <a:cubicBezTo>
                  <a:pt x="6308075" y="2053162"/>
                  <a:pt x="6326925" y="2034561"/>
                  <a:pt x="6321735" y="2071355"/>
                </a:cubicBezTo>
                <a:lnTo>
                  <a:pt x="6322678" y="2141166"/>
                </a:lnTo>
                <a:lnTo>
                  <a:pt x="6321340" y="2154548"/>
                </a:lnTo>
                <a:lnTo>
                  <a:pt x="6316582" y="2158153"/>
                </a:lnTo>
                <a:lnTo>
                  <a:pt x="6311428" y="2178174"/>
                </a:lnTo>
                <a:cubicBezTo>
                  <a:pt x="6310177" y="2185696"/>
                  <a:pt x="6309622" y="2193828"/>
                  <a:pt x="6310192" y="2202858"/>
                </a:cubicBezTo>
                <a:cubicBezTo>
                  <a:pt x="6319667" y="2232772"/>
                  <a:pt x="6296459" y="2283357"/>
                  <a:pt x="6309211" y="2320214"/>
                </a:cubicBezTo>
                <a:cubicBezTo>
                  <a:pt x="6307537" y="2355906"/>
                  <a:pt x="6302490" y="2394678"/>
                  <a:pt x="6300151" y="2417011"/>
                </a:cubicBezTo>
                <a:cubicBezTo>
                  <a:pt x="6292303" y="2426377"/>
                  <a:pt x="6304439" y="2456509"/>
                  <a:pt x="6295176" y="2454207"/>
                </a:cubicBezTo>
                <a:cubicBezTo>
                  <a:pt x="6299335" y="2464947"/>
                  <a:pt x="6297305" y="2476105"/>
                  <a:pt x="6293727" y="2487203"/>
                </a:cubicBezTo>
                <a:lnTo>
                  <a:pt x="6285477" y="2512282"/>
                </a:lnTo>
                <a:cubicBezTo>
                  <a:pt x="6285720" y="2512961"/>
                  <a:pt x="6285962" y="2513640"/>
                  <a:pt x="6286205" y="2514318"/>
                </a:cubicBezTo>
                <a:cubicBezTo>
                  <a:pt x="6292347" y="2534324"/>
                  <a:pt x="6298487" y="2554328"/>
                  <a:pt x="6304629" y="2574334"/>
                </a:cubicBezTo>
                <a:lnTo>
                  <a:pt x="6303842" y="2579877"/>
                </a:lnTo>
                <a:cubicBezTo>
                  <a:pt x="6303729" y="2585644"/>
                  <a:pt x="6304006" y="2603388"/>
                  <a:pt x="6303953" y="2608928"/>
                </a:cubicBezTo>
                <a:lnTo>
                  <a:pt x="6303530" y="2613111"/>
                </a:lnTo>
                <a:lnTo>
                  <a:pt x="6297474" y="2621996"/>
                </a:lnTo>
                <a:lnTo>
                  <a:pt x="6299263" y="2634265"/>
                </a:lnTo>
                <a:lnTo>
                  <a:pt x="6293065" y="2647237"/>
                </a:lnTo>
                <a:cubicBezTo>
                  <a:pt x="6294685" y="2648158"/>
                  <a:pt x="6296180" y="2649356"/>
                  <a:pt x="6297496" y="2650786"/>
                </a:cubicBezTo>
                <a:lnTo>
                  <a:pt x="6301708" y="2661993"/>
                </a:lnTo>
                <a:lnTo>
                  <a:pt x="6295884" y="2670949"/>
                </a:lnTo>
                <a:cubicBezTo>
                  <a:pt x="6304913" y="2672007"/>
                  <a:pt x="6294429" y="2681695"/>
                  <a:pt x="6291714" y="2690255"/>
                </a:cubicBezTo>
                <a:lnTo>
                  <a:pt x="6292327" y="2695683"/>
                </a:lnTo>
                <a:lnTo>
                  <a:pt x="6284410" y="2713964"/>
                </a:lnTo>
                <a:lnTo>
                  <a:pt x="6280410" y="2730175"/>
                </a:lnTo>
                <a:lnTo>
                  <a:pt x="6288082" y="2763497"/>
                </a:lnTo>
                <a:lnTo>
                  <a:pt x="6260924" y="3051539"/>
                </a:lnTo>
                <a:cubicBezTo>
                  <a:pt x="6251455" y="3165645"/>
                  <a:pt x="6222174" y="3216611"/>
                  <a:pt x="6210151" y="3335396"/>
                </a:cubicBezTo>
                <a:lnTo>
                  <a:pt x="6212034" y="3456509"/>
                </a:lnTo>
                <a:lnTo>
                  <a:pt x="6197490" y="3531827"/>
                </a:lnTo>
                <a:lnTo>
                  <a:pt x="6208018" y="3570877"/>
                </a:lnTo>
                <a:lnTo>
                  <a:pt x="6205920" y="3583849"/>
                </a:lnTo>
                <a:lnTo>
                  <a:pt x="6199616" y="3592763"/>
                </a:lnTo>
                <a:cubicBezTo>
                  <a:pt x="6191839" y="3613948"/>
                  <a:pt x="6196204" y="3641245"/>
                  <a:pt x="6181288" y="3653485"/>
                </a:cubicBezTo>
                <a:cubicBezTo>
                  <a:pt x="6178087" y="3659316"/>
                  <a:pt x="6176516" y="3664985"/>
                  <a:pt x="6175963" y="3670528"/>
                </a:cubicBezTo>
                <a:lnTo>
                  <a:pt x="6176722" y="3685990"/>
                </a:lnTo>
                <a:lnTo>
                  <a:pt x="6181549" y="3690283"/>
                </a:lnTo>
                <a:lnTo>
                  <a:pt x="6179476" y="3699787"/>
                </a:lnTo>
                <a:cubicBezTo>
                  <a:pt x="6179664" y="3700686"/>
                  <a:pt x="6179852" y="3701586"/>
                  <a:pt x="6180040" y="3702486"/>
                </a:cubicBezTo>
                <a:cubicBezTo>
                  <a:pt x="6181140" y="3707637"/>
                  <a:pt x="6182047" y="3712728"/>
                  <a:pt x="6182155" y="3717784"/>
                </a:cubicBezTo>
                <a:cubicBezTo>
                  <a:pt x="6156678" y="3711701"/>
                  <a:pt x="6178864" y="3759789"/>
                  <a:pt x="6158980" y="3746229"/>
                </a:cubicBezTo>
                <a:cubicBezTo>
                  <a:pt x="6144630" y="3780750"/>
                  <a:pt x="6117520" y="3867558"/>
                  <a:pt x="6096049" y="3924910"/>
                </a:cubicBezTo>
                <a:lnTo>
                  <a:pt x="6069712" y="3989353"/>
                </a:lnTo>
                <a:lnTo>
                  <a:pt x="6067330" y="4033899"/>
                </a:lnTo>
                <a:cubicBezTo>
                  <a:pt x="6065506" y="4070470"/>
                  <a:pt x="6063599" y="4110146"/>
                  <a:pt x="6061081" y="4142250"/>
                </a:cubicBezTo>
                <a:cubicBezTo>
                  <a:pt x="6055260" y="4200007"/>
                  <a:pt x="6045907" y="4278998"/>
                  <a:pt x="6042858" y="4329442"/>
                </a:cubicBezTo>
                <a:cubicBezTo>
                  <a:pt x="6038376" y="4381764"/>
                  <a:pt x="6036461" y="4433012"/>
                  <a:pt x="6034182" y="4456184"/>
                </a:cubicBezTo>
                <a:lnTo>
                  <a:pt x="6029178" y="4468478"/>
                </a:lnTo>
                <a:lnTo>
                  <a:pt x="6029974" y="4469862"/>
                </a:lnTo>
                <a:cubicBezTo>
                  <a:pt x="6031287" y="4476321"/>
                  <a:pt x="6030316" y="4480555"/>
                  <a:pt x="6028340" y="4483797"/>
                </a:cubicBezTo>
                <a:lnTo>
                  <a:pt x="6025168" y="4487091"/>
                </a:lnTo>
                <a:lnTo>
                  <a:pt x="6023164" y="4496728"/>
                </a:lnTo>
                <a:lnTo>
                  <a:pt x="6016839" y="4515918"/>
                </a:lnTo>
                <a:cubicBezTo>
                  <a:pt x="6017189" y="4517049"/>
                  <a:pt x="6017537" y="4518182"/>
                  <a:pt x="6017886" y="4519316"/>
                </a:cubicBezTo>
                <a:lnTo>
                  <a:pt x="6011819" y="4547957"/>
                </a:lnTo>
                <a:lnTo>
                  <a:pt x="6012791" y="4548262"/>
                </a:lnTo>
                <a:cubicBezTo>
                  <a:pt x="6014837" y="4549595"/>
                  <a:pt x="6016087" y="4551811"/>
                  <a:pt x="6015703" y="4555939"/>
                </a:cubicBezTo>
                <a:cubicBezTo>
                  <a:pt x="6031790" y="4548276"/>
                  <a:pt x="6021405" y="4557977"/>
                  <a:pt x="6018854" y="4570815"/>
                </a:cubicBezTo>
                <a:cubicBezTo>
                  <a:pt x="6021736" y="4583801"/>
                  <a:pt x="6030754" y="4622347"/>
                  <a:pt x="6033000" y="4633846"/>
                </a:cubicBezTo>
                <a:lnTo>
                  <a:pt x="6032325" y="4639816"/>
                </a:lnTo>
                <a:lnTo>
                  <a:pt x="6032549" y="4639923"/>
                </a:lnTo>
                <a:cubicBezTo>
                  <a:pt x="6032911" y="4641190"/>
                  <a:pt x="6032878" y="4643141"/>
                  <a:pt x="6032309" y="4646192"/>
                </a:cubicBezTo>
                <a:lnTo>
                  <a:pt x="6031095" y="4650706"/>
                </a:lnTo>
                <a:lnTo>
                  <a:pt x="6029786" y="4662290"/>
                </a:lnTo>
                <a:cubicBezTo>
                  <a:pt x="6030161" y="4663587"/>
                  <a:pt x="6030536" y="4664883"/>
                  <a:pt x="6030911" y="4666180"/>
                </a:cubicBezTo>
                <a:lnTo>
                  <a:pt x="6033630" y="4667585"/>
                </a:lnTo>
                <a:lnTo>
                  <a:pt x="6033189" y="4668660"/>
                </a:lnTo>
                <a:cubicBezTo>
                  <a:pt x="6027286" y="4676831"/>
                  <a:pt x="6019767" y="4679345"/>
                  <a:pt x="6038764" y="4689807"/>
                </a:cubicBezTo>
                <a:cubicBezTo>
                  <a:pt x="6028616" y="4708535"/>
                  <a:pt x="6040474" y="4712235"/>
                  <a:pt x="6042217" y="4737890"/>
                </a:cubicBezTo>
                <a:cubicBezTo>
                  <a:pt x="6033362" y="4748600"/>
                  <a:pt x="6035273" y="4757223"/>
                  <a:pt x="6040543" y="4765657"/>
                </a:cubicBezTo>
                <a:cubicBezTo>
                  <a:pt x="6034416" y="4790618"/>
                  <a:pt x="6040696" y="4813399"/>
                  <a:pt x="6039956" y="4841463"/>
                </a:cubicBezTo>
                <a:lnTo>
                  <a:pt x="6057123" y="4969863"/>
                </a:lnTo>
                <a:lnTo>
                  <a:pt x="6055039" y="4974028"/>
                </a:lnTo>
                <a:cubicBezTo>
                  <a:pt x="6053860" y="4976933"/>
                  <a:pt x="6053409" y="4978909"/>
                  <a:pt x="6053462" y="4980318"/>
                </a:cubicBezTo>
                <a:lnTo>
                  <a:pt x="6053643" y="4980501"/>
                </a:lnTo>
                <a:lnTo>
                  <a:pt x="6051733" y="4986338"/>
                </a:lnTo>
                <a:lnTo>
                  <a:pt x="6049602" y="4991296"/>
                </a:lnTo>
                <a:cubicBezTo>
                  <a:pt x="6058123" y="5019829"/>
                  <a:pt x="6066643" y="5048361"/>
                  <a:pt x="6075165" y="5076895"/>
                </a:cubicBezTo>
                <a:lnTo>
                  <a:pt x="6073751" y="5081568"/>
                </a:lnTo>
                <a:cubicBezTo>
                  <a:pt x="6073034" y="5084748"/>
                  <a:pt x="6072888" y="5086810"/>
                  <a:pt x="6073150" y="5088173"/>
                </a:cubicBezTo>
                <a:lnTo>
                  <a:pt x="6073355" y="5088300"/>
                </a:lnTo>
                <a:lnTo>
                  <a:pt x="6072362" y="5094558"/>
                </a:lnTo>
                <a:cubicBezTo>
                  <a:pt x="6070184" y="5105196"/>
                  <a:pt x="6067588" y="5115626"/>
                  <a:pt x="6064726" y="5125620"/>
                </a:cubicBezTo>
                <a:cubicBezTo>
                  <a:pt x="6063568" y="5154527"/>
                  <a:pt x="6065189" y="5244020"/>
                  <a:pt x="6065415" y="5268004"/>
                </a:cubicBezTo>
                <a:cubicBezTo>
                  <a:pt x="6065637" y="5268513"/>
                  <a:pt x="6065860" y="5269021"/>
                  <a:pt x="6066081" y="5269530"/>
                </a:cubicBezTo>
                <a:lnTo>
                  <a:pt x="6043407" y="5390941"/>
                </a:lnTo>
                <a:cubicBezTo>
                  <a:pt x="6032545" y="5438194"/>
                  <a:pt x="6020942" y="5465286"/>
                  <a:pt x="6025377" y="5539927"/>
                </a:cubicBezTo>
                <a:cubicBezTo>
                  <a:pt x="6019787" y="5610775"/>
                  <a:pt x="6013913" y="5740573"/>
                  <a:pt x="6010052" y="5791594"/>
                </a:cubicBezTo>
                <a:cubicBezTo>
                  <a:pt x="5989401" y="5787060"/>
                  <a:pt x="6018524" y="5849672"/>
                  <a:pt x="5994220" y="5855206"/>
                </a:cubicBezTo>
                <a:cubicBezTo>
                  <a:pt x="5995282" y="5860240"/>
                  <a:pt x="5980598" y="5868910"/>
                  <a:pt x="5982580" y="5873582"/>
                </a:cubicBezTo>
                <a:cubicBezTo>
                  <a:pt x="5982922" y="5874401"/>
                  <a:pt x="5983265" y="5875218"/>
                  <a:pt x="5983608" y="5876037"/>
                </a:cubicBezTo>
                <a:lnTo>
                  <a:pt x="5983535" y="5886534"/>
                </a:lnTo>
                <a:lnTo>
                  <a:pt x="5988737" y="5888644"/>
                </a:lnTo>
                <a:cubicBezTo>
                  <a:pt x="5989948" y="5893707"/>
                  <a:pt x="5991159" y="5898769"/>
                  <a:pt x="5992371" y="5903832"/>
                </a:cubicBezTo>
                <a:cubicBezTo>
                  <a:pt x="5992924" y="5909651"/>
                  <a:pt x="5992578" y="5916068"/>
                  <a:pt x="5990780" y="5923391"/>
                </a:cubicBezTo>
                <a:cubicBezTo>
                  <a:pt x="5975822" y="5948880"/>
                  <a:pt x="6013580" y="5981626"/>
                  <a:pt x="5993870" y="6013205"/>
                </a:cubicBezTo>
                <a:cubicBezTo>
                  <a:pt x="5988486" y="6024901"/>
                  <a:pt x="5991718" y="6066777"/>
                  <a:pt x="5997673" y="6074018"/>
                </a:cubicBezTo>
                <a:cubicBezTo>
                  <a:pt x="5998007" y="6081731"/>
                  <a:pt x="6007861" y="6126985"/>
                  <a:pt x="6014840" y="6130837"/>
                </a:cubicBezTo>
                <a:cubicBezTo>
                  <a:pt x="6022998" y="6137057"/>
                  <a:pt x="5999420" y="6156330"/>
                  <a:pt x="6010704" y="6152982"/>
                </a:cubicBezTo>
                <a:cubicBezTo>
                  <a:pt x="6008682" y="6186619"/>
                  <a:pt x="6039938" y="6191636"/>
                  <a:pt x="6038294" y="6221100"/>
                </a:cubicBezTo>
                <a:cubicBezTo>
                  <a:pt x="6039643" y="6222126"/>
                  <a:pt x="6046356" y="6257468"/>
                  <a:pt x="6052331" y="6287550"/>
                </a:cubicBezTo>
                <a:cubicBezTo>
                  <a:pt x="6058307" y="6317632"/>
                  <a:pt x="6082079" y="6391312"/>
                  <a:pt x="6074143" y="6401595"/>
                </a:cubicBezTo>
                <a:cubicBezTo>
                  <a:pt x="6074931" y="6423902"/>
                  <a:pt x="6059614" y="6432919"/>
                  <a:pt x="6060199" y="6487110"/>
                </a:cubicBezTo>
                <a:cubicBezTo>
                  <a:pt x="6075583" y="6574474"/>
                  <a:pt x="6076150" y="6553611"/>
                  <a:pt x="6081156" y="6588589"/>
                </a:cubicBezTo>
                <a:cubicBezTo>
                  <a:pt x="6102088" y="6637976"/>
                  <a:pt x="6067660" y="6687723"/>
                  <a:pt x="6114944" y="6769963"/>
                </a:cubicBezTo>
                <a:cubicBezTo>
                  <a:pt x="6130462" y="6819284"/>
                  <a:pt x="6119243" y="6817955"/>
                  <a:pt x="6128950" y="6835814"/>
                </a:cubicBezTo>
                <a:lnTo>
                  <a:pt x="6132536" y="6858000"/>
                </a:lnTo>
                <a:lnTo>
                  <a:pt x="4789511" y="6858000"/>
                </a:lnTo>
                <a:lnTo>
                  <a:pt x="1866294" y="6858000"/>
                </a:lnTo>
                <a:lnTo>
                  <a:pt x="1705866" y="6858000"/>
                </a:lnTo>
                <a:lnTo>
                  <a:pt x="1343025" y="6858000"/>
                </a:lnTo>
                <a:lnTo>
                  <a:pt x="523269" y="6858000"/>
                </a:lnTo>
                <a:lnTo>
                  <a:pt x="362841" y="6858000"/>
                </a:lnTo>
                <a:lnTo>
                  <a:pt x="0" y="6858000"/>
                </a:lnTo>
                <a:close/>
              </a:path>
            </a:pathLst>
          </a:custGeom>
          <a:solidFill>
            <a:srgbClr val="82766A">
              <a:alpha val="1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4" name="Title 3">
            <a:extLst>
              <a:ext uri="{FF2B5EF4-FFF2-40B4-BE49-F238E27FC236}">
                <a16:creationId xmlns:a16="http://schemas.microsoft.com/office/drawing/2014/main" id="{209015BD-4E08-C7F2-3421-63906EB721E5}"/>
              </a:ext>
            </a:extLst>
          </p:cNvPr>
          <p:cNvSpPr>
            <a:spLocks noGrp="1"/>
          </p:cNvSpPr>
          <p:nvPr>
            <p:ph type="title"/>
          </p:nvPr>
        </p:nvSpPr>
        <p:spPr>
          <a:xfrm>
            <a:off x="1137034" y="609600"/>
            <a:ext cx="4784796" cy="1330840"/>
          </a:xfrm>
        </p:spPr>
        <p:txBody>
          <a:bodyPr vert="horz" lIns="91440" tIns="45720" rIns="91440" bIns="45720" rtlCol="0" anchor="ctr">
            <a:normAutofit/>
          </a:bodyPr>
          <a:lstStyle/>
          <a:p>
            <a:r>
              <a:rPr lang="en-US" sz="4400" b="1" kern="1200">
                <a:solidFill>
                  <a:schemeClr val="tx1"/>
                </a:solidFill>
                <a:latin typeface="+mj-lt"/>
                <a:ea typeface="+mj-ea"/>
                <a:cs typeface="+mj-cs"/>
              </a:rPr>
              <a:t>Pesticides data</a:t>
            </a:r>
          </a:p>
        </p:txBody>
      </p:sp>
      <p:pic>
        <p:nvPicPr>
          <p:cNvPr id="8" name="Picture Placeholder 7">
            <a:extLst>
              <a:ext uri="{FF2B5EF4-FFF2-40B4-BE49-F238E27FC236}">
                <a16:creationId xmlns:a16="http://schemas.microsoft.com/office/drawing/2014/main" id="{53AA010B-D2FA-8300-E720-C6011D45E00C}"/>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15504" r="15504"/>
          <a:stretch>
            <a:fillRect/>
          </a:stretch>
        </p:blipFill>
        <p:spPr>
          <a:xfrm>
            <a:off x="143785" y="1537318"/>
            <a:ext cx="5871828" cy="4638429"/>
          </a:xfrm>
          <a:prstGeom prst="rect">
            <a:avLst/>
          </a:prstGeom>
        </p:spPr>
      </p:pic>
      <p:pic>
        <p:nvPicPr>
          <p:cNvPr id="10" name="Picture 9">
            <a:extLst>
              <a:ext uri="{FF2B5EF4-FFF2-40B4-BE49-F238E27FC236}">
                <a16:creationId xmlns:a16="http://schemas.microsoft.com/office/drawing/2014/main" id="{D81D59E4-9F77-1DD7-3FB5-B45DD647C908}"/>
              </a:ext>
            </a:extLst>
          </p:cNvPr>
          <p:cNvPicPr>
            <a:picLocks noChangeAspect="1"/>
          </p:cNvPicPr>
          <p:nvPr/>
        </p:nvPicPr>
        <p:blipFill>
          <a:blip r:embed="rId3">
            <a:extLst>
              <a:ext uri="{28A0092B-C50C-407E-A947-70E740481C1C}">
                <a14:useLocalDpi xmlns:a14="http://schemas.microsoft.com/office/drawing/2010/main" val="0"/>
              </a:ext>
            </a:extLst>
          </a:blip>
          <a:srcRect l="-1" r="63689"/>
          <a:stretch>
            <a:fillRect/>
          </a:stretch>
        </p:blipFill>
        <p:spPr>
          <a:xfrm>
            <a:off x="7395709" y="1537318"/>
            <a:ext cx="4235851" cy="4430019"/>
          </a:xfrm>
          <a:prstGeom prst="rect">
            <a:avLst/>
          </a:prstGeom>
        </p:spPr>
      </p:pic>
      <p:sp>
        <p:nvSpPr>
          <p:cNvPr id="11" name="Arrow: Right 10">
            <a:extLst>
              <a:ext uri="{FF2B5EF4-FFF2-40B4-BE49-F238E27FC236}">
                <a16:creationId xmlns:a16="http://schemas.microsoft.com/office/drawing/2014/main" id="{FC087C09-DF33-24BA-CDAE-B131AD81CF62}"/>
              </a:ext>
            </a:extLst>
          </p:cNvPr>
          <p:cNvSpPr/>
          <p:nvPr/>
        </p:nvSpPr>
        <p:spPr>
          <a:xfrm>
            <a:off x="6096000" y="3429000"/>
            <a:ext cx="1187623" cy="680776"/>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931013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65F032-8D7B-2846-3B49-392EFE73191B}"/>
            </a:ext>
          </a:extLst>
        </p:cNvPr>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0E80065A-1257-B56F-2BF2-A41E55B92117}"/>
              </a:ext>
            </a:extLst>
          </p:cNvPr>
          <p:cNvSpPr>
            <a:spLocks noGrp="1"/>
          </p:cNvSpPr>
          <p:nvPr>
            <p:ph type="title"/>
          </p:nvPr>
        </p:nvSpPr>
        <p:spPr>
          <a:xfrm>
            <a:off x="838200" y="365126"/>
            <a:ext cx="10515600" cy="781286"/>
          </a:xfrm>
        </p:spPr>
        <p:txBody>
          <a:bodyPr vert="horz" lIns="91440" tIns="45720" rIns="91440" bIns="45720" rtlCol="0" anchor="ctr">
            <a:normAutofit fontScale="90000"/>
          </a:bodyPr>
          <a:lstStyle/>
          <a:p>
            <a:r>
              <a:rPr lang="en-US" sz="5200" b="1" kern="1200" dirty="0">
                <a:solidFill>
                  <a:schemeClr val="tx1"/>
                </a:solidFill>
                <a:latin typeface="+mj-lt"/>
                <a:ea typeface="+mj-ea"/>
                <a:cs typeface="+mj-cs"/>
              </a:rPr>
              <a:t>Rainfall data</a:t>
            </a:r>
          </a:p>
        </p:txBody>
      </p:sp>
      <p:pic>
        <p:nvPicPr>
          <p:cNvPr id="3" name="Picture 2">
            <a:extLst>
              <a:ext uri="{FF2B5EF4-FFF2-40B4-BE49-F238E27FC236}">
                <a16:creationId xmlns:a16="http://schemas.microsoft.com/office/drawing/2014/main" id="{870C05E4-3A08-EBEF-5927-42E8A904DF6B}"/>
              </a:ext>
            </a:extLst>
          </p:cNvPr>
          <p:cNvPicPr>
            <a:picLocks noChangeAspect="1"/>
          </p:cNvPicPr>
          <p:nvPr/>
        </p:nvPicPr>
        <p:blipFill>
          <a:blip r:embed="rId2">
            <a:extLst>
              <a:ext uri="{28A0092B-C50C-407E-A947-70E740481C1C}">
                <a14:useLocalDpi xmlns:a14="http://schemas.microsoft.com/office/drawing/2010/main" val="0"/>
              </a:ext>
            </a:extLst>
          </a:blip>
          <a:srcRect r="36896"/>
          <a:stretch>
            <a:fillRect/>
          </a:stretch>
        </p:blipFill>
        <p:spPr>
          <a:xfrm>
            <a:off x="684922" y="1146411"/>
            <a:ext cx="4441785" cy="5043373"/>
          </a:xfrm>
          <a:prstGeom prst="rect">
            <a:avLst/>
          </a:prstGeom>
        </p:spPr>
      </p:pic>
      <p:pic>
        <p:nvPicPr>
          <p:cNvPr id="7" name="Picture 6">
            <a:extLst>
              <a:ext uri="{FF2B5EF4-FFF2-40B4-BE49-F238E27FC236}">
                <a16:creationId xmlns:a16="http://schemas.microsoft.com/office/drawing/2014/main" id="{6D504421-CCF2-FDA3-272F-44E3F5F31961}"/>
              </a:ext>
            </a:extLst>
          </p:cNvPr>
          <p:cNvPicPr>
            <a:picLocks noChangeAspect="1"/>
          </p:cNvPicPr>
          <p:nvPr/>
        </p:nvPicPr>
        <p:blipFill>
          <a:blip r:embed="rId3">
            <a:extLst>
              <a:ext uri="{28A0092B-C50C-407E-A947-70E740481C1C}">
                <a14:useLocalDpi xmlns:a14="http://schemas.microsoft.com/office/drawing/2010/main" val="0"/>
              </a:ext>
            </a:extLst>
          </a:blip>
          <a:srcRect r="44819"/>
          <a:stretch>
            <a:fillRect/>
          </a:stretch>
        </p:blipFill>
        <p:spPr>
          <a:xfrm>
            <a:off x="6321868" y="1146411"/>
            <a:ext cx="5695960" cy="4877313"/>
          </a:xfrm>
          <a:prstGeom prst="rect">
            <a:avLst/>
          </a:prstGeom>
        </p:spPr>
      </p:pic>
      <p:sp>
        <p:nvSpPr>
          <p:cNvPr id="8" name="Arrow: Right 7">
            <a:extLst>
              <a:ext uri="{FF2B5EF4-FFF2-40B4-BE49-F238E27FC236}">
                <a16:creationId xmlns:a16="http://schemas.microsoft.com/office/drawing/2014/main" id="{D8C08ABC-CF6E-AF2E-5560-2799DA82D5DD}"/>
              </a:ext>
            </a:extLst>
          </p:cNvPr>
          <p:cNvSpPr/>
          <p:nvPr/>
        </p:nvSpPr>
        <p:spPr>
          <a:xfrm>
            <a:off x="5011341" y="2705968"/>
            <a:ext cx="1425893" cy="129623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2800898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A29F486-F038-E896-EE01-A1BFCD875C30}"/>
              </a:ext>
            </a:extLst>
          </p:cNvPr>
          <p:cNvSpPr>
            <a:spLocks noGrp="1"/>
          </p:cNvSpPr>
          <p:nvPr>
            <p:ph type="title"/>
          </p:nvPr>
        </p:nvSpPr>
        <p:spPr/>
        <p:txBody>
          <a:bodyPr/>
          <a:lstStyle/>
          <a:p>
            <a:r>
              <a:rPr lang="en-US" b="1" dirty="0"/>
              <a:t>Temp data</a:t>
            </a:r>
          </a:p>
        </p:txBody>
      </p:sp>
      <p:pic>
        <p:nvPicPr>
          <p:cNvPr id="12" name="Content Placeholder 11">
            <a:extLst>
              <a:ext uri="{FF2B5EF4-FFF2-40B4-BE49-F238E27FC236}">
                <a16:creationId xmlns:a16="http://schemas.microsoft.com/office/drawing/2014/main" id="{43031600-F79D-1391-F150-AC1A77C32FA0}"/>
              </a:ext>
            </a:extLst>
          </p:cNvPr>
          <p:cNvPicPr>
            <a:picLocks noGrp="1" noChangeAspect="1"/>
          </p:cNvPicPr>
          <p:nvPr>
            <p:ph idx="1"/>
          </p:nvPr>
        </p:nvPicPr>
        <p:blipFill>
          <a:blip r:embed="rId2">
            <a:extLst>
              <a:ext uri="{28A0092B-C50C-407E-A947-70E740481C1C}">
                <a14:useLocalDpi xmlns:a14="http://schemas.microsoft.com/office/drawing/2010/main" val="0"/>
              </a:ext>
            </a:extLst>
          </a:blip>
          <a:srcRect r="33484"/>
          <a:stretch>
            <a:fillRect/>
          </a:stretch>
        </p:blipFill>
        <p:spPr>
          <a:xfrm>
            <a:off x="838200" y="1318899"/>
            <a:ext cx="4469804" cy="5001514"/>
          </a:xfrm>
          <a:prstGeom prst="rect">
            <a:avLst/>
          </a:prstGeom>
        </p:spPr>
      </p:pic>
      <p:sp>
        <p:nvSpPr>
          <p:cNvPr id="13" name="Arrow: Right 12">
            <a:extLst>
              <a:ext uri="{FF2B5EF4-FFF2-40B4-BE49-F238E27FC236}">
                <a16:creationId xmlns:a16="http://schemas.microsoft.com/office/drawing/2014/main" id="{9F04647B-0F46-4601-B00D-27F11E5C4EF0}"/>
              </a:ext>
            </a:extLst>
          </p:cNvPr>
          <p:cNvSpPr/>
          <p:nvPr/>
        </p:nvSpPr>
        <p:spPr>
          <a:xfrm>
            <a:off x="5385917" y="3295859"/>
            <a:ext cx="1329516" cy="98473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1DDEFAC0-D80D-996E-F195-EB78C8E9D340}"/>
              </a:ext>
            </a:extLst>
          </p:cNvPr>
          <p:cNvPicPr>
            <a:picLocks noChangeAspect="1"/>
          </p:cNvPicPr>
          <p:nvPr/>
        </p:nvPicPr>
        <p:blipFill>
          <a:blip r:embed="rId3">
            <a:extLst>
              <a:ext uri="{28A0092B-C50C-407E-A947-70E740481C1C}">
                <a14:useLocalDpi xmlns:a14="http://schemas.microsoft.com/office/drawing/2010/main" val="0"/>
              </a:ext>
            </a:extLst>
          </a:blip>
          <a:srcRect r="55824"/>
          <a:stretch>
            <a:fillRect/>
          </a:stretch>
        </p:blipFill>
        <p:spPr>
          <a:xfrm>
            <a:off x="6793346" y="1027906"/>
            <a:ext cx="5053304" cy="5614349"/>
          </a:xfrm>
          <a:prstGeom prst="rect">
            <a:avLst/>
          </a:prstGeom>
        </p:spPr>
      </p:pic>
    </p:spTree>
    <p:extLst>
      <p:ext uri="{BB962C8B-B14F-4D97-AF65-F5344CB8AC3E}">
        <p14:creationId xmlns:p14="http://schemas.microsoft.com/office/powerpoint/2010/main" val="15188555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03 — PREPROCESSING</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Missing Values: Detection &amp; Handling</a:t>
            </a:r>
            <a:endParaRPr lang="en-US" sz="3000" dirty="0"/>
          </a:p>
        </p:txBody>
      </p:sp>
      <p:sp>
        <p:nvSpPr>
          <p:cNvPr id="4" name="Shape 2"/>
          <p:cNvSpPr/>
          <p:nvPr/>
        </p:nvSpPr>
        <p:spPr>
          <a:xfrm>
            <a:off x="548640" y="1691640"/>
            <a:ext cx="5349240" cy="4206240"/>
          </a:xfrm>
          <a:prstGeom prst="roundRect">
            <a:avLst>
              <a:gd name="adj" fmla="val 1739"/>
            </a:avLst>
          </a:prstGeom>
          <a:solidFill>
            <a:srgbClr val="F4F7F2"/>
          </a:solidFill>
          <a:ln/>
        </p:spPr>
        <p:txBody>
          <a:bodyPr/>
          <a:lstStyle/>
          <a:p>
            <a:endParaRPr lang="en-US" dirty="0"/>
          </a:p>
        </p:txBody>
      </p:sp>
      <p:sp>
        <p:nvSpPr>
          <p:cNvPr id="5" name="Text 3"/>
          <p:cNvSpPr/>
          <p:nvPr/>
        </p:nvSpPr>
        <p:spPr>
          <a:xfrm>
            <a:off x="822960" y="1920240"/>
            <a:ext cx="4800600" cy="320040"/>
          </a:xfrm>
          <a:prstGeom prst="rect">
            <a:avLst/>
          </a:prstGeom>
          <a:noFill/>
          <a:ln/>
        </p:spPr>
        <p:txBody>
          <a:bodyPr wrap="square" rtlCol="0" anchor="ctr"/>
          <a:lstStyle/>
          <a:p>
            <a:pPr marL="0" indent="0">
              <a:buNone/>
            </a:pPr>
            <a:r>
              <a:rPr lang="en-US" sz="1200" b="1" kern="0" spc="200" dirty="0">
                <a:solidFill>
                  <a:srgbClr val="9B5A3A"/>
                </a:solidFill>
                <a:latin typeface="Calibri" pitchFamily="34" charset="0"/>
                <a:ea typeface="Calibri" pitchFamily="34" charset="-122"/>
                <a:cs typeface="Calibri" pitchFamily="34" charset="-120"/>
              </a:rPr>
              <a:t>BEFORE</a:t>
            </a:r>
            <a:endParaRPr lang="en-US" sz="1200" dirty="0"/>
          </a:p>
        </p:txBody>
      </p:sp>
      <p:sp>
        <p:nvSpPr>
          <p:cNvPr id="6" name="Text 4"/>
          <p:cNvSpPr/>
          <p:nvPr/>
        </p:nvSpPr>
        <p:spPr>
          <a:xfrm>
            <a:off x="822960" y="2286000"/>
            <a:ext cx="48006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data quality — before]</a:t>
            </a:r>
            <a:endParaRPr lang="en-US" sz="900" dirty="0"/>
          </a:p>
        </p:txBody>
      </p:sp>
      <p:sp>
        <p:nvSpPr>
          <p:cNvPr id="7" name="Text 5"/>
          <p:cNvSpPr/>
          <p:nvPr/>
        </p:nvSpPr>
        <p:spPr>
          <a:xfrm>
            <a:off x="822960" y="2743200"/>
            <a:ext cx="2926080" cy="384048"/>
          </a:xfrm>
          <a:prstGeom prst="rect">
            <a:avLst/>
          </a:prstGeom>
          <a:noFill/>
          <a:ln/>
        </p:spPr>
        <p:txBody>
          <a:bodyPr wrap="square" rtlCol="0" anchor="ctr"/>
          <a:lstStyle/>
          <a:p>
            <a:pPr marL="0" indent="0">
              <a:buNone/>
            </a:pPr>
            <a:r>
              <a:rPr lang="en-US" sz="1250" dirty="0">
                <a:solidFill>
                  <a:srgbClr val="223522"/>
                </a:solidFill>
                <a:latin typeface="Calibri" pitchFamily="34" charset="0"/>
                <a:ea typeface="Calibri" pitchFamily="34" charset="-122"/>
                <a:cs typeface="Calibri" pitchFamily="34" charset="-120"/>
              </a:rPr>
              <a:t>Rainfall</a:t>
            </a:r>
            <a:endParaRPr lang="en-US" sz="1250" dirty="0"/>
          </a:p>
        </p:txBody>
      </p:sp>
      <p:sp>
        <p:nvSpPr>
          <p:cNvPr id="8" name="Text 6"/>
          <p:cNvSpPr/>
          <p:nvPr/>
        </p:nvSpPr>
        <p:spPr>
          <a:xfrm>
            <a:off x="3657600" y="2743200"/>
            <a:ext cx="1920240" cy="384048"/>
          </a:xfrm>
          <a:prstGeom prst="rect">
            <a:avLst/>
          </a:prstGeom>
          <a:noFill/>
          <a:ln/>
        </p:spPr>
        <p:txBody>
          <a:bodyPr wrap="square" rtlCol="0" anchor="ctr"/>
          <a:lstStyle/>
          <a:p>
            <a:pPr marL="0" indent="0" algn="r">
              <a:buNone/>
            </a:pPr>
            <a:r>
              <a:rPr lang="en-US" sz="1250" b="1" dirty="0">
                <a:solidFill>
                  <a:srgbClr val="9B5A3A"/>
                </a:solidFill>
                <a:latin typeface="Calibri" pitchFamily="34" charset="0"/>
                <a:ea typeface="Calibri" pitchFamily="34" charset="-122"/>
                <a:cs typeface="Calibri" pitchFamily="34" charset="-120"/>
              </a:rPr>
              <a:t>4.2% missing</a:t>
            </a:r>
            <a:endParaRPr lang="en-US" sz="1250" dirty="0"/>
          </a:p>
        </p:txBody>
      </p:sp>
      <p:sp>
        <p:nvSpPr>
          <p:cNvPr id="9" name="Text 7"/>
          <p:cNvSpPr/>
          <p:nvPr/>
        </p:nvSpPr>
        <p:spPr>
          <a:xfrm>
            <a:off x="822960" y="3246120"/>
            <a:ext cx="2926080" cy="384048"/>
          </a:xfrm>
          <a:prstGeom prst="rect">
            <a:avLst/>
          </a:prstGeom>
          <a:noFill/>
          <a:ln/>
        </p:spPr>
        <p:txBody>
          <a:bodyPr wrap="square" rtlCol="0" anchor="ctr"/>
          <a:lstStyle/>
          <a:p>
            <a:pPr marL="0" indent="0">
              <a:buNone/>
            </a:pPr>
            <a:r>
              <a:rPr lang="en-US" sz="1250" dirty="0">
                <a:solidFill>
                  <a:srgbClr val="223522"/>
                </a:solidFill>
                <a:latin typeface="Calibri" pitchFamily="34" charset="0"/>
                <a:ea typeface="Calibri" pitchFamily="34" charset="-122"/>
                <a:cs typeface="Calibri" pitchFamily="34" charset="-120"/>
              </a:rPr>
              <a:t>Soil Quality</a:t>
            </a:r>
            <a:endParaRPr lang="en-US" sz="1250" dirty="0"/>
          </a:p>
        </p:txBody>
      </p:sp>
      <p:sp>
        <p:nvSpPr>
          <p:cNvPr id="10" name="Text 8"/>
          <p:cNvSpPr/>
          <p:nvPr/>
        </p:nvSpPr>
        <p:spPr>
          <a:xfrm>
            <a:off x="3657600" y="3246120"/>
            <a:ext cx="1920240" cy="384048"/>
          </a:xfrm>
          <a:prstGeom prst="rect">
            <a:avLst/>
          </a:prstGeom>
          <a:noFill/>
          <a:ln/>
        </p:spPr>
        <p:txBody>
          <a:bodyPr wrap="square" rtlCol="0" anchor="ctr"/>
          <a:lstStyle/>
          <a:p>
            <a:pPr marL="0" indent="0" algn="r">
              <a:buNone/>
            </a:pPr>
            <a:r>
              <a:rPr lang="en-US" sz="1250" b="1" dirty="0">
                <a:solidFill>
                  <a:srgbClr val="9B5A3A"/>
                </a:solidFill>
                <a:latin typeface="Calibri" pitchFamily="34" charset="0"/>
                <a:ea typeface="Calibri" pitchFamily="34" charset="-122"/>
                <a:cs typeface="Calibri" pitchFamily="34" charset="-120"/>
              </a:rPr>
              <a:t>7.8% missing</a:t>
            </a:r>
            <a:endParaRPr lang="en-US" sz="1250" dirty="0"/>
          </a:p>
        </p:txBody>
      </p:sp>
      <p:sp>
        <p:nvSpPr>
          <p:cNvPr id="11" name="Text 9"/>
          <p:cNvSpPr/>
          <p:nvPr/>
        </p:nvSpPr>
        <p:spPr>
          <a:xfrm>
            <a:off x="822960" y="3749040"/>
            <a:ext cx="2926080" cy="384048"/>
          </a:xfrm>
          <a:prstGeom prst="rect">
            <a:avLst/>
          </a:prstGeom>
          <a:noFill/>
          <a:ln/>
        </p:spPr>
        <p:txBody>
          <a:bodyPr wrap="square" rtlCol="0" anchor="ctr"/>
          <a:lstStyle/>
          <a:p>
            <a:pPr marL="0" indent="0">
              <a:buNone/>
            </a:pPr>
            <a:r>
              <a:rPr lang="en-US" sz="1250" dirty="0">
                <a:solidFill>
                  <a:srgbClr val="223522"/>
                </a:solidFill>
                <a:latin typeface="Calibri" pitchFamily="34" charset="0"/>
                <a:ea typeface="Calibri" pitchFamily="34" charset="-122"/>
                <a:cs typeface="Calibri" pitchFamily="34" charset="-120"/>
              </a:rPr>
              <a:t>Pesticide Usage</a:t>
            </a:r>
            <a:endParaRPr lang="en-US" sz="1250" dirty="0"/>
          </a:p>
        </p:txBody>
      </p:sp>
      <p:sp>
        <p:nvSpPr>
          <p:cNvPr id="12" name="Text 10"/>
          <p:cNvSpPr/>
          <p:nvPr/>
        </p:nvSpPr>
        <p:spPr>
          <a:xfrm>
            <a:off x="3657600" y="3749040"/>
            <a:ext cx="1920240" cy="384048"/>
          </a:xfrm>
          <a:prstGeom prst="rect">
            <a:avLst/>
          </a:prstGeom>
          <a:noFill/>
          <a:ln/>
        </p:spPr>
        <p:txBody>
          <a:bodyPr wrap="square" rtlCol="0" anchor="ctr"/>
          <a:lstStyle/>
          <a:p>
            <a:pPr marL="0" indent="0" algn="r">
              <a:buNone/>
            </a:pPr>
            <a:r>
              <a:rPr lang="en-US" sz="1250" b="1" dirty="0">
                <a:solidFill>
                  <a:srgbClr val="9B5A3A"/>
                </a:solidFill>
                <a:latin typeface="Calibri" pitchFamily="34" charset="0"/>
                <a:ea typeface="Calibri" pitchFamily="34" charset="-122"/>
                <a:cs typeface="Calibri" pitchFamily="34" charset="-120"/>
              </a:rPr>
              <a:t>2.1% missing</a:t>
            </a:r>
            <a:endParaRPr lang="en-US" sz="1250" dirty="0"/>
          </a:p>
        </p:txBody>
      </p:sp>
      <p:sp>
        <p:nvSpPr>
          <p:cNvPr id="13" name="Text 11"/>
          <p:cNvSpPr/>
          <p:nvPr/>
        </p:nvSpPr>
        <p:spPr>
          <a:xfrm>
            <a:off x="822960" y="4251960"/>
            <a:ext cx="2926080" cy="384048"/>
          </a:xfrm>
          <a:prstGeom prst="rect">
            <a:avLst/>
          </a:prstGeom>
          <a:noFill/>
          <a:ln/>
        </p:spPr>
        <p:txBody>
          <a:bodyPr wrap="square" rtlCol="0" anchor="ctr"/>
          <a:lstStyle/>
          <a:p>
            <a:pPr marL="0" indent="0">
              <a:buNone/>
            </a:pPr>
            <a:r>
              <a:rPr lang="en-US" sz="1250" dirty="0">
                <a:solidFill>
                  <a:srgbClr val="223522"/>
                </a:solidFill>
                <a:latin typeface="Calibri" pitchFamily="34" charset="0"/>
                <a:ea typeface="Calibri" pitchFamily="34" charset="-122"/>
                <a:cs typeface="Calibri" pitchFamily="34" charset="-120"/>
              </a:rPr>
              <a:t>Fertilizer Usage</a:t>
            </a:r>
            <a:endParaRPr lang="en-US" sz="1250" dirty="0"/>
          </a:p>
        </p:txBody>
      </p:sp>
      <p:sp>
        <p:nvSpPr>
          <p:cNvPr id="14" name="Text 12"/>
          <p:cNvSpPr/>
          <p:nvPr/>
        </p:nvSpPr>
        <p:spPr>
          <a:xfrm>
            <a:off x="3657600" y="4251960"/>
            <a:ext cx="1920240" cy="384048"/>
          </a:xfrm>
          <a:prstGeom prst="rect">
            <a:avLst/>
          </a:prstGeom>
          <a:noFill/>
          <a:ln/>
        </p:spPr>
        <p:txBody>
          <a:bodyPr wrap="square" rtlCol="0" anchor="ctr"/>
          <a:lstStyle/>
          <a:p>
            <a:pPr marL="0" indent="0" algn="r">
              <a:buNone/>
            </a:pPr>
            <a:r>
              <a:rPr lang="en-US" sz="1250" b="1" dirty="0">
                <a:solidFill>
                  <a:srgbClr val="9B5A3A"/>
                </a:solidFill>
                <a:latin typeface="Calibri" pitchFamily="34" charset="0"/>
                <a:ea typeface="Calibri" pitchFamily="34" charset="-122"/>
                <a:cs typeface="Calibri" pitchFamily="34" charset="-120"/>
              </a:rPr>
              <a:t>1.4% missing</a:t>
            </a:r>
            <a:endParaRPr lang="en-US" sz="1250" dirty="0"/>
          </a:p>
        </p:txBody>
      </p:sp>
      <p:sp>
        <p:nvSpPr>
          <p:cNvPr id="15" name="Text 13"/>
          <p:cNvSpPr/>
          <p:nvPr/>
        </p:nvSpPr>
        <p:spPr>
          <a:xfrm>
            <a:off x="822960" y="4937760"/>
            <a:ext cx="4800600" cy="868680"/>
          </a:xfrm>
          <a:prstGeom prst="rect">
            <a:avLst/>
          </a:prstGeom>
          <a:noFill/>
          <a:ln/>
        </p:spPr>
        <p:txBody>
          <a:bodyPr wrap="square" rtlCol="0" anchor="ctr"/>
          <a:lstStyle/>
          <a:p>
            <a:pPr marL="0" indent="0">
              <a:buNone/>
            </a:pPr>
            <a:r>
              <a:rPr lang="en-US" sz="1050" i="1" dirty="0">
                <a:solidFill>
                  <a:srgbClr val="6B7A6B"/>
                </a:solidFill>
                <a:latin typeface="Calibri" pitchFamily="34" charset="0"/>
                <a:ea typeface="Calibri" pitchFamily="34" charset="-122"/>
                <a:cs typeface="Calibri" pitchFamily="34" charset="-120"/>
              </a:rPr>
              <a:t>Strategy: median imputation for skewed numerical fields, mode imputation for categorical fields; rows missing the yield target are dropped.</a:t>
            </a:r>
            <a:endParaRPr lang="en-US" sz="1050" dirty="0"/>
          </a:p>
        </p:txBody>
      </p:sp>
      <p:sp>
        <p:nvSpPr>
          <p:cNvPr id="16" name="Shape 14"/>
          <p:cNvSpPr/>
          <p:nvPr/>
        </p:nvSpPr>
        <p:spPr>
          <a:xfrm>
            <a:off x="6172200" y="1691640"/>
            <a:ext cx="5349240" cy="4206240"/>
          </a:xfrm>
          <a:prstGeom prst="roundRect">
            <a:avLst>
              <a:gd name="adj" fmla="val 1739"/>
            </a:avLst>
          </a:prstGeom>
          <a:solidFill>
            <a:schemeClr val="accent1"/>
          </a:solidFill>
          <a:ln>
            <a:solidFill>
              <a:schemeClr val="accent1"/>
            </a:solidFill>
          </a:ln>
        </p:spPr>
        <p:txBody>
          <a:bodyPr/>
          <a:lstStyle/>
          <a:p>
            <a:endParaRPr lang="en-US"/>
          </a:p>
        </p:txBody>
      </p:sp>
      <p:sp>
        <p:nvSpPr>
          <p:cNvPr id="17" name="Text 15"/>
          <p:cNvSpPr/>
          <p:nvPr/>
        </p:nvSpPr>
        <p:spPr>
          <a:xfrm>
            <a:off x="6446520" y="1920240"/>
            <a:ext cx="4800600" cy="320040"/>
          </a:xfrm>
          <a:prstGeom prst="rect">
            <a:avLst/>
          </a:prstGeom>
          <a:noFill/>
          <a:ln/>
        </p:spPr>
        <p:txBody>
          <a:bodyPr wrap="square" rtlCol="0" anchor="ctr"/>
          <a:lstStyle/>
          <a:p>
            <a:pPr marL="0" indent="0">
              <a:buNone/>
            </a:pPr>
            <a:r>
              <a:rPr lang="en-US" sz="1200" b="1" kern="0" spc="200" dirty="0">
                <a:solidFill>
                  <a:srgbClr val="D9A62E"/>
                </a:solidFill>
                <a:latin typeface="Calibri" pitchFamily="34" charset="0"/>
                <a:ea typeface="Calibri" pitchFamily="34" charset="-122"/>
                <a:cs typeface="Calibri" pitchFamily="34" charset="-120"/>
              </a:rPr>
              <a:t>AFTER</a:t>
            </a:r>
            <a:endParaRPr lang="en-US" sz="1200" dirty="0"/>
          </a:p>
        </p:txBody>
      </p:sp>
      <p:sp>
        <p:nvSpPr>
          <p:cNvPr id="18" name="Text 16"/>
          <p:cNvSpPr/>
          <p:nvPr/>
        </p:nvSpPr>
        <p:spPr>
          <a:xfrm>
            <a:off x="6446520" y="2286000"/>
            <a:ext cx="4800600" cy="274320"/>
          </a:xfrm>
          <a:prstGeom prst="rect">
            <a:avLst/>
          </a:prstGeom>
          <a:noFill/>
          <a:ln/>
        </p:spPr>
        <p:txBody>
          <a:bodyPr wrap="square" rtlCol="0" anchor="ctr"/>
          <a:lstStyle/>
          <a:p>
            <a:pPr marL="0" indent="0">
              <a:buNone/>
            </a:pPr>
            <a:r>
              <a:rPr lang="en-US" sz="900" i="1" dirty="0">
                <a:solidFill>
                  <a:srgbClr val="C9D9C3"/>
                </a:solidFill>
                <a:latin typeface="Calibri" pitchFamily="34" charset="0"/>
                <a:ea typeface="Calibri" pitchFamily="34" charset="-122"/>
                <a:cs typeface="Calibri" pitchFamily="34" charset="-120"/>
              </a:rPr>
              <a:t>[IMAGE PLACEHOLDER: data quality — after]</a:t>
            </a:r>
            <a:endParaRPr lang="en-US" sz="900" dirty="0"/>
          </a:p>
        </p:txBody>
      </p:sp>
      <p:sp>
        <p:nvSpPr>
          <p:cNvPr id="19" name="Text 17"/>
          <p:cNvSpPr/>
          <p:nvPr/>
        </p:nvSpPr>
        <p:spPr>
          <a:xfrm>
            <a:off x="6446520" y="2743200"/>
            <a:ext cx="2926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Rainfall</a:t>
            </a:r>
            <a:endParaRPr lang="en-US" sz="1250" dirty="0"/>
          </a:p>
        </p:txBody>
      </p:sp>
      <p:sp>
        <p:nvSpPr>
          <p:cNvPr id="20" name="Text 18"/>
          <p:cNvSpPr/>
          <p:nvPr/>
        </p:nvSpPr>
        <p:spPr>
          <a:xfrm>
            <a:off x="8915400" y="2743200"/>
            <a:ext cx="2286000" cy="384048"/>
          </a:xfrm>
          <a:prstGeom prst="rect">
            <a:avLst/>
          </a:prstGeom>
          <a:noFill/>
          <a:ln/>
        </p:spPr>
        <p:txBody>
          <a:bodyPr wrap="square" rtlCol="0" anchor="ctr"/>
          <a:lstStyle/>
          <a:p>
            <a:pPr marL="0" indent="0" algn="r">
              <a:buNone/>
            </a:pPr>
            <a:r>
              <a:rPr lang="en-US" sz="1250" b="1" dirty="0">
                <a:solidFill>
                  <a:srgbClr val="9BE39B"/>
                </a:solidFill>
                <a:latin typeface="Calibri" pitchFamily="34" charset="0"/>
                <a:ea typeface="Calibri" pitchFamily="34" charset="-122"/>
                <a:cs typeface="Calibri" pitchFamily="34" charset="-120"/>
              </a:rPr>
              <a:t>0.0% missing</a:t>
            </a:r>
            <a:endParaRPr lang="en-US" sz="1250" dirty="0"/>
          </a:p>
        </p:txBody>
      </p:sp>
      <p:sp>
        <p:nvSpPr>
          <p:cNvPr id="21" name="Text 19"/>
          <p:cNvSpPr/>
          <p:nvPr/>
        </p:nvSpPr>
        <p:spPr>
          <a:xfrm>
            <a:off x="6446520" y="3246120"/>
            <a:ext cx="2926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Soil Quality</a:t>
            </a:r>
            <a:endParaRPr lang="en-US" sz="1250" dirty="0"/>
          </a:p>
        </p:txBody>
      </p:sp>
      <p:sp>
        <p:nvSpPr>
          <p:cNvPr id="22" name="Text 20"/>
          <p:cNvSpPr/>
          <p:nvPr/>
        </p:nvSpPr>
        <p:spPr>
          <a:xfrm>
            <a:off x="8915400" y="3246120"/>
            <a:ext cx="2286000" cy="384048"/>
          </a:xfrm>
          <a:prstGeom prst="rect">
            <a:avLst/>
          </a:prstGeom>
          <a:noFill/>
          <a:ln/>
        </p:spPr>
        <p:txBody>
          <a:bodyPr wrap="square" rtlCol="0" anchor="ctr"/>
          <a:lstStyle/>
          <a:p>
            <a:pPr marL="0" indent="0" algn="r">
              <a:buNone/>
            </a:pPr>
            <a:r>
              <a:rPr lang="en-US" sz="1250" b="1" dirty="0">
                <a:solidFill>
                  <a:srgbClr val="9BE39B"/>
                </a:solidFill>
                <a:latin typeface="Calibri" pitchFamily="34" charset="0"/>
                <a:ea typeface="Calibri" pitchFamily="34" charset="-122"/>
                <a:cs typeface="Calibri" pitchFamily="34" charset="-120"/>
              </a:rPr>
              <a:t>0.0% missing</a:t>
            </a:r>
            <a:endParaRPr lang="en-US" sz="1250" dirty="0"/>
          </a:p>
        </p:txBody>
      </p:sp>
      <p:sp>
        <p:nvSpPr>
          <p:cNvPr id="23" name="Text 21"/>
          <p:cNvSpPr/>
          <p:nvPr/>
        </p:nvSpPr>
        <p:spPr>
          <a:xfrm>
            <a:off x="6446520" y="3749040"/>
            <a:ext cx="2926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Pesticide Usage</a:t>
            </a:r>
            <a:endParaRPr lang="en-US" sz="1250" dirty="0"/>
          </a:p>
        </p:txBody>
      </p:sp>
      <p:sp>
        <p:nvSpPr>
          <p:cNvPr id="24" name="Text 22"/>
          <p:cNvSpPr/>
          <p:nvPr/>
        </p:nvSpPr>
        <p:spPr>
          <a:xfrm>
            <a:off x="8915400" y="3749040"/>
            <a:ext cx="2286000" cy="384048"/>
          </a:xfrm>
          <a:prstGeom prst="rect">
            <a:avLst/>
          </a:prstGeom>
          <a:noFill/>
          <a:ln/>
        </p:spPr>
        <p:txBody>
          <a:bodyPr wrap="square" rtlCol="0" anchor="ctr"/>
          <a:lstStyle/>
          <a:p>
            <a:pPr marL="0" indent="0" algn="r">
              <a:buNone/>
            </a:pPr>
            <a:r>
              <a:rPr lang="en-US" sz="1250" b="1" dirty="0">
                <a:solidFill>
                  <a:srgbClr val="9BE39B"/>
                </a:solidFill>
                <a:latin typeface="Calibri" pitchFamily="34" charset="0"/>
                <a:ea typeface="Calibri" pitchFamily="34" charset="-122"/>
                <a:cs typeface="Calibri" pitchFamily="34" charset="-120"/>
              </a:rPr>
              <a:t>0.0% missing</a:t>
            </a:r>
            <a:endParaRPr lang="en-US" sz="1250" dirty="0"/>
          </a:p>
        </p:txBody>
      </p:sp>
      <p:sp>
        <p:nvSpPr>
          <p:cNvPr id="25" name="Text 23"/>
          <p:cNvSpPr/>
          <p:nvPr/>
        </p:nvSpPr>
        <p:spPr>
          <a:xfrm>
            <a:off x="6446520" y="4251960"/>
            <a:ext cx="2926080" cy="384048"/>
          </a:xfrm>
          <a:prstGeom prst="rect">
            <a:avLst/>
          </a:prstGeom>
          <a:noFill/>
          <a:ln/>
        </p:spPr>
        <p:txBody>
          <a:bodyPr wrap="square" rtlCol="0" anchor="ctr"/>
          <a:lstStyle/>
          <a:p>
            <a:pPr marL="0" indent="0">
              <a:buNone/>
            </a:pPr>
            <a:r>
              <a:rPr lang="en-US" sz="1250" dirty="0">
                <a:solidFill>
                  <a:srgbClr val="FFFFFF"/>
                </a:solidFill>
                <a:latin typeface="Calibri" pitchFamily="34" charset="0"/>
                <a:ea typeface="Calibri" pitchFamily="34" charset="-122"/>
                <a:cs typeface="Calibri" pitchFamily="34" charset="-120"/>
              </a:rPr>
              <a:t>Fertilizer Usage</a:t>
            </a:r>
            <a:endParaRPr lang="en-US" sz="1250" dirty="0"/>
          </a:p>
        </p:txBody>
      </p:sp>
      <p:sp>
        <p:nvSpPr>
          <p:cNvPr id="26" name="Text 24"/>
          <p:cNvSpPr/>
          <p:nvPr/>
        </p:nvSpPr>
        <p:spPr>
          <a:xfrm>
            <a:off x="8915400" y="4251960"/>
            <a:ext cx="2286000" cy="384048"/>
          </a:xfrm>
          <a:prstGeom prst="rect">
            <a:avLst/>
          </a:prstGeom>
          <a:noFill/>
          <a:ln/>
        </p:spPr>
        <p:txBody>
          <a:bodyPr wrap="square" rtlCol="0" anchor="ctr"/>
          <a:lstStyle/>
          <a:p>
            <a:pPr marL="0" indent="0" algn="r">
              <a:buNone/>
            </a:pPr>
            <a:r>
              <a:rPr lang="en-US" sz="1250" b="1" dirty="0">
                <a:solidFill>
                  <a:srgbClr val="9BE39B"/>
                </a:solidFill>
                <a:latin typeface="Calibri" pitchFamily="34" charset="0"/>
                <a:ea typeface="Calibri" pitchFamily="34" charset="-122"/>
                <a:cs typeface="Calibri" pitchFamily="34" charset="-120"/>
              </a:rPr>
              <a:t>0.0% missing</a:t>
            </a:r>
            <a:endParaRPr lang="en-US" sz="1250" dirty="0"/>
          </a:p>
        </p:txBody>
      </p:sp>
      <p:sp>
        <p:nvSpPr>
          <p:cNvPr id="27" name="Text 25"/>
          <p:cNvSpPr/>
          <p:nvPr/>
        </p:nvSpPr>
        <p:spPr>
          <a:xfrm>
            <a:off x="6446520" y="4937760"/>
            <a:ext cx="4800600" cy="868680"/>
          </a:xfrm>
          <a:prstGeom prst="rect">
            <a:avLst/>
          </a:prstGeom>
          <a:noFill/>
          <a:ln/>
        </p:spPr>
        <p:txBody>
          <a:bodyPr wrap="square" rtlCol="0" anchor="ctr"/>
          <a:lstStyle/>
          <a:p>
            <a:pPr marL="0" indent="0">
              <a:buNone/>
            </a:pPr>
            <a:r>
              <a:rPr lang="en-US" sz="1050" i="1" dirty="0">
                <a:solidFill>
                  <a:srgbClr val="D8E4D3"/>
                </a:solidFill>
                <a:latin typeface="Calibri" pitchFamily="34" charset="0"/>
                <a:ea typeface="Calibri" pitchFamily="34" charset="-122"/>
                <a:cs typeface="Calibri" pitchFamily="34" charset="-120"/>
              </a:rPr>
              <a:t>Result: a complete, model-ready dataset with no null values remaining, imputations justified by feature distribution.</a:t>
            </a:r>
            <a:endParaRPr lang="en-US" sz="1050" dirty="0"/>
          </a:p>
        </p:txBody>
      </p:sp>
      <p:sp>
        <p:nvSpPr>
          <p:cNvPr id="28" name="Text 26"/>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29" name="Text 27"/>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04 — EXPLORATORY DATA ANALYSIS</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Statistical Summary of Features</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summary statistics table]</a:t>
            </a:r>
            <a:endParaRPr lang="en-US" sz="900" dirty="0"/>
          </a:p>
        </p:txBody>
      </p:sp>
      <p:graphicFrame>
        <p:nvGraphicFramePr>
          <p:cNvPr id="9" name="Table 0"/>
          <p:cNvGraphicFramePr>
            <a:graphicFrameLocks noGrp="1"/>
          </p:cNvGraphicFramePr>
          <p:nvPr>
            <p:extLst>
              <p:ext uri="{D42A27DB-BD31-4B8C-83A1-F6EECF244321}">
                <p14:modId xmlns:p14="http://schemas.microsoft.com/office/powerpoint/2010/main" val="693717479"/>
              </p:ext>
            </p:extLst>
          </p:nvPr>
        </p:nvGraphicFramePr>
        <p:xfrm>
          <a:off x="548640" y="1691640"/>
          <a:ext cx="6766560" cy="3017520"/>
        </p:xfrm>
        <a:graphic>
          <a:graphicData uri="http://schemas.openxmlformats.org/drawingml/2006/table">
            <a:tbl>
              <a:tblPr>
                <a:tableStyleId>{3C2FFA5D-87B4-456A-9821-1D502468CF0F}</a:tableStyleId>
              </a:tblPr>
              <a:tblGrid>
                <a:gridCol w="219456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tblGrid>
              <a:tr h="502920">
                <a:tc>
                  <a:txBody>
                    <a:bodyPr/>
                    <a:lstStyle/>
                    <a:p>
                      <a:pPr marL="0" indent="0">
                        <a:buNone/>
                      </a:pPr>
                      <a:r>
                        <a:rPr lang="en-US" sz="1250" b="1" dirty="0">
                          <a:solidFill>
                            <a:srgbClr val="FFFFFF"/>
                          </a:solidFill>
                        </a:rPr>
                        <a:t>Feature</a:t>
                      </a:r>
                      <a:endParaRPr lang="en-US" sz="1250" dirty="0">
                        <a:latin typeface="Calibri" charset="0"/>
                        <a:ea typeface="Calibri" charset="0"/>
                        <a:cs typeface="Calibri" charset="0"/>
                      </a:endParaRPr>
                    </a:p>
                  </a:txBody>
                  <a:tcPr anchor="ctr"/>
                </a:tc>
                <a:tc>
                  <a:txBody>
                    <a:bodyPr/>
                    <a:lstStyle/>
                    <a:p>
                      <a:pPr marL="0" indent="0">
                        <a:buNone/>
                      </a:pPr>
                      <a:r>
                        <a:rPr lang="en-US" sz="1250" b="1" dirty="0">
                          <a:solidFill>
                            <a:srgbClr val="FFFFFF"/>
                          </a:solidFill>
                        </a:rPr>
                        <a:t>Mean</a:t>
                      </a:r>
                      <a:endParaRPr lang="en-US" sz="1250" dirty="0">
                        <a:latin typeface="Calibri" charset="0"/>
                        <a:ea typeface="Calibri" charset="0"/>
                        <a:cs typeface="Calibri" charset="0"/>
                      </a:endParaRPr>
                    </a:p>
                  </a:txBody>
                  <a:tcPr anchor="ctr"/>
                </a:tc>
                <a:tc>
                  <a:txBody>
                    <a:bodyPr/>
                    <a:lstStyle/>
                    <a:p>
                      <a:pPr marL="0" indent="0">
                        <a:buNone/>
                      </a:pPr>
                      <a:r>
                        <a:rPr lang="en-US" sz="1250" b="1" dirty="0">
                          <a:solidFill>
                            <a:srgbClr val="FFFFFF"/>
                          </a:solidFill>
                        </a:rPr>
                        <a:t>Std Dev</a:t>
                      </a:r>
                      <a:endParaRPr lang="en-US" sz="1250" dirty="0">
                        <a:latin typeface="Calibri" charset="0"/>
                        <a:ea typeface="Calibri" charset="0"/>
                        <a:cs typeface="Calibri" charset="0"/>
                      </a:endParaRPr>
                    </a:p>
                  </a:txBody>
                  <a:tcPr anchor="ctr"/>
                </a:tc>
                <a:tc>
                  <a:txBody>
                    <a:bodyPr/>
                    <a:lstStyle/>
                    <a:p>
                      <a:pPr marL="0" indent="0">
                        <a:buNone/>
                      </a:pPr>
                      <a:r>
                        <a:rPr lang="en-US" sz="1250" b="1" dirty="0">
                          <a:solidFill>
                            <a:srgbClr val="FFFFFF"/>
                          </a:solidFill>
                        </a:rPr>
                        <a:t>Min</a:t>
                      </a:r>
                      <a:endParaRPr lang="en-US" sz="1250" dirty="0">
                        <a:latin typeface="Calibri" charset="0"/>
                        <a:ea typeface="Calibri" charset="0"/>
                        <a:cs typeface="Calibri" charset="0"/>
                      </a:endParaRPr>
                    </a:p>
                  </a:txBody>
                  <a:tcPr anchor="ctr"/>
                </a:tc>
                <a:tc>
                  <a:txBody>
                    <a:bodyPr/>
                    <a:lstStyle/>
                    <a:p>
                      <a:pPr marL="0" indent="0">
                        <a:buNone/>
                      </a:pPr>
                      <a:r>
                        <a:rPr lang="en-US" sz="1250" b="1" dirty="0">
                          <a:solidFill>
                            <a:srgbClr val="FFFFFF"/>
                          </a:solidFill>
                        </a:rPr>
                        <a:t>Max</a:t>
                      </a:r>
                      <a:endParaRPr lang="en-US" sz="1250" dirty="0">
                        <a:latin typeface="Calibri" charset="0"/>
                        <a:ea typeface="Calibri" charset="0"/>
                        <a:cs typeface="Calibri" charset="0"/>
                      </a:endParaRPr>
                    </a:p>
                  </a:txBody>
                  <a:tcPr anchor="ctr"/>
                </a:tc>
                <a:extLst>
                  <a:ext uri="{0D108BD9-81ED-4DB2-BD59-A6C34878D82A}">
                    <a16:rowId xmlns:a16="http://schemas.microsoft.com/office/drawing/2014/main" val="10000"/>
                  </a:ext>
                </a:extLst>
              </a:tr>
              <a:tr h="502920">
                <a:tc>
                  <a:txBody>
                    <a:bodyPr/>
                    <a:lstStyle/>
                    <a:p>
                      <a:pPr marL="0" indent="0" algn="l">
                        <a:buNone/>
                      </a:pPr>
                      <a:r>
                        <a:rPr lang="en-US" sz="1250" b="1" dirty="0">
                          <a:solidFill>
                            <a:srgbClr val="223522"/>
                          </a:solidFill>
                        </a:rPr>
                        <a:t>Rainfall (mm)</a:t>
                      </a:r>
                      <a:endParaRPr lang="en-US" sz="1250" dirty="0">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842.3</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215.6</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210.0</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1580.0</a:t>
                      </a:r>
                      <a:endParaRPr lang="en-US" sz="125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1"/>
                  </a:ext>
                </a:extLst>
              </a:tr>
              <a:tr h="502920">
                <a:tc>
                  <a:txBody>
                    <a:bodyPr/>
                    <a:lstStyle/>
                    <a:p>
                      <a:pPr marL="0" indent="0" algn="l">
                        <a:buNone/>
                      </a:pPr>
                      <a:r>
                        <a:rPr lang="en-US" sz="1250" b="1" dirty="0">
                          <a:solidFill>
                            <a:srgbClr val="223522"/>
                          </a:solidFill>
                        </a:rPr>
                        <a:t>Temperature (°C)</a:t>
                      </a:r>
                      <a:endParaRPr lang="en-US" sz="1250" dirty="0">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26.4</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4.8</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12.1</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39.5</a:t>
                      </a:r>
                      <a:endParaRPr lang="en-US" sz="125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2"/>
                  </a:ext>
                </a:extLst>
              </a:tr>
              <a:tr h="502920">
                <a:tc>
                  <a:txBody>
                    <a:bodyPr/>
                    <a:lstStyle/>
                    <a:p>
                      <a:pPr marL="0" indent="0" algn="l">
                        <a:buNone/>
                      </a:pPr>
                      <a:r>
                        <a:rPr lang="en-US" sz="1250" b="1" dirty="0">
                          <a:solidFill>
                            <a:srgbClr val="223522"/>
                          </a:solidFill>
                        </a:rPr>
                        <a:t>Pesticide (kg/ha)</a:t>
                      </a:r>
                      <a:endParaRPr lang="en-US" sz="1250" dirty="0">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3.1</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1.4</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0.0</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9.8</a:t>
                      </a:r>
                      <a:endParaRPr lang="en-US" sz="125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3"/>
                  </a:ext>
                </a:extLst>
              </a:tr>
              <a:tr h="502920">
                <a:tc>
                  <a:txBody>
                    <a:bodyPr/>
                    <a:lstStyle/>
                    <a:p>
                      <a:pPr marL="0" indent="0" algn="l">
                        <a:buNone/>
                      </a:pPr>
                      <a:r>
                        <a:rPr lang="en-US" sz="1250" b="1" dirty="0">
                          <a:solidFill>
                            <a:srgbClr val="223522"/>
                          </a:solidFill>
                        </a:rPr>
                        <a:t>Fertilizer (kg/ha)</a:t>
                      </a:r>
                      <a:endParaRPr lang="en-US" sz="1250" dirty="0">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112.7</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38.2</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10.0</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265.0</a:t>
                      </a:r>
                      <a:endParaRPr lang="en-US" sz="125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4"/>
                  </a:ext>
                </a:extLst>
              </a:tr>
              <a:tr h="502920">
                <a:tc>
                  <a:txBody>
                    <a:bodyPr/>
                    <a:lstStyle/>
                    <a:p>
                      <a:pPr marL="0" indent="0" algn="l">
                        <a:buNone/>
                      </a:pPr>
                      <a:r>
                        <a:rPr lang="en-US" sz="1250" b="1" dirty="0">
                          <a:solidFill>
                            <a:srgbClr val="223522"/>
                          </a:solidFill>
                        </a:rPr>
                        <a:t>Yield (t/ha)</a:t>
                      </a:r>
                      <a:endParaRPr lang="en-US" sz="1250" dirty="0">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4.6</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1.7</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0.5</a:t>
                      </a:r>
                      <a:endParaRPr lang="en-US" sz="1250" dirty="0">
                        <a:solidFill>
                          <a:srgbClr val="0070C0"/>
                        </a:solidFill>
                        <a:latin typeface="Calibri" charset="0"/>
                        <a:ea typeface="Calibri" charset="0"/>
                        <a:cs typeface="Calibri" charset="0"/>
                      </a:endParaRPr>
                    </a:p>
                  </a:txBody>
                  <a:tcPr anchor="ctr"/>
                </a:tc>
                <a:tc>
                  <a:txBody>
                    <a:bodyPr/>
                    <a:lstStyle/>
                    <a:p>
                      <a:pPr marL="0" indent="0" algn="r">
                        <a:buNone/>
                      </a:pPr>
                      <a:r>
                        <a:rPr lang="en-US" sz="1250" dirty="0">
                          <a:solidFill>
                            <a:srgbClr val="0070C0"/>
                          </a:solidFill>
                        </a:rPr>
                        <a:t>9.4</a:t>
                      </a:r>
                      <a:endParaRPr lang="en-US" sz="125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5"/>
                  </a:ext>
                </a:extLst>
              </a:tr>
            </a:tbl>
          </a:graphicData>
        </a:graphic>
      </p:graphicFrame>
      <p:sp>
        <p:nvSpPr>
          <p:cNvPr id="6" name="Shape 3"/>
          <p:cNvSpPr/>
          <p:nvPr/>
        </p:nvSpPr>
        <p:spPr>
          <a:xfrm>
            <a:off x="7680960" y="1691640"/>
            <a:ext cx="3931920" cy="1371600"/>
          </a:xfrm>
          <a:prstGeom prst="roundRect">
            <a:avLst>
              <a:gd name="adj" fmla="val 5333"/>
            </a:avLst>
          </a:prstGeom>
          <a:solidFill>
            <a:srgbClr val="F4F7F2"/>
          </a:solidFill>
          <a:ln/>
        </p:spPr>
        <p:txBody>
          <a:bodyPr/>
          <a:lstStyle/>
          <a:p>
            <a:endParaRPr lang="en-US"/>
          </a:p>
        </p:txBody>
      </p:sp>
      <p:sp>
        <p:nvSpPr>
          <p:cNvPr id="7" name="Text 4"/>
          <p:cNvSpPr/>
          <p:nvPr/>
        </p:nvSpPr>
        <p:spPr>
          <a:xfrm>
            <a:off x="7863840" y="1856232"/>
            <a:ext cx="1188720" cy="1005840"/>
          </a:xfrm>
          <a:prstGeom prst="rect">
            <a:avLst/>
          </a:prstGeom>
          <a:noFill/>
          <a:ln/>
        </p:spPr>
        <p:txBody>
          <a:bodyPr wrap="square"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5</a:t>
            </a:r>
            <a:endParaRPr lang="en-US" sz="3400" dirty="0"/>
          </a:p>
        </p:txBody>
      </p:sp>
      <p:sp>
        <p:nvSpPr>
          <p:cNvPr id="8" name="Text 5"/>
          <p:cNvSpPr/>
          <p:nvPr/>
        </p:nvSpPr>
        <p:spPr>
          <a:xfrm>
            <a:off x="9144000" y="1856232"/>
            <a:ext cx="2377440" cy="1005840"/>
          </a:xfrm>
          <a:prstGeom prst="rect">
            <a:avLst/>
          </a:prstGeom>
          <a:noFill/>
          <a:ln/>
        </p:spPr>
        <p:txBody>
          <a:bodyPr wrap="square" rtlCol="0" anchor="ctr"/>
          <a:lstStyle/>
          <a:p>
            <a:pPr marL="0" indent="0">
              <a:buNone/>
            </a:pPr>
            <a:r>
              <a:rPr lang="en-US" sz="1250" dirty="0">
                <a:solidFill>
                  <a:srgbClr val="6B7A6B"/>
                </a:solidFill>
                <a:latin typeface="Calibri" pitchFamily="34" charset="0"/>
                <a:ea typeface="Calibri" pitchFamily="34" charset="-122"/>
                <a:cs typeface="Calibri" pitchFamily="34" charset="-120"/>
              </a:rPr>
              <a:t>Numerical</a:t>
            </a:r>
            <a:endParaRPr lang="en-US" sz="1250" dirty="0"/>
          </a:p>
          <a:p>
            <a:pPr marL="0" indent="0">
              <a:buNone/>
            </a:pPr>
            <a:r>
              <a:rPr lang="en-US" sz="1250" dirty="0">
                <a:solidFill>
                  <a:srgbClr val="6B7A6B"/>
                </a:solidFill>
                <a:latin typeface="Calibri" pitchFamily="34" charset="0"/>
                <a:ea typeface="Calibri" pitchFamily="34" charset="-122"/>
                <a:cs typeface="Calibri" pitchFamily="34" charset="-120"/>
              </a:rPr>
              <a:t>Features</a:t>
            </a:r>
            <a:endParaRPr lang="en-US" sz="1250" dirty="0"/>
          </a:p>
        </p:txBody>
      </p:sp>
      <p:sp>
        <p:nvSpPr>
          <p:cNvPr id="5" name="Shape 6"/>
          <p:cNvSpPr/>
          <p:nvPr/>
        </p:nvSpPr>
        <p:spPr>
          <a:xfrm>
            <a:off x="7680960" y="3246120"/>
            <a:ext cx="3931920" cy="1371600"/>
          </a:xfrm>
          <a:prstGeom prst="roundRect">
            <a:avLst>
              <a:gd name="adj" fmla="val 5333"/>
            </a:avLst>
          </a:prstGeom>
          <a:solidFill>
            <a:srgbClr val="F4F7F2"/>
          </a:solidFill>
          <a:ln/>
        </p:spPr>
        <p:txBody>
          <a:bodyPr/>
          <a:lstStyle/>
          <a:p>
            <a:endParaRPr lang="en-US"/>
          </a:p>
        </p:txBody>
      </p:sp>
      <p:sp>
        <p:nvSpPr>
          <p:cNvPr id="10" name="Text 7"/>
          <p:cNvSpPr/>
          <p:nvPr/>
        </p:nvSpPr>
        <p:spPr>
          <a:xfrm>
            <a:off x="7863840" y="3410712"/>
            <a:ext cx="1188720" cy="1005840"/>
          </a:xfrm>
          <a:prstGeom prst="rect">
            <a:avLst/>
          </a:prstGeom>
          <a:noFill/>
          <a:ln/>
        </p:spPr>
        <p:txBody>
          <a:bodyPr wrap="square" rtlCol="0" anchor="ctr"/>
          <a:lstStyle/>
          <a:p>
            <a:pPr marL="0" indent="0">
              <a:buNone/>
            </a:pPr>
            <a:r>
              <a:rPr lang="en-US" sz="3400" b="1" dirty="0">
                <a:solidFill>
                  <a:srgbClr val="2C5F2D"/>
                </a:solidFill>
                <a:latin typeface="Cambria" pitchFamily="34" charset="0"/>
                <a:ea typeface="Cambria" pitchFamily="34" charset="-122"/>
                <a:cs typeface="Cambria" pitchFamily="34" charset="-120"/>
              </a:rPr>
              <a:t>3</a:t>
            </a:r>
            <a:endParaRPr lang="en-US" sz="3400" dirty="0"/>
          </a:p>
        </p:txBody>
      </p:sp>
      <p:sp>
        <p:nvSpPr>
          <p:cNvPr id="11" name="Text 8"/>
          <p:cNvSpPr/>
          <p:nvPr/>
        </p:nvSpPr>
        <p:spPr>
          <a:xfrm>
            <a:off x="9144000" y="3410712"/>
            <a:ext cx="2377440" cy="1005840"/>
          </a:xfrm>
          <a:prstGeom prst="rect">
            <a:avLst/>
          </a:prstGeom>
          <a:noFill/>
          <a:ln/>
        </p:spPr>
        <p:txBody>
          <a:bodyPr wrap="square" rtlCol="0" anchor="ctr"/>
          <a:lstStyle/>
          <a:p>
            <a:pPr marL="0" indent="0">
              <a:buNone/>
            </a:pPr>
            <a:r>
              <a:rPr lang="en-US" sz="1250" dirty="0">
                <a:solidFill>
                  <a:srgbClr val="6B7A6B"/>
                </a:solidFill>
                <a:latin typeface="Calibri" pitchFamily="34" charset="0"/>
                <a:ea typeface="Calibri" pitchFamily="34" charset="-122"/>
                <a:cs typeface="Calibri" pitchFamily="34" charset="-120"/>
              </a:rPr>
              <a:t>Categorical</a:t>
            </a:r>
            <a:endParaRPr lang="en-US" sz="1250" dirty="0"/>
          </a:p>
          <a:p>
            <a:pPr marL="0" indent="0">
              <a:buNone/>
            </a:pPr>
            <a:r>
              <a:rPr lang="en-US" sz="1250" dirty="0">
                <a:solidFill>
                  <a:srgbClr val="6B7A6B"/>
                </a:solidFill>
                <a:latin typeface="Calibri" pitchFamily="34" charset="0"/>
                <a:ea typeface="Calibri" pitchFamily="34" charset="-122"/>
                <a:cs typeface="Calibri" pitchFamily="34" charset="-120"/>
              </a:rPr>
              <a:t>Features</a:t>
            </a:r>
            <a:endParaRPr lang="en-US" sz="1250" dirty="0"/>
          </a:p>
        </p:txBody>
      </p:sp>
      <p:sp>
        <p:nvSpPr>
          <p:cNvPr id="12" name="Text 9"/>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13" name="Text 10"/>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04 — EXPLORATORY DATA ANALYSIS</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Distribution Analysis</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histograms / boxplots]</a:t>
            </a:r>
            <a:endParaRPr lang="en-US" sz="900" dirty="0"/>
          </a:p>
        </p:txBody>
      </p:sp>
      <p:graphicFrame>
        <p:nvGraphicFramePr>
          <p:cNvPr id="5" name="Chart 0"/>
          <p:cNvGraphicFramePr/>
          <p:nvPr>
            <p:extLst>
              <p:ext uri="{D42A27DB-BD31-4B8C-83A1-F6EECF244321}">
                <p14:modId xmlns:p14="http://schemas.microsoft.com/office/powerpoint/2010/main" val="2443592043"/>
              </p:ext>
            </p:extLst>
          </p:nvPr>
        </p:nvGraphicFramePr>
        <p:xfrm>
          <a:off x="548640" y="1691640"/>
          <a:ext cx="5394960" cy="42976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6" name="Chart 1"/>
          <p:cNvGraphicFramePr/>
          <p:nvPr>
            <p:extLst>
              <p:ext uri="{D42A27DB-BD31-4B8C-83A1-F6EECF244321}">
                <p14:modId xmlns:p14="http://schemas.microsoft.com/office/powerpoint/2010/main" val="2242090808"/>
              </p:ext>
            </p:extLst>
          </p:nvPr>
        </p:nvGraphicFramePr>
        <p:xfrm>
          <a:off x="6172200" y="1691640"/>
          <a:ext cx="5394960" cy="429768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 4"/>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04 — EXPLORATORY DATA ANALYSIS</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Correlation Analysis</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correlation heatmap]</a:t>
            </a:r>
            <a:endParaRPr lang="en-US" sz="900" dirty="0"/>
          </a:p>
        </p:txBody>
      </p:sp>
      <p:sp>
        <p:nvSpPr>
          <p:cNvPr id="5" name="Text 3"/>
          <p:cNvSpPr/>
          <p:nvPr/>
        </p:nvSpPr>
        <p:spPr>
          <a:xfrm>
            <a:off x="2743200" y="1554480"/>
            <a:ext cx="749808" cy="365760"/>
          </a:xfrm>
          <a:prstGeom prst="rect">
            <a:avLst/>
          </a:prstGeom>
          <a:noFill/>
          <a:ln/>
        </p:spPr>
        <p:txBody>
          <a:bodyPr wrap="square" rtlCol="0" anchor="ctr"/>
          <a:lstStyle/>
          <a:p>
            <a:pPr marL="0" indent="0" algn="ctr">
              <a:buNone/>
            </a:pPr>
            <a:r>
              <a:rPr lang="en-US" sz="1000" b="1">
                <a:solidFill>
                  <a:srgbClr val="223522"/>
                </a:solidFill>
                <a:latin typeface="Calibri" pitchFamily="34" charset="0"/>
                <a:ea typeface="Calibri" pitchFamily="34" charset="-122"/>
                <a:cs typeface="Calibri" pitchFamily="34" charset="-120"/>
              </a:rPr>
              <a:t>Rainfall</a:t>
            </a:r>
            <a:endParaRPr lang="en-US" sz="1000" dirty="0"/>
          </a:p>
        </p:txBody>
      </p:sp>
      <p:sp>
        <p:nvSpPr>
          <p:cNvPr id="6" name="Text 4"/>
          <p:cNvSpPr/>
          <p:nvPr/>
        </p:nvSpPr>
        <p:spPr>
          <a:xfrm>
            <a:off x="3493008" y="1554480"/>
            <a:ext cx="749808" cy="365760"/>
          </a:xfrm>
          <a:prstGeom prst="rect">
            <a:avLst/>
          </a:prstGeom>
          <a:noFill/>
          <a:ln/>
        </p:spPr>
        <p:txBody>
          <a:bodyPr wrap="square" rtlCol="0" anchor="ctr"/>
          <a:lstStyle/>
          <a:p>
            <a:pPr marL="0" indent="0" algn="ctr">
              <a:buNone/>
            </a:pPr>
            <a:r>
              <a:rPr lang="en-US" sz="1000" b="1" dirty="0">
                <a:solidFill>
                  <a:srgbClr val="223522"/>
                </a:solidFill>
                <a:latin typeface="Calibri" pitchFamily="34" charset="0"/>
                <a:ea typeface="Calibri" pitchFamily="34" charset="-122"/>
                <a:cs typeface="Calibri" pitchFamily="34" charset="-120"/>
              </a:rPr>
              <a:t>Temp</a:t>
            </a:r>
            <a:endParaRPr lang="en-US" sz="1000" dirty="0"/>
          </a:p>
        </p:txBody>
      </p:sp>
      <p:sp>
        <p:nvSpPr>
          <p:cNvPr id="7" name="Text 5"/>
          <p:cNvSpPr/>
          <p:nvPr/>
        </p:nvSpPr>
        <p:spPr>
          <a:xfrm>
            <a:off x="4242816" y="1554480"/>
            <a:ext cx="749808" cy="365760"/>
          </a:xfrm>
          <a:prstGeom prst="rect">
            <a:avLst/>
          </a:prstGeom>
          <a:noFill/>
          <a:ln/>
        </p:spPr>
        <p:txBody>
          <a:bodyPr wrap="square" rtlCol="0" anchor="ctr"/>
          <a:lstStyle/>
          <a:p>
            <a:pPr marL="0" indent="0" algn="ctr">
              <a:buNone/>
            </a:pPr>
            <a:r>
              <a:rPr lang="en-US" sz="1000" b="1" dirty="0">
                <a:solidFill>
                  <a:srgbClr val="223522"/>
                </a:solidFill>
                <a:latin typeface="Calibri" pitchFamily="34" charset="0"/>
                <a:ea typeface="Calibri" pitchFamily="34" charset="-122"/>
                <a:cs typeface="Calibri" pitchFamily="34" charset="-120"/>
              </a:rPr>
              <a:t>Pesticide</a:t>
            </a:r>
            <a:endParaRPr lang="en-US" sz="1000" dirty="0"/>
          </a:p>
        </p:txBody>
      </p:sp>
      <p:sp>
        <p:nvSpPr>
          <p:cNvPr id="8" name="Text 6"/>
          <p:cNvSpPr/>
          <p:nvPr/>
        </p:nvSpPr>
        <p:spPr>
          <a:xfrm>
            <a:off x="4992624" y="1554480"/>
            <a:ext cx="749808" cy="365760"/>
          </a:xfrm>
          <a:prstGeom prst="rect">
            <a:avLst/>
          </a:prstGeom>
          <a:noFill/>
          <a:ln/>
        </p:spPr>
        <p:txBody>
          <a:bodyPr wrap="square" rtlCol="0" anchor="ctr"/>
          <a:lstStyle/>
          <a:p>
            <a:pPr marL="0" indent="0" algn="ctr">
              <a:buNone/>
            </a:pPr>
            <a:r>
              <a:rPr lang="en-US" sz="1000" b="1" dirty="0">
                <a:solidFill>
                  <a:srgbClr val="223522"/>
                </a:solidFill>
                <a:latin typeface="Calibri" pitchFamily="34" charset="0"/>
                <a:ea typeface="Calibri" pitchFamily="34" charset="-122"/>
                <a:cs typeface="Calibri" pitchFamily="34" charset="-120"/>
              </a:rPr>
              <a:t>Fertilizer</a:t>
            </a:r>
            <a:endParaRPr lang="en-US" sz="1000" dirty="0"/>
          </a:p>
        </p:txBody>
      </p:sp>
      <p:sp>
        <p:nvSpPr>
          <p:cNvPr id="9" name="Text 7"/>
          <p:cNvSpPr/>
          <p:nvPr/>
        </p:nvSpPr>
        <p:spPr>
          <a:xfrm>
            <a:off x="5742432" y="1554480"/>
            <a:ext cx="749808" cy="365760"/>
          </a:xfrm>
          <a:prstGeom prst="rect">
            <a:avLst/>
          </a:prstGeom>
          <a:noFill/>
          <a:ln/>
        </p:spPr>
        <p:txBody>
          <a:bodyPr wrap="square" rtlCol="0" anchor="ctr"/>
          <a:lstStyle/>
          <a:p>
            <a:pPr marL="0" indent="0" algn="ctr">
              <a:buNone/>
            </a:pPr>
            <a:r>
              <a:rPr lang="en-US" sz="1000" b="1" dirty="0">
                <a:solidFill>
                  <a:srgbClr val="223522"/>
                </a:solidFill>
                <a:latin typeface="Calibri" pitchFamily="34" charset="0"/>
                <a:ea typeface="Calibri" pitchFamily="34" charset="-122"/>
                <a:cs typeface="Calibri" pitchFamily="34" charset="-120"/>
              </a:rPr>
              <a:t>Yield</a:t>
            </a:r>
            <a:endParaRPr lang="en-US" sz="1000" dirty="0"/>
          </a:p>
        </p:txBody>
      </p:sp>
      <p:sp>
        <p:nvSpPr>
          <p:cNvPr id="10" name="Text 8"/>
          <p:cNvSpPr/>
          <p:nvPr/>
        </p:nvSpPr>
        <p:spPr>
          <a:xfrm>
            <a:off x="1554480" y="1920240"/>
            <a:ext cx="1097280" cy="749808"/>
          </a:xfrm>
          <a:prstGeom prst="rect">
            <a:avLst/>
          </a:prstGeom>
          <a:noFill/>
          <a:ln/>
        </p:spPr>
        <p:txBody>
          <a:bodyPr wrap="square" rtlCol="0" anchor="ctr"/>
          <a:lstStyle/>
          <a:p>
            <a:pPr marL="0" indent="0" algn="r">
              <a:buNone/>
            </a:pPr>
            <a:r>
              <a:rPr lang="en-US" sz="1000" b="1" dirty="0">
                <a:solidFill>
                  <a:srgbClr val="223522"/>
                </a:solidFill>
                <a:latin typeface="Calibri" pitchFamily="34" charset="0"/>
                <a:ea typeface="Calibri" pitchFamily="34" charset="-122"/>
                <a:cs typeface="Calibri" pitchFamily="34" charset="-120"/>
              </a:rPr>
              <a:t>Rainfall</a:t>
            </a:r>
            <a:endParaRPr lang="en-US" sz="1000" dirty="0"/>
          </a:p>
        </p:txBody>
      </p:sp>
      <p:sp>
        <p:nvSpPr>
          <p:cNvPr id="11" name="Shape 9"/>
          <p:cNvSpPr/>
          <p:nvPr/>
        </p:nvSpPr>
        <p:spPr>
          <a:xfrm>
            <a:off x="2743200" y="1920240"/>
            <a:ext cx="713232" cy="713232"/>
          </a:xfrm>
          <a:prstGeom prst="rect">
            <a:avLst/>
          </a:prstGeom>
          <a:solidFill>
            <a:schemeClr val="accent1"/>
          </a:solidFill>
          <a:ln w="12700">
            <a:solidFill>
              <a:srgbClr val="FFFFFF"/>
            </a:solidFill>
            <a:prstDash val="solid"/>
          </a:ln>
        </p:spPr>
        <p:txBody>
          <a:bodyPr/>
          <a:lstStyle/>
          <a:p>
            <a:endParaRPr lang="en-US"/>
          </a:p>
        </p:txBody>
      </p:sp>
      <p:sp>
        <p:nvSpPr>
          <p:cNvPr id="12" name="Text 10"/>
          <p:cNvSpPr/>
          <p:nvPr/>
        </p:nvSpPr>
        <p:spPr>
          <a:xfrm>
            <a:off x="2743200" y="1920240"/>
            <a:ext cx="713232" cy="7132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a:t>
            </a:r>
            <a:endParaRPr lang="en-US" sz="1100" dirty="0"/>
          </a:p>
        </p:txBody>
      </p:sp>
      <p:sp>
        <p:nvSpPr>
          <p:cNvPr id="13" name="Shape 11"/>
          <p:cNvSpPr/>
          <p:nvPr/>
        </p:nvSpPr>
        <p:spPr>
          <a:xfrm>
            <a:off x="3493008" y="1920240"/>
            <a:ext cx="713232" cy="713232"/>
          </a:xfrm>
          <a:prstGeom prst="rect">
            <a:avLst/>
          </a:prstGeom>
          <a:solidFill>
            <a:srgbClr val="E9D9D2"/>
          </a:solidFill>
          <a:ln w="12700">
            <a:solidFill>
              <a:srgbClr val="FFFFFF"/>
            </a:solidFill>
            <a:prstDash val="solid"/>
          </a:ln>
        </p:spPr>
        <p:txBody>
          <a:bodyPr/>
          <a:lstStyle/>
          <a:p>
            <a:endParaRPr lang="en-US"/>
          </a:p>
        </p:txBody>
      </p:sp>
      <p:sp>
        <p:nvSpPr>
          <p:cNvPr id="14" name="Text 12"/>
          <p:cNvSpPr/>
          <p:nvPr/>
        </p:nvSpPr>
        <p:spPr>
          <a:xfrm>
            <a:off x="3493008" y="1920240"/>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-0.18</a:t>
            </a:r>
            <a:endParaRPr lang="en-US" sz="1100" dirty="0"/>
          </a:p>
        </p:txBody>
      </p:sp>
      <p:sp>
        <p:nvSpPr>
          <p:cNvPr id="15" name="Shape 13"/>
          <p:cNvSpPr/>
          <p:nvPr/>
        </p:nvSpPr>
        <p:spPr>
          <a:xfrm>
            <a:off x="4242816" y="1920240"/>
            <a:ext cx="713232" cy="713232"/>
          </a:xfrm>
          <a:prstGeom prst="rect">
            <a:avLst/>
          </a:prstGeom>
          <a:solidFill>
            <a:srgbClr val="EAEFE8"/>
          </a:solidFill>
          <a:ln w="12700">
            <a:solidFill>
              <a:srgbClr val="FFFFFF"/>
            </a:solidFill>
            <a:prstDash val="solid"/>
          </a:ln>
        </p:spPr>
        <p:txBody>
          <a:bodyPr/>
          <a:lstStyle/>
          <a:p>
            <a:endParaRPr lang="en-US"/>
          </a:p>
        </p:txBody>
      </p:sp>
      <p:sp>
        <p:nvSpPr>
          <p:cNvPr id="16" name="Text 14"/>
          <p:cNvSpPr/>
          <p:nvPr/>
        </p:nvSpPr>
        <p:spPr>
          <a:xfrm>
            <a:off x="4242816" y="1920240"/>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0.05</a:t>
            </a:r>
            <a:endParaRPr lang="en-US" sz="1100" dirty="0"/>
          </a:p>
        </p:txBody>
      </p:sp>
      <p:sp>
        <p:nvSpPr>
          <p:cNvPr id="17" name="Shape 15"/>
          <p:cNvSpPr/>
          <p:nvPr/>
        </p:nvSpPr>
        <p:spPr>
          <a:xfrm>
            <a:off x="4992624" y="1920240"/>
            <a:ext cx="713232" cy="713232"/>
          </a:xfrm>
          <a:prstGeom prst="rect">
            <a:avLst/>
          </a:prstGeom>
          <a:solidFill>
            <a:srgbClr val="C8D6C7"/>
          </a:solidFill>
          <a:ln w="12700">
            <a:solidFill>
              <a:srgbClr val="FFFFFF"/>
            </a:solidFill>
            <a:prstDash val="solid"/>
          </a:ln>
        </p:spPr>
        <p:txBody>
          <a:bodyPr/>
          <a:lstStyle/>
          <a:p>
            <a:endParaRPr lang="en-US"/>
          </a:p>
        </p:txBody>
      </p:sp>
      <p:sp>
        <p:nvSpPr>
          <p:cNvPr id="18" name="Text 16"/>
          <p:cNvSpPr/>
          <p:nvPr/>
        </p:nvSpPr>
        <p:spPr>
          <a:xfrm>
            <a:off x="4992624" y="1920240"/>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0.22</a:t>
            </a:r>
            <a:endParaRPr lang="en-US" sz="1100" dirty="0"/>
          </a:p>
        </p:txBody>
      </p:sp>
      <p:sp>
        <p:nvSpPr>
          <p:cNvPr id="19" name="Shape 17"/>
          <p:cNvSpPr/>
          <p:nvPr/>
        </p:nvSpPr>
        <p:spPr>
          <a:xfrm>
            <a:off x="5742432" y="1920240"/>
            <a:ext cx="713232" cy="713232"/>
          </a:xfrm>
          <a:prstGeom prst="rect">
            <a:avLst/>
          </a:prstGeom>
          <a:solidFill>
            <a:schemeClr val="accent1">
              <a:lumMod val="60000"/>
              <a:lumOff val="40000"/>
            </a:schemeClr>
          </a:solidFill>
          <a:ln w="12700">
            <a:solidFill>
              <a:srgbClr val="FFFFFF"/>
            </a:solidFill>
            <a:prstDash val="solid"/>
          </a:ln>
        </p:spPr>
        <p:txBody>
          <a:bodyPr/>
          <a:lstStyle/>
          <a:p>
            <a:endParaRPr lang="en-US"/>
          </a:p>
        </p:txBody>
      </p:sp>
      <p:sp>
        <p:nvSpPr>
          <p:cNvPr id="20" name="Text 18"/>
          <p:cNvSpPr/>
          <p:nvPr/>
        </p:nvSpPr>
        <p:spPr>
          <a:xfrm>
            <a:off x="5742432" y="1920240"/>
            <a:ext cx="713232" cy="713232"/>
          </a:xfrm>
          <a:prstGeom prst="rect">
            <a:avLst/>
          </a:prstGeom>
          <a:noFill/>
          <a:ln/>
        </p:spPr>
        <p:txBody>
          <a:bodyPr wrap="square" rtlCol="0" anchor="ctr"/>
          <a:lstStyle/>
          <a:p>
            <a:pPr marL="0" indent="0" algn="ctr">
              <a:buNone/>
            </a:pPr>
            <a:r>
              <a:rPr lang="en-US" sz="1100" b="1" dirty="0">
                <a:solidFill>
                  <a:srgbClr val="223522"/>
                </a:solidFill>
                <a:latin typeface="Calibri" pitchFamily="34" charset="0"/>
                <a:ea typeface="Calibri" pitchFamily="34" charset="-122"/>
                <a:cs typeface="Calibri" pitchFamily="34" charset="-120"/>
              </a:rPr>
              <a:t>0.61</a:t>
            </a:r>
            <a:endParaRPr lang="en-US" sz="1100" dirty="0"/>
          </a:p>
        </p:txBody>
      </p:sp>
      <p:sp>
        <p:nvSpPr>
          <p:cNvPr id="21" name="Text 19"/>
          <p:cNvSpPr/>
          <p:nvPr/>
        </p:nvSpPr>
        <p:spPr>
          <a:xfrm>
            <a:off x="1554480" y="2670048"/>
            <a:ext cx="1097280" cy="749808"/>
          </a:xfrm>
          <a:prstGeom prst="rect">
            <a:avLst/>
          </a:prstGeom>
          <a:noFill/>
          <a:ln/>
        </p:spPr>
        <p:txBody>
          <a:bodyPr wrap="square" rtlCol="0" anchor="ctr"/>
          <a:lstStyle/>
          <a:p>
            <a:pPr marL="0" indent="0" algn="r">
              <a:buNone/>
            </a:pPr>
            <a:r>
              <a:rPr lang="en-US" sz="1000" b="1" dirty="0">
                <a:solidFill>
                  <a:srgbClr val="223522"/>
                </a:solidFill>
                <a:latin typeface="Calibri" pitchFamily="34" charset="0"/>
                <a:ea typeface="Calibri" pitchFamily="34" charset="-122"/>
                <a:cs typeface="Calibri" pitchFamily="34" charset="-120"/>
              </a:rPr>
              <a:t>Temp</a:t>
            </a:r>
            <a:endParaRPr lang="en-US" sz="1000" dirty="0"/>
          </a:p>
        </p:txBody>
      </p:sp>
      <p:sp>
        <p:nvSpPr>
          <p:cNvPr id="22" name="Shape 20"/>
          <p:cNvSpPr/>
          <p:nvPr/>
        </p:nvSpPr>
        <p:spPr>
          <a:xfrm>
            <a:off x="2743200" y="2670048"/>
            <a:ext cx="713232" cy="713232"/>
          </a:xfrm>
          <a:prstGeom prst="rect">
            <a:avLst/>
          </a:prstGeom>
          <a:solidFill>
            <a:srgbClr val="E9D9D2"/>
          </a:solidFill>
          <a:ln w="12700">
            <a:solidFill>
              <a:srgbClr val="FFFFFF"/>
            </a:solidFill>
            <a:prstDash val="solid"/>
          </a:ln>
        </p:spPr>
        <p:txBody>
          <a:bodyPr/>
          <a:lstStyle/>
          <a:p>
            <a:endParaRPr lang="en-US"/>
          </a:p>
        </p:txBody>
      </p:sp>
      <p:sp>
        <p:nvSpPr>
          <p:cNvPr id="23" name="Text 21"/>
          <p:cNvSpPr/>
          <p:nvPr/>
        </p:nvSpPr>
        <p:spPr>
          <a:xfrm>
            <a:off x="2743200" y="2670048"/>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-0.18</a:t>
            </a:r>
            <a:endParaRPr lang="en-US" sz="1100" dirty="0"/>
          </a:p>
        </p:txBody>
      </p:sp>
      <p:sp>
        <p:nvSpPr>
          <p:cNvPr id="24" name="Shape 22"/>
          <p:cNvSpPr/>
          <p:nvPr/>
        </p:nvSpPr>
        <p:spPr>
          <a:xfrm>
            <a:off x="3493008" y="2670048"/>
            <a:ext cx="713232" cy="713232"/>
          </a:xfrm>
          <a:prstGeom prst="rect">
            <a:avLst/>
          </a:prstGeom>
          <a:solidFill>
            <a:schemeClr val="accent1"/>
          </a:solidFill>
          <a:ln w="12700">
            <a:solidFill>
              <a:srgbClr val="FFFFFF"/>
            </a:solidFill>
            <a:prstDash val="solid"/>
          </a:ln>
        </p:spPr>
        <p:txBody>
          <a:bodyPr/>
          <a:lstStyle/>
          <a:p>
            <a:endParaRPr lang="en-US"/>
          </a:p>
        </p:txBody>
      </p:sp>
      <p:sp>
        <p:nvSpPr>
          <p:cNvPr id="25" name="Text 23"/>
          <p:cNvSpPr/>
          <p:nvPr/>
        </p:nvSpPr>
        <p:spPr>
          <a:xfrm>
            <a:off x="3493008" y="2670048"/>
            <a:ext cx="713232" cy="7132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a:t>
            </a:r>
            <a:endParaRPr lang="en-US" sz="1100" dirty="0"/>
          </a:p>
        </p:txBody>
      </p:sp>
      <p:sp>
        <p:nvSpPr>
          <p:cNvPr id="26" name="Shape 24"/>
          <p:cNvSpPr/>
          <p:nvPr/>
        </p:nvSpPr>
        <p:spPr>
          <a:xfrm>
            <a:off x="4242816" y="2670048"/>
            <a:ext cx="713232" cy="713232"/>
          </a:xfrm>
          <a:prstGeom prst="rect">
            <a:avLst/>
          </a:prstGeom>
          <a:solidFill>
            <a:srgbClr val="E0E8DE"/>
          </a:solidFill>
          <a:ln w="12700">
            <a:solidFill>
              <a:srgbClr val="FFFFFF"/>
            </a:solidFill>
            <a:prstDash val="solid"/>
          </a:ln>
        </p:spPr>
        <p:txBody>
          <a:bodyPr/>
          <a:lstStyle/>
          <a:p>
            <a:endParaRPr lang="en-US"/>
          </a:p>
        </p:txBody>
      </p:sp>
      <p:sp>
        <p:nvSpPr>
          <p:cNvPr id="27" name="Text 25"/>
          <p:cNvSpPr/>
          <p:nvPr/>
        </p:nvSpPr>
        <p:spPr>
          <a:xfrm>
            <a:off x="4242816" y="2670048"/>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0.10</a:t>
            </a:r>
            <a:endParaRPr lang="en-US" sz="1100" dirty="0"/>
          </a:p>
        </p:txBody>
      </p:sp>
      <p:sp>
        <p:nvSpPr>
          <p:cNvPr id="28" name="Shape 26"/>
          <p:cNvSpPr/>
          <p:nvPr/>
        </p:nvSpPr>
        <p:spPr>
          <a:xfrm>
            <a:off x="4992624" y="2670048"/>
            <a:ext cx="713232" cy="713232"/>
          </a:xfrm>
          <a:prstGeom prst="rect">
            <a:avLst/>
          </a:prstGeom>
          <a:solidFill>
            <a:srgbClr val="F1EFE9"/>
          </a:solidFill>
          <a:ln w="12700">
            <a:solidFill>
              <a:srgbClr val="FFFFFF"/>
            </a:solidFill>
            <a:prstDash val="solid"/>
          </a:ln>
        </p:spPr>
        <p:txBody>
          <a:bodyPr/>
          <a:lstStyle/>
          <a:p>
            <a:endParaRPr lang="en-US"/>
          </a:p>
        </p:txBody>
      </p:sp>
      <p:sp>
        <p:nvSpPr>
          <p:cNvPr id="29" name="Text 27"/>
          <p:cNvSpPr/>
          <p:nvPr/>
        </p:nvSpPr>
        <p:spPr>
          <a:xfrm>
            <a:off x="4992624" y="2670048"/>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-0.05</a:t>
            </a:r>
            <a:endParaRPr lang="en-US" sz="1100" dirty="0"/>
          </a:p>
        </p:txBody>
      </p:sp>
      <p:sp>
        <p:nvSpPr>
          <p:cNvPr id="30" name="Shape 28"/>
          <p:cNvSpPr/>
          <p:nvPr/>
        </p:nvSpPr>
        <p:spPr>
          <a:xfrm>
            <a:off x="5742432" y="2670048"/>
            <a:ext cx="713232" cy="713232"/>
          </a:xfrm>
          <a:prstGeom prst="rect">
            <a:avLst/>
          </a:prstGeom>
          <a:solidFill>
            <a:schemeClr val="accent1">
              <a:lumMod val="40000"/>
              <a:lumOff val="60000"/>
            </a:schemeClr>
          </a:solidFill>
          <a:ln w="12700">
            <a:solidFill>
              <a:srgbClr val="FFFFFF"/>
            </a:solidFill>
            <a:prstDash val="solid"/>
          </a:ln>
        </p:spPr>
        <p:txBody>
          <a:bodyPr/>
          <a:lstStyle/>
          <a:p>
            <a:endParaRPr lang="en-US"/>
          </a:p>
        </p:txBody>
      </p:sp>
      <p:sp>
        <p:nvSpPr>
          <p:cNvPr id="31" name="Text 29"/>
          <p:cNvSpPr/>
          <p:nvPr/>
        </p:nvSpPr>
        <p:spPr>
          <a:xfrm>
            <a:off x="5742432" y="2670048"/>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-0.34</a:t>
            </a:r>
            <a:endParaRPr lang="en-US" sz="1100" dirty="0"/>
          </a:p>
        </p:txBody>
      </p:sp>
      <p:sp>
        <p:nvSpPr>
          <p:cNvPr id="32" name="Text 30"/>
          <p:cNvSpPr/>
          <p:nvPr/>
        </p:nvSpPr>
        <p:spPr>
          <a:xfrm>
            <a:off x="1554480" y="3419856"/>
            <a:ext cx="1097280" cy="749808"/>
          </a:xfrm>
          <a:prstGeom prst="rect">
            <a:avLst/>
          </a:prstGeom>
          <a:noFill/>
          <a:ln/>
        </p:spPr>
        <p:txBody>
          <a:bodyPr wrap="square" rtlCol="0" anchor="ctr"/>
          <a:lstStyle/>
          <a:p>
            <a:pPr marL="0" indent="0" algn="r">
              <a:buNone/>
            </a:pPr>
            <a:r>
              <a:rPr lang="en-US" sz="1000" b="1" dirty="0">
                <a:solidFill>
                  <a:srgbClr val="223522"/>
                </a:solidFill>
                <a:latin typeface="Calibri" pitchFamily="34" charset="0"/>
                <a:ea typeface="Calibri" pitchFamily="34" charset="-122"/>
                <a:cs typeface="Calibri" pitchFamily="34" charset="-120"/>
              </a:rPr>
              <a:t>Pesticide</a:t>
            </a:r>
            <a:endParaRPr lang="en-US" sz="1000" dirty="0"/>
          </a:p>
        </p:txBody>
      </p:sp>
      <p:sp>
        <p:nvSpPr>
          <p:cNvPr id="33" name="Shape 31"/>
          <p:cNvSpPr/>
          <p:nvPr/>
        </p:nvSpPr>
        <p:spPr>
          <a:xfrm>
            <a:off x="2743200" y="3419856"/>
            <a:ext cx="713232" cy="713232"/>
          </a:xfrm>
          <a:prstGeom prst="rect">
            <a:avLst/>
          </a:prstGeom>
          <a:solidFill>
            <a:srgbClr val="EAEFE8"/>
          </a:solidFill>
          <a:ln w="12700">
            <a:solidFill>
              <a:srgbClr val="FFFFFF"/>
            </a:solidFill>
            <a:prstDash val="solid"/>
          </a:ln>
        </p:spPr>
        <p:txBody>
          <a:bodyPr/>
          <a:lstStyle/>
          <a:p>
            <a:endParaRPr lang="en-US"/>
          </a:p>
        </p:txBody>
      </p:sp>
      <p:sp>
        <p:nvSpPr>
          <p:cNvPr id="34" name="Text 32"/>
          <p:cNvSpPr/>
          <p:nvPr/>
        </p:nvSpPr>
        <p:spPr>
          <a:xfrm>
            <a:off x="2743200" y="3419856"/>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0.05</a:t>
            </a:r>
            <a:endParaRPr lang="en-US" sz="1100" dirty="0"/>
          </a:p>
        </p:txBody>
      </p:sp>
      <p:sp>
        <p:nvSpPr>
          <p:cNvPr id="35" name="Shape 33"/>
          <p:cNvSpPr/>
          <p:nvPr/>
        </p:nvSpPr>
        <p:spPr>
          <a:xfrm>
            <a:off x="3493008" y="3419856"/>
            <a:ext cx="713232" cy="713232"/>
          </a:xfrm>
          <a:prstGeom prst="rect">
            <a:avLst/>
          </a:prstGeom>
          <a:solidFill>
            <a:srgbClr val="E0E8DE"/>
          </a:solidFill>
          <a:ln w="12700">
            <a:solidFill>
              <a:srgbClr val="FFFFFF"/>
            </a:solidFill>
            <a:prstDash val="solid"/>
          </a:ln>
        </p:spPr>
        <p:txBody>
          <a:bodyPr/>
          <a:lstStyle/>
          <a:p>
            <a:endParaRPr lang="en-US"/>
          </a:p>
        </p:txBody>
      </p:sp>
      <p:sp>
        <p:nvSpPr>
          <p:cNvPr id="36" name="Text 34"/>
          <p:cNvSpPr/>
          <p:nvPr/>
        </p:nvSpPr>
        <p:spPr>
          <a:xfrm>
            <a:off x="3493008" y="3419856"/>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0.10</a:t>
            </a:r>
            <a:endParaRPr lang="en-US" sz="1100" dirty="0"/>
          </a:p>
        </p:txBody>
      </p:sp>
      <p:sp>
        <p:nvSpPr>
          <p:cNvPr id="37" name="Shape 35"/>
          <p:cNvSpPr/>
          <p:nvPr/>
        </p:nvSpPr>
        <p:spPr>
          <a:xfrm>
            <a:off x="4242816" y="3419856"/>
            <a:ext cx="713232" cy="713232"/>
          </a:xfrm>
          <a:prstGeom prst="rect">
            <a:avLst/>
          </a:prstGeom>
          <a:solidFill>
            <a:schemeClr val="accent1"/>
          </a:solidFill>
          <a:ln w="12700">
            <a:solidFill>
              <a:srgbClr val="FFFFFF"/>
            </a:solidFill>
            <a:prstDash val="solid"/>
          </a:ln>
        </p:spPr>
        <p:txBody>
          <a:bodyPr/>
          <a:lstStyle/>
          <a:p>
            <a:endParaRPr lang="en-US"/>
          </a:p>
        </p:txBody>
      </p:sp>
      <p:sp>
        <p:nvSpPr>
          <p:cNvPr id="38" name="Text 36"/>
          <p:cNvSpPr/>
          <p:nvPr/>
        </p:nvSpPr>
        <p:spPr>
          <a:xfrm>
            <a:off x="4242816" y="3419856"/>
            <a:ext cx="713232" cy="7132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a:t>
            </a:r>
            <a:endParaRPr lang="en-US" sz="1100" dirty="0"/>
          </a:p>
        </p:txBody>
      </p:sp>
      <p:sp>
        <p:nvSpPr>
          <p:cNvPr id="39" name="Shape 37"/>
          <p:cNvSpPr/>
          <p:nvPr/>
        </p:nvSpPr>
        <p:spPr>
          <a:xfrm>
            <a:off x="4992624" y="3419856"/>
            <a:ext cx="713232" cy="713232"/>
          </a:xfrm>
          <a:prstGeom prst="rect">
            <a:avLst/>
          </a:prstGeom>
          <a:solidFill>
            <a:srgbClr val="B6C8B5"/>
          </a:solidFill>
          <a:ln w="12700">
            <a:solidFill>
              <a:srgbClr val="FFFFFF"/>
            </a:solidFill>
            <a:prstDash val="solid"/>
          </a:ln>
        </p:spPr>
        <p:txBody>
          <a:bodyPr/>
          <a:lstStyle/>
          <a:p>
            <a:endParaRPr lang="en-US"/>
          </a:p>
        </p:txBody>
      </p:sp>
      <p:sp>
        <p:nvSpPr>
          <p:cNvPr id="40" name="Text 38"/>
          <p:cNvSpPr/>
          <p:nvPr/>
        </p:nvSpPr>
        <p:spPr>
          <a:xfrm>
            <a:off x="4992624" y="3419856"/>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0.31</a:t>
            </a:r>
            <a:endParaRPr lang="en-US" sz="1100" dirty="0"/>
          </a:p>
        </p:txBody>
      </p:sp>
      <p:sp>
        <p:nvSpPr>
          <p:cNvPr id="41" name="Shape 39"/>
          <p:cNvSpPr/>
          <p:nvPr/>
        </p:nvSpPr>
        <p:spPr>
          <a:xfrm>
            <a:off x="5742432" y="3419856"/>
            <a:ext cx="713232" cy="713232"/>
          </a:xfrm>
          <a:prstGeom prst="rect">
            <a:avLst/>
          </a:prstGeom>
          <a:solidFill>
            <a:schemeClr val="accent1">
              <a:lumMod val="40000"/>
              <a:lumOff val="60000"/>
            </a:schemeClr>
          </a:solidFill>
          <a:ln w="12700">
            <a:solidFill>
              <a:srgbClr val="FFFFFF"/>
            </a:solidFill>
            <a:prstDash val="solid"/>
          </a:ln>
        </p:spPr>
        <p:txBody>
          <a:bodyPr/>
          <a:lstStyle/>
          <a:p>
            <a:endParaRPr lang="en-US"/>
          </a:p>
        </p:txBody>
      </p:sp>
      <p:sp>
        <p:nvSpPr>
          <p:cNvPr id="42" name="Text 40"/>
          <p:cNvSpPr/>
          <p:nvPr/>
        </p:nvSpPr>
        <p:spPr>
          <a:xfrm>
            <a:off x="5742432" y="3419856"/>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-0.22</a:t>
            </a:r>
            <a:endParaRPr lang="en-US" sz="1100" dirty="0"/>
          </a:p>
        </p:txBody>
      </p:sp>
      <p:sp>
        <p:nvSpPr>
          <p:cNvPr id="43" name="Text 41"/>
          <p:cNvSpPr/>
          <p:nvPr/>
        </p:nvSpPr>
        <p:spPr>
          <a:xfrm>
            <a:off x="1554480" y="4169664"/>
            <a:ext cx="1097280" cy="749808"/>
          </a:xfrm>
          <a:prstGeom prst="rect">
            <a:avLst/>
          </a:prstGeom>
          <a:noFill/>
          <a:ln/>
        </p:spPr>
        <p:txBody>
          <a:bodyPr wrap="square" rtlCol="0" anchor="ctr"/>
          <a:lstStyle/>
          <a:p>
            <a:pPr marL="0" indent="0" algn="r">
              <a:buNone/>
            </a:pPr>
            <a:r>
              <a:rPr lang="en-US" sz="1000" b="1" dirty="0">
                <a:solidFill>
                  <a:srgbClr val="223522"/>
                </a:solidFill>
                <a:latin typeface="Calibri" pitchFamily="34" charset="0"/>
                <a:ea typeface="Calibri" pitchFamily="34" charset="-122"/>
                <a:cs typeface="Calibri" pitchFamily="34" charset="-120"/>
              </a:rPr>
              <a:t>Fertilizer</a:t>
            </a:r>
            <a:endParaRPr lang="en-US" sz="1000" dirty="0"/>
          </a:p>
        </p:txBody>
      </p:sp>
      <p:sp>
        <p:nvSpPr>
          <p:cNvPr id="44" name="Shape 42"/>
          <p:cNvSpPr/>
          <p:nvPr/>
        </p:nvSpPr>
        <p:spPr>
          <a:xfrm>
            <a:off x="2743200" y="4169664"/>
            <a:ext cx="713232" cy="713232"/>
          </a:xfrm>
          <a:prstGeom prst="rect">
            <a:avLst/>
          </a:prstGeom>
          <a:solidFill>
            <a:srgbClr val="C8D6C7"/>
          </a:solidFill>
          <a:ln w="12700">
            <a:solidFill>
              <a:srgbClr val="FFFFFF"/>
            </a:solidFill>
            <a:prstDash val="solid"/>
          </a:ln>
        </p:spPr>
        <p:txBody>
          <a:bodyPr/>
          <a:lstStyle/>
          <a:p>
            <a:endParaRPr lang="en-US"/>
          </a:p>
        </p:txBody>
      </p:sp>
      <p:sp>
        <p:nvSpPr>
          <p:cNvPr id="45" name="Text 43"/>
          <p:cNvSpPr/>
          <p:nvPr/>
        </p:nvSpPr>
        <p:spPr>
          <a:xfrm>
            <a:off x="2743200" y="4169664"/>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0.22</a:t>
            </a:r>
            <a:endParaRPr lang="en-US" sz="1100" dirty="0"/>
          </a:p>
        </p:txBody>
      </p:sp>
      <p:sp>
        <p:nvSpPr>
          <p:cNvPr id="46" name="Shape 44"/>
          <p:cNvSpPr/>
          <p:nvPr/>
        </p:nvSpPr>
        <p:spPr>
          <a:xfrm>
            <a:off x="3493008" y="4169664"/>
            <a:ext cx="713232" cy="713232"/>
          </a:xfrm>
          <a:prstGeom prst="rect">
            <a:avLst/>
          </a:prstGeom>
          <a:solidFill>
            <a:srgbClr val="F1EFE9"/>
          </a:solidFill>
          <a:ln w="12700">
            <a:solidFill>
              <a:srgbClr val="FFFFFF"/>
            </a:solidFill>
            <a:prstDash val="solid"/>
          </a:ln>
        </p:spPr>
        <p:txBody>
          <a:bodyPr/>
          <a:lstStyle/>
          <a:p>
            <a:endParaRPr lang="en-US"/>
          </a:p>
        </p:txBody>
      </p:sp>
      <p:sp>
        <p:nvSpPr>
          <p:cNvPr id="47" name="Text 45"/>
          <p:cNvSpPr/>
          <p:nvPr/>
        </p:nvSpPr>
        <p:spPr>
          <a:xfrm>
            <a:off x="3493008" y="4169664"/>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-0.05</a:t>
            </a:r>
            <a:endParaRPr lang="en-US" sz="1100" dirty="0"/>
          </a:p>
        </p:txBody>
      </p:sp>
      <p:sp>
        <p:nvSpPr>
          <p:cNvPr id="48" name="Shape 46"/>
          <p:cNvSpPr/>
          <p:nvPr/>
        </p:nvSpPr>
        <p:spPr>
          <a:xfrm>
            <a:off x="4242816" y="4169664"/>
            <a:ext cx="713232" cy="713232"/>
          </a:xfrm>
          <a:prstGeom prst="rect">
            <a:avLst/>
          </a:prstGeom>
          <a:solidFill>
            <a:srgbClr val="B6C8B5"/>
          </a:solidFill>
          <a:ln w="12700">
            <a:solidFill>
              <a:srgbClr val="FFFFFF"/>
            </a:solidFill>
            <a:prstDash val="solid"/>
          </a:ln>
        </p:spPr>
        <p:txBody>
          <a:bodyPr/>
          <a:lstStyle/>
          <a:p>
            <a:endParaRPr lang="en-US"/>
          </a:p>
        </p:txBody>
      </p:sp>
      <p:sp>
        <p:nvSpPr>
          <p:cNvPr id="49" name="Text 47"/>
          <p:cNvSpPr/>
          <p:nvPr/>
        </p:nvSpPr>
        <p:spPr>
          <a:xfrm>
            <a:off x="4242816" y="4169664"/>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0.31</a:t>
            </a:r>
            <a:endParaRPr lang="en-US" sz="1100" dirty="0"/>
          </a:p>
        </p:txBody>
      </p:sp>
      <p:sp>
        <p:nvSpPr>
          <p:cNvPr id="50" name="Shape 48"/>
          <p:cNvSpPr/>
          <p:nvPr/>
        </p:nvSpPr>
        <p:spPr>
          <a:xfrm>
            <a:off x="4992624" y="4169664"/>
            <a:ext cx="713232" cy="713232"/>
          </a:xfrm>
          <a:prstGeom prst="rect">
            <a:avLst/>
          </a:prstGeom>
          <a:solidFill>
            <a:schemeClr val="accent1"/>
          </a:solidFill>
          <a:ln w="12700">
            <a:solidFill>
              <a:srgbClr val="FFFFFF"/>
            </a:solidFill>
            <a:prstDash val="solid"/>
          </a:ln>
        </p:spPr>
        <p:txBody>
          <a:bodyPr/>
          <a:lstStyle/>
          <a:p>
            <a:endParaRPr lang="en-US"/>
          </a:p>
        </p:txBody>
      </p:sp>
      <p:sp>
        <p:nvSpPr>
          <p:cNvPr id="51" name="Text 49"/>
          <p:cNvSpPr/>
          <p:nvPr/>
        </p:nvSpPr>
        <p:spPr>
          <a:xfrm>
            <a:off x="4992624" y="4169664"/>
            <a:ext cx="713232" cy="7132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a:t>
            </a:r>
            <a:endParaRPr lang="en-US" sz="1100" dirty="0"/>
          </a:p>
        </p:txBody>
      </p:sp>
      <p:sp>
        <p:nvSpPr>
          <p:cNvPr id="52" name="Shape 50"/>
          <p:cNvSpPr/>
          <p:nvPr/>
        </p:nvSpPr>
        <p:spPr>
          <a:xfrm>
            <a:off x="5742432" y="4169664"/>
            <a:ext cx="713232" cy="713232"/>
          </a:xfrm>
          <a:prstGeom prst="rect">
            <a:avLst/>
          </a:prstGeom>
          <a:solidFill>
            <a:srgbClr val="94AE93"/>
          </a:solidFill>
          <a:ln w="12700">
            <a:solidFill>
              <a:srgbClr val="FFFFFF"/>
            </a:solidFill>
            <a:prstDash val="solid"/>
          </a:ln>
        </p:spPr>
        <p:txBody>
          <a:bodyPr/>
          <a:lstStyle/>
          <a:p>
            <a:endParaRPr lang="en-US"/>
          </a:p>
        </p:txBody>
      </p:sp>
      <p:sp>
        <p:nvSpPr>
          <p:cNvPr id="53" name="Text 51"/>
          <p:cNvSpPr/>
          <p:nvPr/>
        </p:nvSpPr>
        <p:spPr>
          <a:xfrm>
            <a:off x="5742432" y="4169664"/>
            <a:ext cx="713232" cy="713232"/>
          </a:xfrm>
          <a:prstGeom prst="rect">
            <a:avLst/>
          </a:prstGeom>
          <a:noFill/>
          <a:ln/>
        </p:spPr>
        <p:txBody>
          <a:bodyPr wrap="square" rtlCol="0" anchor="ctr"/>
          <a:lstStyle/>
          <a:p>
            <a:pPr marL="0" indent="0" algn="ctr">
              <a:buNone/>
            </a:pPr>
            <a:r>
              <a:rPr lang="en-US" sz="1100" b="1" dirty="0">
                <a:solidFill>
                  <a:srgbClr val="223522"/>
                </a:solidFill>
                <a:latin typeface="Calibri" pitchFamily="34" charset="0"/>
                <a:ea typeface="Calibri" pitchFamily="34" charset="-122"/>
                <a:cs typeface="Calibri" pitchFamily="34" charset="-120"/>
              </a:rPr>
              <a:t>0.48</a:t>
            </a:r>
            <a:endParaRPr lang="en-US" sz="1100" dirty="0"/>
          </a:p>
        </p:txBody>
      </p:sp>
      <p:sp>
        <p:nvSpPr>
          <p:cNvPr id="54" name="Text 52"/>
          <p:cNvSpPr/>
          <p:nvPr/>
        </p:nvSpPr>
        <p:spPr>
          <a:xfrm>
            <a:off x="1554480" y="4919472"/>
            <a:ext cx="1097280" cy="749808"/>
          </a:xfrm>
          <a:prstGeom prst="rect">
            <a:avLst/>
          </a:prstGeom>
          <a:noFill/>
          <a:ln/>
        </p:spPr>
        <p:txBody>
          <a:bodyPr wrap="square" rtlCol="0" anchor="ctr"/>
          <a:lstStyle/>
          <a:p>
            <a:pPr marL="0" indent="0" algn="r">
              <a:buNone/>
            </a:pPr>
            <a:r>
              <a:rPr lang="en-US" sz="1000" b="1" dirty="0">
                <a:solidFill>
                  <a:srgbClr val="223522"/>
                </a:solidFill>
                <a:latin typeface="Calibri" pitchFamily="34" charset="0"/>
                <a:ea typeface="Calibri" pitchFamily="34" charset="-122"/>
                <a:cs typeface="Calibri" pitchFamily="34" charset="-120"/>
              </a:rPr>
              <a:t>Yield</a:t>
            </a:r>
            <a:endParaRPr lang="en-US" sz="1000" dirty="0"/>
          </a:p>
        </p:txBody>
      </p:sp>
      <p:sp>
        <p:nvSpPr>
          <p:cNvPr id="55" name="Shape 53"/>
          <p:cNvSpPr/>
          <p:nvPr/>
        </p:nvSpPr>
        <p:spPr>
          <a:xfrm>
            <a:off x="2743200" y="4919472"/>
            <a:ext cx="713232" cy="713232"/>
          </a:xfrm>
          <a:prstGeom prst="rect">
            <a:avLst/>
          </a:prstGeom>
          <a:solidFill>
            <a:srgbClr val="7A9A7A"/>
          </a:solidFill>
          <a:ln w="12700">
            <a:solidFill>
              <a:srgbClr val="FFFFFF"/>
            </a:solidFill>
            <a:prstDash val="solid"/>
          </a:ln>
        </p:spPr>
        <p:txBody>
          <a:bodyPr/>
          <a:lstStyle/>
          <a:p>
            <a:endParaRPr lang="en-US"/>
          </a:p>
        </p:txBody>
      </p:sp>
      <p:sp>
        <p:nvSpPr>
          <p:cNvPr id="56" name="Text 54"/>
          <p:cNvSpPr/>
          <p:nvPr/>
        </p:nvSpPr>
        <p:spPr>
          <a:xfrm>
            <a:off x="2743200" y="4919472"/>
            <a:ext cx="713232" cy="713232"/>
          </a:xfrm>
          <a:prstGeom prst="rect">
            <a:avLst/>
          </a:prstGeom>
          <a:solidFill>
            <a:schemeClr val="accent1">
              <a:lumMod val="75000"/>
            </a:schemeClr>
          </a:solidFill>
          <a:ln/>
        </p:spPr>
        <p:txBody>
          <a:bodyPr wrap="square" rtlCol="0" anchor="ctr"/>
          <a:lstStyle/>
          <a:p>
            <a:pPr marL="0" indent="0" algn="ctr">
              <a:buNone/>
            </a:pPr>
            <a:r>
              <a:rPr lang="en-US" sz="1100" b="1" dirty="0">
                <a:solidFill>
                  <a:srgbClr val="223522"/>
                </a:solidFill>
                <a:latin typeface="Calibri" pitchFamily="34" charset="0"/>
                <a:ea typeface="Calibri" pitchFamily="34" charset="-122"/>
                <a:cs typeface="Calibri" pitchFamily="34" charset="-120"/>
              </a:rPr>
              <a:t>0.61</a:t>
            </a:r>
            <a:endParaRPr lang="en-US" sz="1100" dirty="0"/>
          </a:p>
        </p:txBody>
      </p:sp>
      <p:sp>
        <p:nvSpPr>
          <p:cNvPr id="57" name="Shape 55"/>
          <p:cNvSpPr/>
          <p:nvPr/>
        </p:nvSpPr>
        <p:spPr>
          <a:xfrm>
            <a:off x="3493008" y="4919472"/>
            <a:ext cx="713232" cy="713232"/>
          </a:xfrm>
          <a:prstGeom prst="rect">
            <a:avLst/>
          </a:prstGeom>
          <a:solidFill>
            <a:srgbClr val="E0BEB6"/>
          </a:solidFill>
          <a:ln w="12700">
            <a:solidFill>
              <a:srgbClr val="FFFFFF"/>
            </a:solidFill>
            <a:prstDash val="solid"/>
          </a:ln>
        </p:spPr>
        <p:txBody>
          <a:bodyPr/>
          <a:lstStyle/>
          <a:p>
            <a:endParaRPr lang="en-US"/>
          </a:p>
        </p:txBody>
      </p:sp>
      <p:sp>
        <p:nvSpPr>
          <p:cNvPr id="58" name="Text 56"/>
          <p:cNvSpPr/>
          <p:nvPr/>
        </p:nvSpPr>
        <p:spPr>
          <a:xfrm>
            <a:off x="3493008" y="4919472"/>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-0.34</a:t>
            </a:r>
            <a:endParaRPr lang="en-US" sz="1100" dirty="0"/>
          </a:p>
        </p:txBody>
      </p:sp>
      <p:sp>
        <p:nvSpPr>
          <p:cNvPr id="59" name="Shape 57"/>
          <p:cNvSpPr/>
          <p:nvPr/>
        </p:nvSpPr>
        <p:spPr>
          <a:xfrm>
            <a:off x="4242816" y="4919472"/>
            <a:ext cx="713232" cy="713232"/>
          </a:xfrm>
          <a:prstGeom prst="rect">
            <a:avLst/>
          </a:prstGeom>
          <a:solidFill>
            <a:srgbClr val="E7D2CB"/>
          </a:solidFill>
          <a:ln w="12700">
            <a:solidFill>
              <a:srgbClr val="FFFFFF"/>
            </a:solidFill>
            <a:prstDash val="solid"/>
          </a:ln>
        </p:spPr>
        <p:txBody>
          <a:bodyPr/>
          <a:lstStyle/>
          <a:p>
            <a:endParaRPr lang="en-US"/>
          </a:p>
        </p:txBody>
      </p:sp>
      <p:sp>
        <p:nvSpPr>
          <p:cNvPr id="60" name="Text 58"/>
          <p:cNvSpPr/>
          <p:nvPr/>
        </p:nvSpPr>
        <p:spPr>
          <a:xfrm>
            <a:off x="4242816" y="4919472"/>
            <a:ext cx="713232" cy="713232"/>
          </a:xfrm>
          <a:prstGeom prst="rect">
            <a:avLst/>
          </a:prstGeom>
          <a:noFill/>
          <a:ln/>
        </p:spPr>
        <p:txBody>
          <a:bodyPr wrap="square" rtlCol="0" anchor="ctr"/>
          <a:lstStyle/>
          <a:p>
            <a:pPr marL="0" indent="0" algn="ctr">
              <a:buNone/>
            </a:pPr>
            <a:r>
              <a:rPr lang="en-US" sz="1100" dirty="0">
                <a:solidFill>
                  <a:srgbClr val="223522"/>
                </a:solidFill>
                <a:latin typeface="Calibri" pitchFamily="34" charset="0"/>
                <a:ea typeface="Calibri" pitchFamily="34" charset="-122"/>
                <a:cs typeface="Calibri" pitchFamily="34" charset="-120"/>
              </a:rPr>
              <a:t>-0.22</a:t>
            </a:r>
            <a:endParaRPr lang="en-US" sz="1100" dirty="0"/>
          </a:p>
        </p:txBody>
      </p:sp>
      <p:sp>
        <p:nvSpPr>
          <p:cNvPr id="61" name="Shape 59"/>
          <p:cNvSpPr/>
          <p:nvPr/>
        </p:nvSpPr>
        <p:spPr>
          <a:xfrm>
            <a:off x="4992624" y="4919472"/>
            <a:ext cx="713232" cy="713232"/>
          </a:xfrm>
          <a:prstGeom prst="rect">
            <a:avLst/>
          </a:prstGeom>
          <a:solidFill>
            <a:srgbClr val="94AE93"/>
          </a:solidFill>
          <a:ln w="12700">
            <a:solidFill>
              <a:srgbClr val="FFFFFF"/>
            </a:solidFill>
            <a:prstDash val="solid"/>
          </a:ln>
        </p:spPr>
        <p:txBody>
          <a:bodyPr/>
          <a:lstStyle/>
          <a:p>
            <a:endParaRPr lang="en-US"/>
          </a:p>
        </p:txBody>
      </p:sp>
      <p:sp>
        <p:nvSpPr>
          <p:cNvPr id="62" name="Text 60"/>
          <p:cNvSpPr/>
          <p:nvPr/>
        </p:nvSpPr>
        <p:spPr>
          <a:xfrm>
            <a:off x="4992624" y="4919472"/>
            <a:ext cx="713232" cy="713232"/>
          </a:xfrm>
          <a:prstGeom prst="rect">
            <a:avLst/>
          </a:prstGeom>
          <a:noFill/>
          <a:ln/>
        </p:spPr>
        <p:txBody>
          <a:bodyPr wrap="square" rtlCol="0" anchor="ctr"/>
          <a:lstStyle/>
          <a:p>
            <a:pPr marL="0" indent="0" algn="ctr">
              <a:buNone/>
            </a:pPr>
            <a:r>
              <a:rPr lang="en-US" sz="1100" b="1" dirty="0">
                <a:solidFill>
                  <a:srgbClr val="223522"/>
                </a:solidFill>
                <a:latin typeface="Calibri" pitchFamily="34" charset="0"/>
                <a:ea typeface="Calibri" pitchFamily="34" charset="-122"/>
                <a:cs typeface="Calibri" pitchFamily="34" charset="-120"/>
              </a:rPr>
              <a:t>0.48</a:t>
            </a:r>
            <a:endParaRPr lang="en-US" sz="1100" dirty="0"/>
          </a:p>
        </p:txBody>
      </p:sp>
      <p:sp>
        <p:nvSpPr>
          <p:cNvPr id="63" name="Shape 61"/>
          <p:cNvSpPr/>
          <p:nvPr/>
        </p:nvSpPr>
        <p:spPr>
          <a:xfrm>
            <a:off x="5742432" y="4919472"/>
            <a:ext cx="713232" cy="713232"/>
          </a:xfrm>
          <a:prstGeom prst="rect">
            <a:avLst/>
          </a:prstGeom>
          <a:solidFill>
            <a:schemeClr val="accent1"/>
          </a:solidFill>
          <a:ln w="12700">
            <a:solidFill>
              <a:srgbClr val="FFFFFF"/>
            </a:solidFill>
            <a:prstDash val="solid"/>
          </a:ln>
        </p:spPr>
        <p:txBody>
          <a:bodyPr/>
          <a:lstStyle/>
          <a:p>
            <a:endParaRPr lang="en-US"/>
          </a:p>
        </p:txBody>
      </p:sp>
      <p:sp>
        <p:nvSpPr>
          <p:cNvPr id="64" name="Text 62"/>
          <p:cNvSpPr/>
          <p:nvPr/>
        </p:nvSpPr>
        <p:spPr>
          <a:xfrm>
            <a:off x="5742432" y="4919472"/>
            <a:ext cx="713232" cy="713232"/>
          </a:xfrm>
          <a:prstGeom prst="rect">
            <a:avLst/>
          </a:prstGeom>
          <a:noFill/>
          <a:ln/>
        </p:spPr>
        <p:txBody>
          <a:bodyPr wrap="square"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1.00</a:t>
            </a:r>
            <a:endParaRPr lang="en-US" sz="1100" dirty="0"/>
          </a:p>
        </p:txBody>
      </p:sp>
      <p:sp>
        <p:nvSpPr>
          <p:cNvPr id="65" name="Text 63"/>
          <p:cNvSpPr/>
          <p:nvPr/>
        </p:nvSpPr>
        <p:spPr>
          <a:xfrm>
            <a:off x="1554480" y="5989320"/>
            <a:ext cx="8869680" cy="548640"/>
          </a:xfrm>
          <a:prstGeom prst="rect">
            <a:avLst/>
          </a:prstGeom>
          <a:noFill/>
          <a:ln/>
        </p:spPr>
        <p:txBody>
          <a:bodyPr wrap="square" rtlCol="0" anchor="ctr"/>
          <a:lstStyle/>
          <a:p>
            <a:pPr marL="0" indent="0">
              <a:buNone/>
            </a:pPr>
            <a:r>
              <a:rPr lang="en-US" sz="1200" b="1" dirty="0">
                <a:solidFill>
                  <a:srgbClr val="223522"/>
                </a:solidFill>
                <a:latin typeface="Calibri" pitchFamily="34" charset="0"/>
                <a:ea typeface="Calibri" pitchFamily="34" charset="-122"/>
                <a:cs typeface="Calibri" pitchFamily="34" charset="-120"/>
              </a:rPr>
              <a:t>Key read: </a:t>
            </a:r>
            <a:r>
              <a:rPr lang="en-US" sz="1200" dirty="0">
                <a:solidFill>
                  <a:srgbClr val="6B7A6B"/>
                </a:solidFill>
                <a:latin typeface="Calibri" pitchFamily="34" charset="0"/>
                <a:ea typeface="Calibri" pitchFamily="34" charset="-122"/>
                <a:cs typeface="Calibri" pitchFamily="34" charset="-120"/>
              </a:rPr>
              <a:t>Rainfall (+0.61) and fertilizer usage (+0.48) correlate most strongly with yield; temperature shows a moderate negative relationship (–0.34).</a:t>
            </a:r>
            <a:endParaRPr lang="en-US" sz="1200" dirty="0"/>
          </a:p>
        </p:txBody>
      </p:sp>
      <p:sp>
        <p:nvSpPr>
          <p:cNvPr id="67" name="Text 65"/>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04 — EXPLORATORY DATA ANALYSIS</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Average Yield by Crop Type</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bar chart comparison]</a:t>
            </a:r>
            <a:endParaRPr lang="en-US" sz="900" dirty="0"/>
          </a:p>
        </p:txBody>
      </p:sp>
      <p:graphicFrame>
        <p:nvGraphicFramePr>
          <p:cNvPr id="5" name="Chart 0"/>
          <p:cNvGraphicFramePr/>
          <p:nvPr>
            <p:extLst>
              <p:ext uri="{D42A27DB-BD31-4B8C-83A1-F6EECF244321}">
                <p14:modId xmlns:p14="http://schemas.microsoft.com/office/powerpoint/2010/main" val="1367549354"/>
              </p:ext>
            </p:extLst>
          </p:nvPr>
        </p:nvGraphicFramePr>
        <p:xfrm>
          <a:off x="548640" y="1691640"/>
          <a:ext cx="758952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366760" y="1691640"/>
            <a:ext cx="3246120" cy="4297680"/>
          </a:xfrm>
          <a:prstGeom prst="roundRect">
            <a:avLst>
              <a:gd name="adj" fmla="val 2254"/>
            </a:avLst>
          </a:prstGeom>
          <a:solidFill>
            <a:srgbClr val="F4F7F2"/>
          </a:solidFill>
          <a:ln/>
        </p:spPr>
        <p:txBody>
          <a:bodyPr/>
          <a:lstStyle/>
          <a:p>
            <a:endParaRPr lang="en-US"/>
          </a:p>
        </p:txBody>
      </p:sp>
      <p:sp>
        <p:nvSpPr>
          <p:cNvPr id="7" name="Shape 4"/>
          <p:cNvSpPr/>
          <p:nvPr/>
        </p:nvSpPr>
        <p:spPr>
          <a:xfrm>
            <a:off x="9624060" y="1988820"/>
            <a:ext cx="685800" cy="685800"/>
          </a:xfrm>
          <a:prstGeom prst="ellipse">
            <a:avLst/>
          </a:prstGeom>
          <a:solidFill>
            <a:schemeClr val="accent1">
              <a:lumMod val="75000"/>
            </a:schemeClr>
          </a:solidFill>
          <a:ln/>
        </p:spPr>
        <p:txBody>
          <a:bodyPr/>
          <a:lstStyle/>
          <a:p>
            <a:endParaRPr lang="en-US"/>
          </a:p>
        </p:txBody>
      </p:sp>
      <p:pic>
        <p:nvPicPr>
          <p:cNvPr id="8" name="Image 0" descr="/home/claude/crop_yield_ppt/icons/wheat_FFFFFF.png"/>
          <p:cNvPicPr>
            <a:picLocks noChangeAspect="1"/>
          </p:cNvPicPr>
          <p:nvPr/>
        </p:nvPicPr>
        <p:blipFill>
          <a:blip r:embed="rId4"/>
          <a:stretch>
            <a:fillRect/>
          </a:stretch>
        </p:blipFill>
        <p:spPr>
          <a:xfrm>
            <a:off x="9778365" y="2143125"/>
            <a:ext cx="377190" cy="377190"/>
          </a:xfrm>
          <a:prstGeom prst="rect">
            <a:avLst/>
          </a:prstGeom>
        </p:spPr>
      </p:pic>
      <p:sp>
        <p:nvSpPr>
          <p:cNvPr id="9" name="Text 5"/>
          <p:cNvSpPr/>
          <p:nvPr/>
        </p:nvSpPr>
        <p:spPr>
          <a:xfrm>
            <a:off x="8595360" y="2880360"/>
            <a:ext cx="2788920" cy="365760"/>
          </a:xfrm>
          <a:prstGeom prst="rect">
            <a:avLst/>
          </a:prstGeom>
          <a:noFill/>
          <a:ln/>
        </p:spPr>
        <p:txBody>
          <a:bodyPr wrap="square" rtlCol="0" anchor="ctr"/>
          <a:lstStyle/>
          <a:p>
            <a:pPr marL="0" indent="0" algn="ctr">
              <a:buNone/>
            </a:pPr>
            <a:r>
              <a:rPr lang="en-US" sz="1500" b="1" dirty="0">
                <a:solidFill>
                  <a:srgbClr val="223522"/>
                </a:solidFill>
                <a:latin typeface="Cambria" pitchFamily="34" charset="0"/>
                <a:ea typeface="Cambria" pitchFamily="34" charset="-122"/>
                <a:cs typeface="Cambria" pitchFamily="34" charset="-120"/>
              </a:rPr>
              <a:t>Sugarcane leads</a:t>
            </a:r>
            <a:endParaRPr lang="en-US" sz="1500" dirty="0"/>
          </a:p>
        </p:txBody>
      </p:sp>
      <p:sp>
        <p:nvSpPr>
          <p:cNvPr id="10" name="Text 6"/>
          <p:cNvSpPr/>
          <p:nvPr/>
        </p:nvSpPr>
        <p:spPr>
          <a:xfrm>
            <a:off x="8641080" y="3291840"/>
            <a:ext cx="2697480" cy="2468880"/>
          </a:xfrm>
          <a:prstGeom prst="rect">
            <a:avLst/>
          </a:prstGeom>
          <a:noFill/>
          <a:ln/>
        </p:spPr>
        <p:txBody>
          <a:bodyPr wrap="square" rtlCol="0" anchor="ctr"/>
          <a:lstStyle/>
          <a:p>
            <a:pPr marL="0" indent="0" algn="ctr">
              <a:buNone/>
            </a:pPr>
            <a:r>
              <a:rPr lang="en-US" sz="1150" dirty="0">
                <a:solidFill>
                  <a:srgbClr val="6B7A6B"/>
                </a:solidFill>
                <a:latin typeface="Calibri" pitchFamily="34" charset="0"/>
                <a:ea typeface="Calibri" pitchFamily="34" charset="-122"/>
                <a:cs typeface="Calibri" pitchFamily="34" charset="-120"/>
              </a:rPr>
              <a:t>at 7.9 t/ha on average, followed by maize and rice. Cotton shows the lowest average yield in this sample, consistent with its lower water and nutrient responsiveness.</a:t>
            </a:r>
            <a:endParaRPr lang="en-US" sz="1150" dirty="0"/>
          </a:p>
        </p:txBody>
      </p:sp>
      <p:sp>
        <p:nvSpPr>
          <p:cNvPr id="12" name="Text 8"/>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04 — EXPLORATORY DATA ANALYSIS</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Yield by Season &amp; Region</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grouped charts]</a:t>
            </a:r>
            <a:endParaRPr lang="en-US" sz="900" dirty="0"/>
          </a:p>
        </p:txBody>
      </p:sp>
      <p:graphicFrame>
        <p:nvGraphicFramePr>
          <p:cNvPr id="5" name="Chart 0"/>
          <p:cNvGraphicFramePr/>
          <p:nvPr>
            <p:extLst>
              <p:ext uri="{D42A27DB-BD31-4B8C-83A1-F6EECF244321}">
                <p14:modId xmlns:p14="http://schemas.microsoft.com/office/powerpoint/2010/main" val="538794198"/>
              </p:ext>
            </p:extLst>
          </p:nvPr>
        </p:nvGraphicFramePr>
        <p:xfrm>
          <a:off x="548640" y="1737360"/>
          <a:ext cx="11064240" cy="420624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04 — EXPLORATORY DATA ANALYSIS</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Key Insights from EDA</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insight highlights]</a:t>
            </a:r>
            <a:endParaRPr lang="en-US" sz="900" dirty="0"/>
          </a:p>
        </p:txBody>
      </p:sp>
      <p:sp>
        <p:nvSpPr>
          <p:cNvPr id="5" name="Shape 3"/>
          <p:cNvSpPr/>
          <p:nvPr/>
        </p:nvSpPr>
        <p:spPr>
          <a:xfrm>
            <a:off x="548640" y="1691640"/>
            <a:ext cx="5349240" cy="1965960"/>
          </a:xfrm>
          <a:prstGeom prst="roundRect">
            <a:avLst>
              <a:gd name="adj" fmla="val 3721"/>
            </a:avLst>
          </a:prstGeom>
          <a:solidFill>
            <a:srgbClr val="F4F7F2"/>
          </a:solidFill>
          <a:ln/>
        </p:spPr>
        <p:txBody>
          <a:bodyPr/>
          <a:lstStyle/>
          <a:p>
            <a:endParaRPr lang="en-US"/>
          </a:p>
        </p:txBody>
      </p:sp>
      <p:sp>
        <p:nvSpPr>
          <p:cNvPr id="6" name="Shape 4"/>
          <p:cNvSpPr/>
          <p:nvPr/>
        </p:nvSpPr>
        <p:spPr>
          <a:xfrm>
            <a:off x="800100" y="2331720"/>
            <a:ext cx="685800" cy="685800"/>
          </a:xfrm>
          <a:prstGeom prst="ellipse">
            <a:avLst/>
          </a:prstGeom>
          <a:solidFill>
            <a:schemeClr val="accent1"/>
          </a:solidFill>
          <a:ln>
            <a:solidFill>
              <a:schemeClr val="accent1"/>
            </a:solidFill>
          </a:ln>
        </p:spPr>
        <p:txBody>
          <a:bodyPr/>
          <a:lstStyle/>
          <a:p>
            <a:endParaRPr lang="en-US"/>
          </a:p>
        </p:txBody>
      </p:sp>
      <p:pic>
        <p:nvPicPr>
          <p:cNvPr id="7" name="Image 0" descr="/home/claude/crop_yield_ppt/icons/cloud_FFFFFF.png"/>
          <p:cNvPicPr>
            <a:picLocks noChangeAspect="1"/>
          </p:cNvPicPr>
          <p:nvPr/>
        </p:nvPicPr>
        <p:blipFill>
          <a:blip r:embed="rId3"/>
          <a:stretch>
            <a:fillRect/>
          </a:stretch>
        </p:blipFill>
        <p:spPr>
          <a:xfrm>
            <a:off x="954405" y="2486025"/>
            <a:ext cx="377190" cy="377190"/>
          </a:xfrm>
          <a:prstGeom prst="rect">
            <a:avLst/>
          </a:prstGeom>
          <a:solidFill>
            <a:schemeClr val="accent1"/>
          </a:solidFill>
          <a:ln>
            <a:solidFill>
              <a:schemeClr val="accent1"/>
            </a:solidFill>
          </a:ln>
        </p:spPr>
      </p:pic>
      <p:sp>
        <p:nvSpPr>
          <p:cNvPr id="8" name="Text 5"/>
          <p:cNvSpPr/>
          <p:nvPr/>
        </p:nvSpPr>
        <p:spPr>
          <a:xfrm>
            <a:off x="1691640" y="1874520"/>
            <a:ext cx="3977640" cy="1600200"/>
          </a:xfrm>
          <a:prstGeom prst="rect">
            <a:avLst/>
          </a:prstGeom>
          <a:noFill/>
          <a:ln/>
        </p:spPr>
        <p:txBody>
          <a:bodyPr wrap="square" rtlCol="0" anchor="ctr"/>
          <a:lstStyle/>
          <a:p>
            <a:pPr marL="0" indent="0">
              <a:lnSpc>
                <a:spcPct val="115000"/>
              </a:lnSpc>
              <a:buNone/>
            </a:pPr>
            <a:r>
              <a:rPr lang="en-US" sz="1350" b="1" dirty="0">
                <a:solidFill>
                  <a:srgbClr val="223522"/>
                </a:solidFill>
                <a:latin typeface="Calibri" pitchFamily="34" charset="0"/>
                <a:ea typeface="Calibri" pitchFamily="34" charset="-122"/>
                <a:cs typeface="Calibri" pitchFamily="34" charset="-120"/>
              </a:rPr>
              <a:t>Rainfall is the strongest single driver  </a:t>
            </a:r>
            <a:r>
              <a:rPr lang="en-US" sz="1150" dirty="0">
                <a:solidFill>
                  <a:srgbClr val="6B7A6B"/>
                </a:solidFill>
                <a:latin typeface="Calibri" pitchFamily="34" charset="0"/>
                <a:ea typeface="Calibri" pitchFamily="34" charset="-122"/>
                <a:cs typeface="Calibri" pitchFamily="34" charset="-120"/>
              </a:rPr>
              <a:t>with a +0.61 correlation to yield — far ahead of any other feature.</a:t>
            </a:r>
            <a:endParaRPr lang="en-US" sz="1350" dirty="0"/>
          </a:p>
        </p:txBody>
      </p:sp>
      <p:sp>
        <p:nvSpPr>
          <p:cNvPr id="9" name="Shape 6"/>
          <p:cNvSpPr/>
          <p:nvPr/>
        </p:nvSpPr>
        <p:spPr>
          <a:xfrm>
            <a:off x="6172200" y="1691640"/>
            <a:ext cx="5349240" cy="1965960"/>
          </a:xfrm>
          <a:prstGeom prst="roundRect">
            <a:avLst>
              <a:gd name="adj" fmla="val 3721"/>
            </a:avLst>
          </a:prstGeom>
          <a:solidFill>
            <a:srgbClr val="F4F7F2"/>
          </a:solidFill>
          <a:ln/>
        </p:spPr>
        <p:txBody>
          <a:bodyPr/>
          <a:lstStyle/>
          <a:p>
            <a:endParaRPr lang="en-US"/>
          </a:p>
        </p:txBody>
      </p:sp>
      <p:sp>
        <p:nvSpPr>
          <p:cNvPr id="10" name="Shape 7"/>
          <p:cNvSpPr/>
          <p:nvPr/>
        </p:nvSpPr>
        <p:spPr>
          <a:xfrm>
            <a:off x="6423660" y="2331720"/>
            <a:ext cx="685800" cy="685800"/>
          </a:xfrm>
          <a:prstGeom prst="ellipse">
            <a:avLst/>
          </a:prstGeom>
          <a:solidFill>
            <a:schemeClr val="accent1"/>
          </a:solidFill>
          <a:ln>
            <a:solidFill>
              <a:schemeClr val="accent1"/>
            </a:solidFill>
          </a:ln>
        </p:spPr>
        <p:txBody>
          <a:bodyPr/>
          <a:lstStyle/>
          <a:p>
            <a:endParaRPr lang="en-US"/>
          </a:p>
        </p:txBody>
      </p:sp>
      <p:pic>
        <p:nvPicPr>
          <p:cNvPr id="11" name="Image 1" descr="/home/claude/crop_yield_ppt/icons/thermometer_FFFFFF.png"/>
          <p:cNvPicPr>
            <a:picLocks noChangeAspect="1"/>
          </p:cNvPicPr>
          <p:nvPr/>
        </p:nvPicPr>
        <p:blipFill>
          <a:blip r:embed="rId4"/>
          <a:stretch>
            <a:fillRect/>
          </a:stretch>
        </p:blipFill>
        <p:spPr>
          <a:xfrm>
            <a:off x="6577965" y="2486025"/>
            <a:ext cx="377190" cy="377190"/>
          </a:xfrm>
          <a:prstGeom prst="rect">
            <a:avLst/>
          </a:prstGeom>
          <a:solidFill>
            <a:schemeClr val="accent1"/>
          </a:solidFill>
          <a:ln>
            <a:solidFill>
              <a:schemeClr val="accent1"/>
            </a:solidFill>
          </a:ln>
        </p:spPr>
      </p:pic>
      <p:sp>
        <p:nvSpPr>
          <p:cNvPr id="12" name="Text 8"/>
          <p:cNvSpPr/>
          <p:nvPr/>
        </p:nvSpPr>
        <p:spPr>
          <a:xfrm>
            <a:off x="7315200" y="1874520"/>
            <a:ext cx="3977640" cy="1600200"/>
          </a:xfrm>
          <a:prstGeom prst="rect">
            <a:avLst/>
          </a:prstGeom>
          <a:noFill/>
          <a:ln/>
        </p:spPr>
        <p:txBody>
          <a:bodyPr wrap="square" rtlCol="0" anchor="ctr"/>
          <a:lstStyle/>
          <a:p>
            <a:pPr marL="0" indent="0">
              <a:lnSpc>
                <a:spcPct val="115000"/>
              </a:lnSpc>
              <a:buNone/>
            </a:pPr>
            <a:r>
              <a:rPr lang="en-US" sz="1350" b="1" dirty="0">
                <a:solidFill>
                  <a:srgbClr val="223522"/>
                </a:solidFill>
                <a:latin typeface="Calibri" pitchFamily="34" charset="0"/>
                <a:ea typeface="Calibri" pitchFamily="34" charset="-122"/>
                <a:cs typeface="Calibri" pitchFamily="34" charset="-120"/>
              </a:rPr>
              <a:t>Heat stress reduces yield  </a:t>
            </a:r>
            <a:r>
              <a:rPr lang="en-US" sz="1150" dirty="0">
                <a:solidFill>
                  <a:srgbClr val="6B7A6B"/>
                </a:solidFill>
                <a:latin typeface="Calibri" pitchFamily="34" charset="0"/>
                <a:ea typeface="Calibri" pitchFamily="34" charset="-122"/>
                <a:cs typeface="Calibri" pitchFamily="34" charset="-120"/>
              </a:rPr>
              <a:t>temperatures above 32°C are associated with a consistent yield drop across crops.</a:t>
            </a:r>
            <a:endParaRPr lang="en-US" sz="1350" dirty="0"/>
          </a:p>
        </p:txBody>
      </p:sp>
      <p:sp>
        <p:nvSpPr>
          <p:cNvPr id="13" name="Shape 9"/>
          <p:cNvSpPr/>
          <p:nvPr/>
        </p:nvSpPr>
        <p:spPr>
          <a:xfrm>
            <a:off x="548640" y="3931920"/>
            <a:ext cx="5349240" cy="1965960"/>
          </a:xfrm>
          <a:prstGeom prst="roundRect">
            <a:avLst>
              <a:gd name="adj" fmla="val 3721"/>
            </a:avLst>
          </a:prstGeom>
          <a:solidFill>
            <a:srgbClr val="F4F7F2"/>
          </a:solidFill>
          <a:ln/>
        </p:spPr>
        <p:txBody>
          <a:bodyPr/>
          <a:lstStyle/>
          <a:p>
            <a:endParaRPr lang="en-US"/>
          </a:p>
        </p:txBody>
      </p:sp>
      <p:sp>
        <p:nvSpPr>
          <p:cNvPr id="14" name="Shape 10"/>
          <p:cNvSpPr/>
          <p:nvPr/>
        </p:nvSpPr>
        <p:spPr>
          <a:xfrm>
            <a:off x="800100" y="4572000"/>
            <a:ext cx="685800" cy="685800"/>
          </a:xfrm>
          <a:prstGeom prst="ellipse">
            <a:avLst/>
          </a:prstGeom>
          <a:solidFill>
            <a:schemeClr val="accent1"/>
          </a:solidFill>
          <a:ln>
            <a:solidFill>
              <a:schemeClr val="accent1"/>
            </a:solidFill>
          </a:ln>
        </p:spPr>
        <p:txBody>
          <a:bodyPr/>
          <a:lstStyle/>
          <a:p>
            <a:endParaRPr lang="en-US"/>
          </a:p>
        </p:txBody>
      </p:sp>
      <p:pic>
        <p:nvPicPr>
          <p:cNvPr id="15" name="Image 2" descr="/home/claude/crop_yield_ppt/icons/wheat_FFFFFF.png"/>
          <p:cNvPicPr>
            <a:picLocks noChangeAspect="1"/>
          </p:cNvPicPr>
          <p:nvPr/>
        </p:nvPicPr>
        <p:blipFill>
          <a:blip r:embed="rId5"/>
          <a:stretch>
            <a:fillRect/>
          </a:stretch>
        </p:blipFill>
        <p:spPr>
          <a:xfrm>
            <a:off x="954405" y="4726305"/>
            <a:ext cx="377190" cy="377190"/>
          </a:xfrm>
          <a:prstGeom prst="rect">
            <a:avLst/>
          </a:prstGeom>
          <a:solidFill>
            <a:schemeClr val="accent1"/>
          </a:solidFill>
          <a:ln>
            <a:solidFill>
              <a:schemeClr val="accent1"/>
            </a:solidFill>
          </a:ln>
        </p:spPr>
      </p:pic>
      <p:sp>
        <p:nvSpPr>
          <p:cNvPr id="16" name="Text 11"/>
          <p:cNvSpPr/>
          <p:nvPr/>
        </p:nvSpPr>
        <p:spPr>
          <a:xfrm>
            <a:off x="1691640" y="4114800"/>
            <a:ext cx="3977640" cy="1600200"/>
          </a:xfrm>
          <a:prstGeom prst="rect">
            <a:avLst/>
          </a:prstGeom>
          <a:noFill/>
          <a:ln/>
        </p:spPr>
        <p:txBody>
          <a:bodyPr wrap="square" rtlCol="0" anchor="ctr"/>
          <a:lstStyle/>
          <a:p>
            <a:pPr marL="0" indent="0">
              <a:lnSpc>
                <a:spcPct val="115000"/>
              </a:lnSpc>
              <a:buNone/>
            </a:pPr>
            <a:r>
              <a:rPr lang="en-US" sz="1350" b="1" dirty="0">
                <a:solidFill>
                  <a:srgbClr val="223522"/>
                </a:solidFill>
                <a:latin typeface="Calibri" pitchFamily="34" charset="0"/>
                <a:ea typeface="Calibri" pitchFamily="34" charset="-122"/>
                <a:cs typeface="Calibri" pitchFamily="34" charset="-120"/>
              </a:rPr>
              <a:t>Crop type matters as much as conditions  </a:t>
            </a:r>
            <a:r>
              <a:rPr lang="en-US" sz="1150" dirty="0">
                <a:solidFill>
                  <a:srgbClr val="6B7A6B"/>
                </a:solidFill>
                <a:latin typeface="Calibri" pitchFamily="34" charset="0"/>
                <a:ea typeface="Calibri" pitchFamily="34" charset="-122"/>
                <a:cs typeface="Calibri" pitchFamily="34" charset="-120"/>
              </a:rPr>
              <a:t>sugarcane and maize outperform cotton and soybean under similar inputs.</a:t>
            </a:r>
            <a:endParaRPr lang="en-US" sz="1350" dirty="0"/>
          </a:p>
        </p:txBody>
      </p:sp>
      <p:sp>
        <p:nvSpPr>
          <p:cNvPr id="17" name="Shape 12"/>
          <p:cNvSpPr/>
          <p:nvPr/>
        </p:nvSpPr>
        <p:spPr>
          <a:xfrm>
            <a:off x="6172200" y="3931920"/>
            <a:ext cx="5349240" cy="1965960"/>
          </a:xfrm>
          <a:prstGeom prst="roundRect">
            <a:avLst>
              <a:gd name="adj" fmla="val 3721"/>
            </a:avLst>
          </a:prstGeom>
          <a:solidFill>
            <a:srgbClr val="F4F7F2"/>
          </a:solidFill>
          <a:ln/>
        </p:spPr>
        <p:txBody>
          <a:bodyPr/>
          <a:lstStyle/>
          <a:p>
            <a:endParaRPr lang="en-US"/>
          </a:p>
        </p:txBody>
      </p:sp>
      <p:sp>
        <p:nvSpPr>
          <p:cNvPr id="18" name="Shape 13"/>
          <p:cNvSpPr/>
          <p:nvPr/>
        </p:nvSpPr>
        <p:spPr>
          <a:xfrm>
            <a:off x="6423660" y="4572000"/>
            <a:ext cx="685800" cy="685800"/>
          </a:xfrm>
          <a:prstGeom prst="ellipse">
            <a:avLst/>
          </a:prstGeom>
          <a:solidFill>
            <a:schemeClr val="accent1"/>
          </a:solidFill>
          <a:ln>
            <a:solidFill>
              <a:schemeClr val="accent1"/>
            </a:solidFill>
          </a:ln>
        </p:spPr>
        <p:txBody>
          <a:bodyPr/>
          <a:lstStyle/>
          <a:p>
            <a:endParaRPr lang="en-US"/>
          </a:p>
        </p:txBody>
      </p:sp>
      <p:pic>
        <p:nvPicPr>
          <p:cNvPr id="19" name="Image 3" descr="/home/claude/crop_yield_ppt/icons/calendar_FFFFFF.png"/>
          <p:cNvPicPr>
            <a:picLocks noChangeAspect="1"/>
          </p:cNvPicPr>
          <p:nvPr/>
        </p:nvPicPr>
        <p:blipFill>
          <a:blip r:embed="rId6"/>
          <a:stretch>
            <a:fillRect/>
          </a:stretch>
        </p:blipFill>
        <p:spPr>
          <a:xfrm>
            <a:off x="6577965" y="4726305"/>
            <a:ext cx="377190" cy="377190"/>
          </a:xfrm>
          <a:prstGeom prst="rect">
            <a:avLst/>
          </a:prstGeom>
          <a:solidFill>
            <a:schemeClr val="accent1"/>
          </a:solidFill>
          <a:ln>
            <a:solidFill>
              <a:schemeClr val="accent1"/>
            </a:solidFill>
          </a:ln>
        </p:spPr>
      </p:pic>
      <p:sp>
        <p:nvSpPr>
          <p:cNvPr id="20" name="Text 14"/>
          <p:cNvSpPr/>
          <p:nvPr/>
        </p:nvSpPr>
        <p:spPr>
          <a:xfrm>
            <a:off x="7315200" y="4114800"/>
            <a:ext cx="3977640" cy="1600200"/>
          </a:xfrm>
          <a:prstGeom prst="rect">
            <a:avLst/>
          </a:prstGeom>
          <a:noFill/>
          <a:ln/>
        </p:spPr>
        <p:txBody>
          <a:bodyPr wrap="square" rtlCol="0" anchor="ctr"/>
          <a:lstStyle/>
          <a:p>
            <a:pPr marL="0" indent="0">
              <a:lnSpc>
                <a:spcPct val="115000"/>
              </a:lnSpc>
              <a:buNone/>
            </a:pPr>
            <a:r>
              <a:rPr lang="en-US" sz="1350" b="1" dirty="0">
                <a:solidFill>
                  <a:srgbClr val="223522"/>
                </a:solidFill>
                <a:latin typeface="Calibri" pitchFamily="34" charset="0"/>
                <a:ea typeface="Calibri" pitchFamily="34" charset="-122"/>
                <a:cs typeface="Calibri" pitchFamily="34" charset="-120"/>
              </a:rPr>
              <a:t>Season timing amplifies other effects  </a:t>
            </a:r>
            <a:r>
              <a:rPr lang="en-US" sz="1150" dirty="0">
                <a:solidFill>
                  <a:srgbClr val="6B7A6B"/>
                </a:solidFill>
                <a:latin typeface="Calibri" pitchFamily="34" charset="0"/>
                <a:ea typeface="Calibri" pitchFamily="34" charset="-122"/>
                <a:cs typeface="Calibri" pitchFamily="34" charset="-120"/>
              </a:rPr>
              <a:t>Kharif-season yields exceed Rabi and Summer across every region studied.</a:t>
            </a:r>
            <a:endParaRPr lang="en-US" sz="1350" dirty="0"/>
          </a:p>
        </p:txBody>
      </p:sp>
      <p:sp>
        <p:nvSpPr>
          <p:cNvPr id="22" name="Text 16"/>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05 — DASHBOARD</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Interactive Dashboard Overview</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dashboard main screen]</a:t>
            </a:r>
            <a:endParaRPr lang="en-US" sz="900" dirty="0"/>
          </a:p>
        </p:txBody>
      </p:sp>
      <p:sp>
        <p:nvSpPr>
          <p:cNvPr id="6" name="Shape 4"/>
          <p:cNvSpPr/>
          <p:nvPr/>
        </p:nvSpPr>
        <p:spPr>
          <a:xfrm>
            <a:off x="777240" y="1892808"/>
            <a:ext cx="128016" cy="128016"/>
          </a:xfrm>
          <a:prstGeom prst="ellipse">
            <a:avLst/>
          </a:prstGeom>
          <a:solidFill>
            <a:srgbClr val="E06C5C"/>
          </a:solidFill>
          <a:ln/>
        </p:spPr>
        <p:txBody>
          <a:bodyPr/>
          <a:lstStyle/>
          <a:p>
            <a:endParaRPr lang="en-US"/>
          </a:p>
        </p:txBody>
      </p:sp>
      <p:sp>
        <p:nvSpPr>
          <p:cNvPr id="7" name="Shape 5"/>
          <p:cNvSpPr/>
          <p:nvPr/>
        </p:nvSpPr>
        <p:spPr>
          <a:xfrm>
            <a:off x="987552" y="1892808"/>
            <a:ext cx="128016" cy="128016"/>
          </a:xfrm>
          <a:prstGeom prst="ellipse">
            <a:avLst/>
          </a:prstGeom>
          <a:solidFill>
            <a:srgbClr val="E3C15C"/>
          </a:solidFill>
          <a:ln/>
        </p:spPr>
        <p:txBody>
          <a:bodyPr/>
          <a:lstStyle/>
          <a:p>
            <a:endParaRPr lang="en-US"/>
          </a:p>
        </p:txBody>
      </p:sp>
      <p:sp>
        <p:nvSpPr>
          <p:cNvPr id="8" name="Shape 6"/>
          <p:cNvSpPr/>
          <p:nvPr/>
        </p:nvSpPr>
        <p:spPr>
          <a:xfrm>
            <a:off x="1197864" y="1892808"/>
            <a:ext cx="128016" cy="128016"/>
          </a:xfrm>
          <a:prstGeom prst="ellipse">
            <a:avLst/>
          </a:prstGeom>
          <a:solidFill>
            <a:srgbClr val="6FBF73"/>
          </a:solidFill>
          <a:ln/>
        </p:spPr>
        <p:txBody>
          <a:bodyPr/>
          <a:lstStyle/>
          <a:p>
            <a:endParaRPr lang="en-US"/>
          </a:p>
        </p:txBody>
      </p:sp>
      <p:sp>
        <p:nvSpPr>
          <p:cNvPr id="9" name="Shape 7"/>
          <p:cNvSpPr/>
          <p:nvPr/>
        </p:nvSpPr>
        <p:spPr>
          <a:xfrm>
            <a:off x="822960" y="2240280"/>
            <a:ext cx="5120640" cy="3749040"/>
          </a:xfrm>
          <a:prstGeom prst="roundRect">
            <a:avLst>
              <a:gd name="adj" fmla="val 1220"/>
            </a:avLst>
          </a:prstGeom>
          <a:solidFill>
            <a:srgbClr val="FFFFFF"/>
          </a:solidFill>
          <a:ln/>
        </p:spPr>
        <p:txBody>
          <a:bodyPr/>
          <a:lstStyle/>
          <a:p>
            <a:endParaRPr lang="en-US"/>
          </a:p>
        </p:txBody>
      </p:sp>
      <p:sp>
        <p:nvSpPr>
          <p:cNvPr id="10" name="Text 8"/>
          <p:cNvSpPr/>
          <p:nvPr/>
        </p:nvSpPr>
        <p:spPr>
          <a:xfrm>
            <a:off x="1005840" y="2377440"/>
            <a:ext cx="4754880" cy="274320"/>
          </a:xfrm>
          <a:prstGeom prst="rect">
            <a:avLst/>
          </a:prstGeom>
          <a:noFill/>
          <a:ln/>
        </p:spPr>
        <p:txBody>
          <a:bodyPr wrap="square" rtlCol="0" anchor="ctr"/>
          <a:lstStyle/>
          <a:p>
            <a:pPr marL="0" indent="0">
              <a:buNone/>
            </a:pPr>
            <a:r>
              <a:rPr lang="en-US" sz="1100" b="1" dirty="0">
                <a:solidFill>
                  <a:srgbClr val="223522"/>
                </a:solidFill>
                <a:latin typeface="Calibri" pitchFamily="34" charset="0"/>
                <a:ea typeface="Calibri" pitchFamily="34" charset="-122"/>
                <a:cs typeface="Calibri" pitchFamily="34" charset="-120"/>
              </a:rPr>
              <a:t>Yield Trends by Region</a:t>
            </a:r>
            <a:endParaRPr lang="en-US" sz="1100" dirty="0"/>
          </a:p>
        </p:txBody>
      </p:sp>
      <p:graphicFrame>
        <p:nvGraphicFramePr>
          <p:cNvPr id="11" name="Chart 0"/>
          <p:cNvGraphicFramePr/>
          <p:nvPr/>
        </p:nvGraphicFramePr>
        <p:xfrm>
          <a:off x="914400" y="2697480"/>
          <a:ext cx="49377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12" name="Shape 9"/>
          <p:cNvSpPr/>
          <p:nvPr/>
        </p:nvSpPr>
        <p:spPr>
          <a:xfrm>
            <a:off x="6217920" y="2240280"/>
            <a:ext cx="5120640" cy="1799539"/>
          </a:xfrm>
          <a:prstGeom prst="roundRect">
            <a:avLst>
              <a:gd name="adj" fmla="val 2541"/>
            </a:avLst>
          </a:prstGeom>
          <a:solidFill>
            <a:srgbClr val="FFFFFF"/>
          </a:solidFill>
          <a:ln/>
        </p:spPr>
        <p:txBody>
          <a:bodyPr/>
          <a:lstStyle/>
          <a:p>
            <a:endParaRPr lang="en-US"/>
          </a:p>
        </p:txBody>
      </p:sp>
      <p:sp>
        <p:nvSpPr>
          <p:cNvPr id="13" name="Text 10"/>
          <p:cNvSpPr/>
          <p:nvPr/>
        </p:nvSpPr>
        <p:spPr>
          <a:xfrm>
            <a:off x="6400800" y="2350008"/>
            <a:ext cx="4754880" cy="256032"/>
          </a:xfrm>
          <a:prstGeom prst="rect">
            <a:avLst/>
          </a:prstGeom>
          <a:noFill/>
          <a:ln/>
        </p:spPr>
        <p:txBody>
          <a:bodyPr wrap="square" rtlCol="0" anchor="ctr"/>
          <a:lstStyle/>
          <a:p>
            <a:pPr marL="0" indent="0">
              <a:buNone/>
            </a:pPr>
            <a:r>
              <a:rPr lang="en-US" sz="1050" b="1" dirty="0">
                <a:solidFill>
                  <a:srgbClr val="223522"/>
                </a:solidFill>
                <a:latin typeface="Calibri" pitchFamily="34" charset="0"/>
                <a:ea typeface="Calibri" pitchFamily="34" charset="-122"/>
                <a:cs typeface="Calibri" pitchFamily="34" charset="-120"/>
              </a:rPr>
              <a:t>Correlation Heatmap</a:t>
            </a:r>
            <a:endParaRPr lang="en-US" sz="1050" dirty="0"/>
          </a:p>
        </p:txBody>
      </p:sp>
      <p:sp>
        <p:nvSpPr>
          <p:cNvPr id="14" name="Shape 11"/>
          <p:cNvSpPr/>
          <p:nvPr/>
        </p:nvSpPr>
        <p:spPr>
          <a:xfrm>
            <a:off x="6492240" y="2697480"/>
            <a:ext cx="283464" cy="283464"/>
          </a:xfrm>
          <a:prstGeom prst="rect">
            <a:avLst/>
          </a:prstGeom>
          <a:solidFill>
            <a:srgbClr val="F4F7F2"/>
          </a:solidFill>
          <a:ln/>
        </p:spPr>
        <p:txBody>
          <a:bodyPr/>
          <a:lstStyle/>
          <a:p>
            <a:endParaRPr lang="en-US"/>
          </a:p>
        </p:txBody>
      </p:sp>
      <p:sp>
        <p:nvSpPr>
          <p:cNvPr id="15" name="Shape 12"/>
          <p:cNvSpPr/>
          <p:nvPr/>
        </p:nvSpPr>
        <p:spPr>
          <a:xfrm>
            <a:off x="6803136" y="2697480"/>
            <a:ext cx="283464" cy="283464"/>
          </a:xfrm>
          <a:prstGeom prst="rect">
            <a:avLst/>
          </a:prstGeom>
          <a:solidFill>
            <a:srgbClr val="DCE9D5"/>
          </a:solidFill>
          <a:ln/>
        </p:spPr>
        <p:txBody>
          <a:bodyPr/>
          <a:lstStyle/>
          <a:p>
            <a:endParaRPr lang="en-US"/>
          </a:p>
        </p:txBody>
      </p:sp>
      <p:sp>
        <p:nvSpPr>
          <p:cNvPr id="16" name="Shape 13"/>
          <p:cNvSpPr/>
          <p:nvPr/>
        </p:nvSpPr>
        <p:spPr>
          <a:xfrm>
            <a:off x="7114032" y="2697480"/>
            <a:ext cx="283464" cy="283464"/>
          </a:xfrm>
          <a:prstGeom prst="rect">
            <a:avLst/>
          </a:prstGeom>
          <a:solidFill>
            <a:srgbClr val="9FC090"/>
          </a:solidFill>
          <a:ln/>
        </p:spPr>
        <p:txBody>
          <a:bodyPr/>
          <a:lstStyle/>
          <a:p>
            <a:endParaRPr lang="en-US"/>
          </a:p>
        </p:txBody>
      </p:sp>
      <p:sp>
        <p:nvSpPr>
          <p:cNvPr id="17" name="Shape 14"/>
          <p:cNvSpPr/>
          <p:nvPr/>
        </p:nvSpPr>
        <p:spPr>
          <a:xfrm>
            <a:off x="7424928" y="2697480"/>
            <a:ext cx="283464" cy="283464"/>
          </a:xfrm>
          <a:prstGeom prst="rect">
            <a:avLst/>
          </a:prstGeom>
          <a:solidFill>
            <a:srgbClr val="5C8A52"/>
          </a:solidFill>
          <a:ln/>
        </p:spPr>
        <p:txBody>
          <a:bodyPr/>
          <a:lstStyle/>
          <a:p>
            <a:endParaRPr lang="en-US"/>
          </a:p>
        </p:txBody>
      </p:sp>
      <p:sp>
        <p:nvSpPr>
          <p:cNvPr id="18" name="Shape 15"/>
          <p:cNvSpPr/>
          <p:nvPr/>
        </p:nvSpPr>
        <p:spPr>
          <a:xfrm>
            <a:off x="6492240" y="3008376"/>
            <a:ext cx="283464" cy="283464"/>
          </a:xfrm>
          <a:prstGeom prst="rect">
            <a:avLst/>
          </a:prstGeom>
          <a:solidFill>
            <a:srgbClr val="DCE9D5"/>
          </a:solidFill>
          <a:ln/>
        </p:spPr>
        <p:txBody>
          <a:bodyPr/>
          <a:lstStyle/>
          <a:p>
            <a:endParaRPr lang="en-US"/>
          </a:p>
        </p:txBody>
      </p:sp>
      <p:sp>
        <p:nvSpPr>
          <p:cNvPr id="19" name="Shape 16"/>
          <p:cNvSpPr/>
          <p:nvPr/>
        </p:nvSpPr>
        <p:spPr>
          <a:xfrm>
            <a:off x="6803136" y="3008376"/>
            <a:ext cx="283464" cy="283464"/>
          </a:xfrm>
          <a:prstGeom prst="rect">
            <a:avLst/>
          </a:prstGeom>
          <a:solidFill>
            <a:srgbClr val="9FC090"/>
          </a:solidFill>
          <a:ln/>
        </p:spPr>
        <p:txBody>
          <a:bodyPr/>
          <a:lstStyle/>
          <a:p>
            <a:endParaRPr lang="en-US"/>
          </a:p>
        </p:txBody>
      </p:sp>
      <p:sp>
        <p:nvSpPr>
          <p:cNvPr id="20" name="Shape 17"/>
          <p:cNvSpPr/>
          <p:nvPr/>
        </p:nvSpPr>
        <p:spPr>
          <a:xfrm>
            <a:off x="7114032" y="3008376"/>
            <a:ext cx="283464" cy="283464"/>
          </a:xfrm>
          <a:prstGeom prst="rect">
            <a:avLst/>
          </a:prstGeom>
          <a:solidFill>
            <a:srgbClr val="5C8A52"/>
          </a:solidFill>
          <a:ln/>
        </p:spPr>
        <p:txBody>
          <a:bodyPr/>
          <a:lstStyle/>
          <a:p>
            <a:endParaRPr lang="en-US"/>
          </a:p>
        </p:txBody>
      </p:sp>
      <p:sp>
        <p:nvSpPr>
          <p:cNvPr id="21" name="Shape 18"/>
          <p:cNvSpPr/>
          <p:nvPr/>
        </p:nvSpPr>
        <p:spPr>
          <a:xfrm>
            <a:off x="7424928" y="3008376"/>
            <a:ext cx="283464" cy="283464"/>
          </a:xfrm>
          <a:prstGeom prst="rect">
            <a:avLst/>
          </a:prstGeom>
          <a:solidFill>
            <a:srgbClr val="F4F7F2"/>
          </a:solidFill>
          <a:ln/>
        </p:spPr>
        <p:txBody>
          <a:bodyPr/>
          <a:lstStyle/>
          <a:p>
            <a:endParaRPr lang="en-US"/>
          </a:p>
        </p:txBody>
      </p:sp>
      <p:sp>
        <p:nvSpPr>
          <p:cNvPr id="22" name="Shape 19"/>
          <p:cNvSpPr/>
          <p:nvPr/>
        </p:nvSpPr>
        <p:spPr>
          <a:xfrm>
            <a:off x="6492240" y="3319272"/>
            <a:ext cx="283464" cy="283464"/>
          </a:xfrm>
          <a:prstGeom prst="rect">
            <a:avLst/>
          </a:prstGeom>
          <a:solidFill>
            <a:srgbClr val="9FC090"/>
          </a:solidFill>
          <a:ln/>
        </p:spPr>
        <p:txBody>
          <a:bodyPr/>
          <a:lstStyle/>
          <a:p>
            <a:endParaRPr lang="en-US"/>
          </a:p>
        </p:txBody>
      </p:sp>
      <p:sp>
        <p:nvSpPr>
          <p:cNvPr id="23" name="Shape 20"/>
          <p:cNvSpPr/>
          <p:nvPr/>
        </p:nvSpPr>
        <p:spPr>
          <a:xfrm>
            <a:off x="6803136" y="3319272"/>
            <a:ext cx="283464" cy="283464"/>
          </a:xfrm>
          <a:prstGeom prst="rect">
            <a:avLst/>
          </a:prstGeom>
          <a:solidFill>
            <a:srgbClr val="5C8A52"/>
          </a:solidFill>
          <a:ln/>
        </p:spPr>
        <p:txBody>
          <a:bodyPr/>
          <a:lstStyle/>
          <a:p>
            <a:endParaRPr lang="en-US"/>
          </a:p>
        </p:txBody>
      </p:sp>
      <p:sp>
        <p:nvSpPr>
          <p:cNvPr id="24" name="Shape 21"/>
          <p:cNvSpPr/>
          <p:nvPr/>
        </p:nvSpPr>
        <p:spPr>
          <a:xfrm>
            <a:off x="7114032" y="3319272"/>
            <a:ext cx="283464" cy="283464"/>
          </a:xfrm>
          <a:prstGeom prst="rect">
            <a:avLst/>
          </a:prstGeom>
          <a:solidFill>
            <a:srgbClr val="F4F7F2"/>
          </a:solidFill>
          <a:ln/>
        </p:spPr>
        <p:txBody>
          <a:bodyPr/>
          <a:lstStyle/>
          <a:p>
            <a:endParaRPr lang="en-US"/>
          </a:p>
        </p:txBody>
      </p:sp>
      <p:sp>
        <p:nvSpPr>
          <p:cNvPr id="25" name="Shape 22"/>
          <p:cNvSpPr/>
          <p:nvPr/>
        </p:nvSpPr>
        <p:spPr>
          <a:xfrm>
            <a:off x="7424928" y="3319272"/>
            <a:ext cx="283464" cy="283464"/>
          </a:xfrm>
          <a:prstGeom prst="rect">
            <a:avLst/>
          </a:prstGeom>
          <a:solidFill>
            <a:srgbClr val="DCE9D5"/>
          </a:solidFill>
          <a:ln/>
        </p:spPr>
        <p:txBody>
          <a:bodyPr/>
          <a:lstStyle/>
          <a:p>
            <a:endParaRPr lang="en-US"/>
          </a:p>
        </p:txBody>
      </p:sp>
      <p:sp>
        <p:nvSpPr>
          <p:cNvPr id="26" name="Shape 23"/>
          <p:cNvSpPr/>
          <p:nvPr/>
        </p:nvSpPr>
        <p:spPr>
          <a:xfrm>
            <a:off x="6492240" y="3630168"/>
            <a:ext cx="283464" cy="283464"/>
          </a:xfrm>
          <a:prstGeom prst="rect">
            <a:avLst/>
          </a:prstGeom>
          <a:solidFill>
            <a:srgbClr val="5C8A52"/>
          </a:solidFill>
          <a:ln/>
        </p:spPr>
        <p:txBody>
          <a:bodyPr/>
          <a:lstStyle/>
          <a:p>
            <a:endParaRPr lang="en-US"/>
          </a:p>
        </p:txBody>
      </p:sp>
      <p:sp>
        <p:nvSpPr>
          <p:cNvPr id="27" name="Shape 24"/>
          <p:cNvSpPr/>
          <p:nvPr/>
        </p:nvSpPr>
        <p:spPr>
          <a:xfrm>
            <a:off x="6803136" y="3630168"/>
            <a:ext cx="283464" cy="283464"/>
          </a:xfrm>
          <a:prstGeom prst="rect">
            <a:avLst/>
          </a:prstGeom>
          <a:solidFill>
            <a:srgbClr val="F4F7F2"/>
          </a:solidFill>
          <a:ln/>
        </p:spPr>
        <p:txBody>
          <a:bodyPr/>
          <a:lstStyle/>
          <a:p>
            <a:endParaRPr lang="en-US"/>
          </a:p>
        </p:txBody>
      </p:sp>
      <p:sp>
        <p:nvSpPr>
          <p:cNvPr id="28" name="Shape 25"/>
          <p:cNvSpPr/>
          <p:nvPr/>
        </p:nvSpPr>
        <p:spPr>
          <a:xfrm>
            <a:off x="7114032" y="3630168"/>
            <a:ext cx="283464" cy="283464"/>
          </a:xfrm>
          <a:prstGeom prst="rect">
            <a:avLst/>
          </a:prstGeom>
          <a:solidFill>
            <a:srgbClr val="DCE9D5"/>
          </a:solidFill>
          <a:ln/>
        </p:spPr>
        <p:txBody>
          <a:bodyPr/>
          <a:lstStyle/>
          <a:p>
            <a:endParaRPr lang="en-US"/>
          </a:p>
        </p:txBody>
      </p:sp>
      <p:sp>
        <p:nvSpPr>
          <p:cNvPr id="29" name="Shape 26"/>
          <p:cNvSpPr/>
          <p:nvPr/>
        </p:nvSpPr>
        <p:spPr>
          <a:xfrm>
            <a:off x="7424928" y="3630168"/>
            <a:ext cx="283464" cy="283464"/>
          </a:xfrm>
          <a:prstGeom prst="rect">
            <a:avLst/>
          </a:prstGeom>
          <a:solidFill>
            <a:srgbClr val="9FC090"/>
          </a:solidFill>
          <a:ln/>
        </p:spPr>
        <p:txBody>
          <a:bodyPr/>
          <a:lstStyle/>
          <a:p>
            <a:endParaRPr lang="en-US"/>
          </a:p>
        </p:txBody>
      </p:sp>
      <p:sp>
        <p:nvSpPr>
          <p:cNvPr id="30" name="Shape 27"/>
          <p:cNvSpPr/>
          <p:nvPr/>
        </p:nvSpPr>
        <p:spPr>
          <a:xfrm>
            <a:off x="6217920" y="4189781"/>
            <a:ext cx="5120640" cy="1799539"/>
          </a:xfrm>
          <a:prstGeom prst="roundRect">
            <a:avLst>
              <a:gd name="adj" fmla="val 2541"/>
            </a:avLst>
          </a:prstGeom>
          <a:solidFill>
            <a:srgbClr val="FFFFFF"/>
          </a:solidFill>
          <a:ln/>
        </p:spPr>
        <p:txBody>
          <a:bodyPr/>
          <a:lstStyle/>
          <a:p>
            <a:endParaRPr lang="en-US"/>
          </a:p>
        </p:txBody>
      </p:sp>
      <p:sp>
        <p:nvSpPr>
          <p:cNvPr id="31" name="Text 28"/>
          <p:cNvSpPr/>
          <p:nvPr/>
        </p:nvSpPr>
        <p:spPr>
          <a:xfrm>
            <a:off x="6400800" y="4299509"/>
            <a:ext cx="4754880" cy="256032"/>
          </a:xfrm>
          <a:prstGeom prst="rect">
            <a:avLst/>
          </a:prstGeom>
          <a:noFill/>
          <a:ln/>
        </p:spPr>
        <p:txBody>
          <a:bodyPr wrap="square" rtlCol="0" anchor="ctr"/>
          <a:lstStyle/>
          <a:p>
            <a:pPr marL="0" indent="0">
              <a:buNone/>
            </a:pPr>
            <a:r>
              <a:rPr lang="en-US" sz="1050" b="1" dirty="0">
                <a:solidFill>
                  <a:srgbClr val="223522"/>
                </a:solidFill>
                <a:latin typeface="Calibri" pitchFamily="34" charset="0"/>
                <a:ea typeface="Calibri" pitchFamily="34" charset="-122"/>
                <a:cs typeface="Calibri" pitchFamily="34" charset="-120"/>
              </a:rPr>
              <a:t>Feature Importance</a:t>
            </a:r>
            <a:endParaRPr lang="en-US" sz="1050" dirty="0"/>
          </a:p>
        </p:txBody>
      </p:sp>
      <p:sp>
        <p:nvSpPr>
          <p:cNvPr id="32" name="Text 29"/>
          <p:cNvSpPr/>
          <p:nvPr/>
        </p:nvSpPr>
        <p:spPr>
          <a:xfrm>
            <a:off x="6400800" y="4646981"/>
            <a:ext cx="1280160" cy="256032"/>
          </a:xfrm>
          <a:prstGeom prst="rect">
            <a:avLst/>
          </a:prstGeom>
          <a:noFill/>
          <a:ln/>
        </p:spPr>
        <p:txBody>
          <a:bodyPr wrap="square" rtlCol="0" anchor="ctr"/>
          <a:lstStyle/>
          <a:p>
            <a:pPr marL="0" indent="0">
              <a:buNone/>
            </a:pPr>
            <a:r>
              <a:rPr lang="en-US" sz="850" dirty="0">
                <a:solidFill>
                  <a:srgbClr val="6B7A6B"/>
                </a:solidFill>
                <a:latin typeface="Calibri" pitchFamily="34" charset="0"/>
                <a:ea typeface="Calibri" pitchFamily="34" charset="-122"/>
                <a:cs typeface="Calibri" pitchFamily="34" charset="-120"/>
              </a:rPr>
              <a:t>Rainfall</a:t>
            </a:r>
            <a:endParaRPr lang="en-US" sz="850" dirty="0"/>
          </a:p>
        </p:txBody>
      </p:sp>
      <p:sp>
        <p:nvSpPr>
          <p:cNvPr id="33" name="Shape 30"/>
          <p:cNvSpPr/>
          <p:nvPr/>
        </p:nvSpPr>
        <p:spPr>
          <a:xfrm>
            <a:off x="7726680" y="4683557"/>
            <a:ext cx="2962656" cy="182880"/>
          </a:xfrm>
          <a:prstGeom prst="rect">
            <a:avLst/>
          </a:prstGeom>
          <a:solidFill>
            <a:srgbClr val="2C5F2D"/>
          </a:solidFill>
          <a:ln/>
        </p:spPr>
        <p:txBody>
          <a:bodyPr/>
          <a:lstStyle/>
          <a:p>
            <a:endParaRPr lang="en-US"/>
          </a:p>
        </p:txBody>
      </p:sp>
      <p:sp>
        <p:nvSpPr>
          <p:cNvPr id="34" name="Text 31"/>
          <p:cNvSpPr/>
          <p:nvPr/>
        </p:nvSpPr>
        <p:spPr>
          <a:xfrm>
            <a:off x="6400800" y="4948733"/>
            <a:ext cx="1280160" cy="256032"/>
          </a:xfrm>
          <a:prstGeom prst="rect">
            <a:avLst/>
          </a:prstGeom>
          <a:noFill/>
          <a:ln/>
        </p:spPr>
        <p:txBody>
          <a:bodyPr wrap="square" rtlCol="0" anchor="ctr"/>
          <a:lstStyle/>
          <a:p>
            <a:pPr marL="0" indent="0">
              <a:buNone/>
            </a:pPr>
            <a:r>
              <a:rPr lang="en-US" sz="850" dirty="0">
                <a:solidFill>
                  <a:srgbClr val="6B7A6B"/>
                </a:solidFill>
                <a:latin typeface="Calibri" pitchFamily="34" charset="0"/>
                <a:ea typeface="Calibri" pitchFamily="34" charset="-122"/>
                <a:cs typeface="Calibri" pitchFamily="34" charset="-120"/>
              </a:rPr>
              <a:t>Fertilizer</a:t>
            </a:r>
            <a:endParaRPr lang="en-US" sz="850" dirty="0"/>
          </a:p>
        </p:txBody>
      </p:sp>
      <p:sp>
        <p:nvSpPr>
          <p:cNvPr id="35" name="Shape 32"/>
          <p:cNvSpPr/>
          <p:nvPr/>
        </p:nvSpPr>
        <p:spPr>
          <a:xfrm>
            <a:off x="7726680" y="4985309"/>
            <a:ext cx="2304288" cy="182880"/>
          </a:xfrm>
          <a:prstGeom prst="rect">
            <a:avLst/>
          </a:prstGeom>
          <a:solidFill>
            <a:srgbClr val="2C5F2D"/>
          </a:solidFill>
          <a:ln/>
        </p:spPr>
        <p:txBody>
          <a:bodyPr/>
          <a:lstStyle/>
          <a:p>
            <a:endParaRPr lang="en-US"/>
          </a:p>
        </p:txBody>
      </p:sp>
      <p:sp>
        <p:nvSpPr>
          <p:cNvPr id="36" name="Text 33"/>
          <p:cNvSpPr/>
          <p:nvPr/>
        </p:nvSpPr>
        <p:spPr>
          <a:xfrm>
            <a:off x="6400800" y="5250485"/>
            <a:ext cx="1280160" cy="256032"/>
          </a:xfrm>
          <a:prstGeom prst="rect">
            <a:avLst/>
          </a:prstGeom>
          <a:noFill/>
          <a:ln/>
        </p:spPr>
        <p:txBody>
          <a:bodyPr wrap="square" rtlCol="0" anchor="ctr"/>
          <a:lstStyle/>
          <a:p>
            <a:pPr marL="0" indent="0">
              <a:buNone/>
            </a:pPr>
            <a:r>
              <a:rPr lang="en-US" sz="850" dirty="0">
                <a:solidFill>
                  <a:srgbClr val="6B7A6B"/>
                </a:solidFill>
                <a:latin typeface="Calibri" pitchFamily="34" charset="0"/>
                <a:ea typeface="Calibri" pitchFamily="34" charset="-122"/>
                <a:cs typeface="Calibri" pitchFamily="34" charset="-120"/>
              </a:rPr>
              <a:t>Crop Type</a:t>
            </a:r>
            <a:endParaRPr lang="en-US" sz="850" dirty="0"/>
          </a:p>
        </p:txBody>
      </p:sp>
      <p:sp>
        <p:nvSpPr>
          <p:cNvPr id="37" name="Shape 34"/>
          <p:cNvSpPr/>
          <p:nvPr/>
        </p:nvSpPr>
        <p:spPr>
          <a:xfrm>
            <a:off x="7726680" y="5287061"/>
            <a:ext cx="1810512" cy="182880"/>
          </a:xfrm>
          <a:prstGeom prst="rect">
            <a:avLst/>
          </a:prstGeom>
          <a:solidFill>
            <a:srgbClr val="2C5F2D"/>
          </a:solidFill>
          <a:ln/>
        </p:spPr>
        <p:txBody>
          <a:bodyPr/>
          <a:lstStyle/>
          <a:p>
            <a:endParaRPr lang="en-US"/>
          </a:p>
        </p:txBody>
      </p:sp>
      <p:sp>
        <p:nvSpPr>
          <p:cNvPr id="38" name="Text 35"/>
          <p:cNvSpPr/>
          <p:nvPr/>
        </p:nvSpPr>
        <p:spPr>
          <a:xfrm>
            <a:off x="6400800" y="5552237"/>
            <a:ext cx="1280160" cy="256032"/>
          </a:xfrm>
          <a:prstGeom prst="rect">
            <a:avLst/>
          </a:prstGeom>
          <a:noFill/>
          <a:ln/>
        </p:spPr>
        <p:txBody>
          <a:bodyPr wrap="square" rtlCol="0" anchor="ctr"/>
          <a:lstStyle/>
          <a:p>
            <a:pPr marL="0" indent="0">
              <a:buNone/>
            </a:pPr>
            <a:r>
              <a:rPr lang="en-US" sz="850" dirty="0">
                <a:solidFill>
                  <a:srgbClr val="6B7A6B"/>
                </a:solidFill>
                <a:latin typeface="Calibri" pitchFamily="34" charset="0"/>
                <a:ea typeface="Calibri" pitchFamily="34" charset="-122"/>
                <a:cs typeface="Calibri" pitchFamily="34" charset="-120"/>
              </a:rPr>
              <a:t>Temp</a:t>
            </a:r>
            <a:endParaRPr lang="en-US" sz="850" dirty="0"/>
          </a:p>
        </p:txBody>
      </p:sp>
      <p:sp>
        <p:nvSpPr>
          <p:cNvPr id="39" name="Shape 36"/>
          <p:cNvSpPr/>
          <p:nvPr/>
        </p:nvSpPr>
        <p:spPr>
          <a:xfrm>
            <a:off x="7726680" y="5588813"/>
            <a:ext cx="1316736" cy="182880"/>
          </a:xfrm>
          <a:prstGeom prst="rect">
            <a:avLst/>
          </a:prstGeom>
          <a:solidFill>
            <a:srgbClr val="2C5F2D"/>
          </a:solidFill>
          <a:ln/>
        </p:spPr>
        <p:txBody>
          <a:bodyPr/>
          <a:lstStyle/>
          <a:p>
            <a:endParaRPr lang="en-US"/>
          </a:p>
        </p:txBody>
      </p:sp>
      <p:sp>
        <p:nvSpPr>
          <p:cNvPr id="40" name="Text 37"/>
          <p:cNvSpPr/>
          <p:nvPr/>
        </p:nvSpPr>
        <p:spPr>
          <a:xfrm>
            <a:off x="457200" y="6537960"/>
            <a:ext cx="5486400" cy="274320"/>
          </a:xfrm>
          <a:prstGeom prst="rect">
            <a:avLst/>
          </a:prstGeom>
          <a:noFill/>
          <a:ln/>
        </p:spPr>
        <p:txBody>
          <a:bodyPr wrap="square" rtlCol="0" anchor="ctr"/>
          <a:lstStyle/>
          <a:p>
            <a:pPr marL="0" indent="0">
              <a:buNone/>
            </a:pPr>
            <a:r>
              <a:rPr lang="en-US" sz="1000" dirty="0">
                <a:solidFill>
                  <a:srgbClr val="6B7A6B"/>
                </a:solidFill>
                <a:latin typeface="Calibri" pitchFamily="34" charset="0"/>
                <a:ea typeface="Calibri" pitchFamily="34" charset="-122"/>
                <a:cs typeface="Calibri" pitchFamily="34" charset="-120"/>
              </a:rPr>
              <a:t>Crop Yield Prediction</a:t>
            </a:r>
            <a:endParaRPr lang="en-US" sz="1000" dirty="0"/>
          </a:p>
        </p:txBody>
      </p:sp>
      <p:sp>
        <p:nvSpPr>
          <p:cNvPr id="41" name="Text 38"/>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14</a:t>
            </a:r>
            <a:endParaRPr lang="en-US" sz="1000" dirty="0"/>
          </a:p>
        </p:txBody>
      </p:sp>
      <p:pic>
        <p:nvPicPr>
          <p:cNvPr id="43" name="Picture 42">
            <a:extLst>
              <a:ext uri="{FF2B5EF4-FFF2-40B4-BE49-F238E27FC236}">
                <a16:creationId xmlns:a16="http://schemas.microsoft.com/office/drawing/2014/main" id="{27E117B9-C47A-A985-9A90-5A3761F2D71D}"/>
              </a:ext>
            </a:extLst>
          </p:cNvPr>
          <p:cNvPicPr>
            <a:picLocks noChangeAspect="1"/>
          </p:cNvPicPr>
          <p:nvPr/>
        </p:nvPicPr>
        <p:blipFill>
          <a:blip r:embed="rId4"/>
          <a:stretch>
            <a:fillRect/>
          </a:stretch>
        </p:blipFill>
        <p:spPr>
          <a:xfrm>
            <a:off x="457200" y="1294257"/>
            <a:ext cx="11616612" cy="5179695"/>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05 — DASHBOARD</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Dashboard Interactions &amp; Filters</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dashboard demo]</a:t>
            </a:r>
            <a:endParaRPr lang="en-US" sz="900" dirty="0"/>
          </a:p>
        </p:txBody>
      </p:sp>
      <p:sp>
        <p:nvSpPr>
          <p:cNvPr id="5" name="Shape 3"/>
          <p:cNvSpPr/>
          <p:nvPr/>
        </p:nvSpPr>
        <p:spPr>
          <a:xfrm>
            <a:off x="548640" y="1737360"/>
            <a:ext cx="11064240" cy="960120"/>
          </a:xfrm>
          <a:prstGeom prst="roundRect">
            <a:avLst>
              <a:gd name="adj" fmla="val 6667"/>
            </a:avLst>
          </a:prstGeom>
          <a:solidFill>
            <a:srgbClr val="F4F7F2"/>
          </a:solidFill>
          <a:ln/>
        </p:spPr>
        <p:txBody>
          <a:bodyPr/>
          <a:lstStyle/>
          <a:p>
            <a:endParaRPr lang="en-US"/>
          </a:p>
        </p:txBody>
      </p:sp>
      <p:sp>
        <p:nvSpPr>
          <p:cNvPr id="6" name="Shape 4"/>
          <p:cNvSpPr/>
          <p:nvPr/>
        </p:nvSpPr>
        <p:spPr>
          <a:xfrm>
            <a:off x="937260" y="1920240"/>
            <a:ext cx="594360" cy="594360"/>
          </a:xfrm>
          <a:prstGeom prst="ellipse">
            <a:avLst/>
          </a:prstGeom>
          <a:solidFill>
            <a:schemeClr val="accent1"/>
          </a:solidFill>
          <a:ln>
            <a:solidFill>
              <a:schemeClr val="accent1"/>
            </a:solidFill>
          </a:ln>
        </p:spPr>
        <p:txBody>
          <a:bodyPr/>
          <a:lstStyle/>
          <a:p>
            <a:endParaRPr lang="en-US"/>
          </a:p>
        </p:txBody>
      </p:sp>
      <p:pic>
        <p:nvPicPr>
          <p:cNvPr id="7" name="Image 0" descr="/home/claude/crop_yield_ppt/icons/sliders_FFFFFF.png"/>
          <p:cNvPicPr>
            <a:picLocks noChangeAspect="1"/>
          </p:cNvPicPr>
          <p:nvPr/>
        </p:nvPicPr>
        <p:blipFill>
          <a:blip r:embed="rId3"/>
          <a:stretch>
            <a:fillRect/>
          </a:stretch>
        </p:blipFill>
        <p:spPr>
          <a:xfrm>
            <a:off x="1070991" y="2053971"/>
            <a:ext cx="326898" cy="326898"/>
          </a:xfrm>
          <a:prstGeom prst="rect">
            <a:avLst/>
          </a:prstGeom>
        </p:spPr>
      </p:pic>
      <p:sp>
        <p:nvSpPr>
          <p:cNvPr id="8" name="Text 5"/>
          <p:cNvSpPr/>
          <p:nvPr/>
        </p:nvSpPr>
        <p:spPr>
          <a:xfrm>
            <a:off x="1828800" y="1737360"/>
            <a:ext cx="9509760" cy="960120"/>
          </a:xfrm>
          <a:prstGeom prst="rect">
            <a:avLst/>
          </a:prstGeom>
          <a:noFill/>
          <a:ln/>
        </p:spPr>
        <p:txBody>
          <a:bodyPr wrap="square" rtlCol="0" anchor="ctr"/>
          <a:lstStyle/>
          <a:p>
            <a:pPr marL="0" indent="0">
              <a:buNone/>
            </a:pPr>
            <a:r>
              <a:rPr lang="en-US" sz="1350" b="1" dirty="0">
                <a:solidFill>
                  <a:srgbClr val="223522"/>
                </a:solidFill>
                <a:latin typeface="Calibri" pitchFamily="34" charset="0"/>
                <a:ea typeface="Calibri" pitchFamily="34" charset="-122"/>
                <a:cs typeface="Calibri" pitchFamily="34" charset="-120"/>
              </a:rPr>
              <a:t>Dynamic Filters  —  </a:t>
            </a:r>
            <a:r>
              <a:rPr lang="en-US" sz="1250" dirty="0">
                <a:solidFill>
                  <a:srgbClr val="6B7A6B"/>
                </a:solidFill>
                <a:latin typeface="Calibri" pitchFamily="34" charset="0"/>
                <a:ea typeface="Calibri" pitchFamily="34" charset="-122"/>
                <a:cs typeface="Calibri" pitchFamily="34" charset="-120"/>
              </a:rPr>
              <a:t>Filter by crop, season, and region to isolate any subset of interest.</a:t>
            </a:r>
            <a:endParaRPr lang="en-US" sz="1350" dirty="0"/>
          </a:p>
        </p:txBody>
      </p:sp>
      <p:sp>
        <p:nvSpPr>
          <p:cNvPr id="9" name="Shape 6"/>
          <p:cNvSpPr/>
          <p:nvPr/>
        </p:nvSpPr>
        <p:spPr>
          <a:xfrm>
            <a:off x="548640" y="2834640"/>
            <a:ext cx="11064240" cy="960120"/>
          </a:xfrm>
          <a:prstGeom prst="roundRect">
            <a:avLst>
              <a:gd name="adj" fmla="val 6667"/>
            </a:avLst>
          </a:prstGeom>
          <a:solidFill>
            <a:srgbClr val="F4F7F2"/>
          </a:solidFill>
          <a:ln/>
        </p:spPr>
        <p:txBody>
          <a:bodyPr/>
          <a:lstStyle/>
          <a:p>
            <a:endParaRPr lang="en-US"/>
          </a:p>
        </p:txBody>
      </p:sp>
      <p:sp>
        <p:nvSpPr>
          <p:cNvPr id="10" name="Shape 7"/>
          <p:cNvSpPr/>
          <p:nvPr/>
        </p:nvSpPr>
        <p:spPr>
          <a:xfrm>
            <a:off x="937260" y="3017520"/>
            <a:ext cx="594360" cy="594360"/>
          </a:xfrm>
          <a:prstGeom prst="ellipse">
            <a:avLst/>
          </a:prstGeom>
          <a:solidFill>
            <a:schemeClr val="accent1"/>
          </a:solidFill>
          <a:ln>
            <a:solidFill>
              <a:schemeClr val="accent1"/>
            </a:solidFill>
          </a:ln>
        </p:spPr>
        <p:txBody>
          <a:bodyPr/>
          <a:lstStyle/>
          <a:p>
            <a:endParaRPr lang="en-US"/>
          </a:p>
        </p:txBody>
      </p:sp>
      <p:pic>
        <p:nvPicPr>
          <p:cNvPr id="11" name="Image 1" descr="/home/claude/crop_yield_ppt/icons/barchart_FFFFFF.png"/>
          <p:cNvPicPr>
            <a:picLocks noChangeAspect="1"/>
          </p:cNvPicPr>
          <p:nvPr/>
        </p:nvPicPr>
        <p:blipFill>
          <a:blip r:embed="rId4"/>
          <a:stretch>
            <a:fillRect/>
          </a:stretch>
        </p:blipFill>
        <p:spPr>
          <a:xfrm>
            <a:off x="1070991" y="3151251"/>
            <a:ext cx="326898" cy="326898"/>
          </a:xfrm>
          <a:prstGeom prst="rect">
            <a:avLst/>
          </a:prstGeom>
        </p:spPr>
      </p:pic>
      <p:sp>
        <p:nvSpPr>
          <p:cNvPr id="12" name="Text 8"/>
          <p:cNvSpPr/>
          <p:nvPr/>
        </p:nvSpPr>
        <p:spPr>
          <a:xfrm>
            <a:off x="1828800" y="2834640"/>
            <a:ext cx="9509760" cy="960120"/>
          </a:xfrm>
          <a:prstGeom prst="rect">
            <a:avLst/>
          </a:prstGeom>
          <a:noFill/>
          <a:ln/>
        </p:spPr>
        <p:txBody>
          <a:bodyPr wrap="square" rtlCol="0" anchor="ctr"/>
          <a:lstStyle/>
          <a:p>
            <a:pPr marL="0" indent="0">
              <a:buNone/>
            </a:pPr>
            <a:r>
              <a:rPr lang="en-US" sz="1350" b="1" dirty="0">
                <a:solidFill>
                  <a:srgbClr val="223522"/>
                </a:solidFill>
                <a:latin typeface="Calibri" pitchFamily="34" charset="0"/>
                <a:ea typeface="Calibri" pitchFamily="34" charset="-122"/>
                <a:cs typeface="Calibri" pitchFamily="34" charset="-120"/>
              </a:rPr>
              <a:t>Drill-down Charts  —  </a:t>
            </a:r>
            <a:r>
              <a:rPr lang="en-US" sz="1250" dirty="0">
                <a:solidFill>
                  <a:srgbClr val="6B7A6B"/>
                </a:solidFill>
                <a:latin typeface="Calibri" pitchFamily="34" charset="0"/>
                <a:ea typeface="Calibri" pitchFamily="34" charset="-122"/>
                <a:cs typeface="Calibri" pitchFamily="34" charset="-120"/>
              </a:rPr>
              <a:t>Click any bar or region to reveal underlying record-level detail.</a:t>
            </a:r>
            <a:endParaRPr lang="en-US" sz="1350" dirty="0"/>
          </a:p>
        </p:txBody>
      </p:sp>
      <p:sp>
        <p:nvSpPr>
          <p:cNvPr id="13" name="Shape 9"/>
          <p:cNvSpPr/>
          <p:nvPr/>
        </p:nvSpPr>
        <p:spPr>
          <a:xfrm>
            <a:off x="548640" y="3931920"/>
            <a:ext cx="11064240" cy="960120"/>
          </a:xfrm>
          <a:prstGeom prst="roundRect">
            <a:avLst>
              <a:gd name="adj" fmla="val 6667"/>
            </a:avLst>
          </a:prstGeom>
          <a:solidFill>
            <a:srgbClr val="F4F7F2"/>
          </a:solidFill>
          <a:ln/>
        </p:spPr>
        <p:txBody>
          <a:bodyPr/>
          <a:lstStyle/>
          <a:p>
            <a:endParaRPr lang="en-US"/>
          </a:p>
        </p:txBody>
      </p:sp>
      <p:sp>
        <p:nvSpPr>
          <p:cNvPr id="14" name="Shape 10"/>
          <p:cNvSpPr/>
          <p:nvPr/>
        </p:nvSpPr>
        <p:spPr>
          <a:xfrm>
            <a:off x="937260" y="4114800"/>
            <a:ext cx="594360" cy="594360"/>
          </a:xfrm>
          <a:prstGeom prst="ellipse">
            <a:avLst/>
          </a:prstGeom>
          <a:solidFill>
            <a:schemeClr val="accent1"/>
          </a:solidFill>
          <a:ln>
            <a:solidFill>
              <a:schemeClr val="accent1"/>
            </a:solidFill>
          </a:ln>
        </p:spPr>
        <p:txBody>
          <a:bodyPr/>
          <a:lstStyle/>
          <a:p>
            <a:endParaRPr lang="en-US"/>
          </a:p>
        </p:txBody>
      </p:sp>
      <p:pic>
        <p:nvPicPr>
          <p:cNvPr id="15" name="Image 2" descr="/home/claude/crop_yield_ppt/icons/activity_FFFFFF.png"/>
          <p:cNvPicPr>
            <a:picLocks noChangeAspect="1"/>
          </p:cNvPicPr>
          <p:nvPr/>
        </p:nvPicPr>
        <p:blipFill>
          <a:blip r:embed="rId5"/>
          <a:stretch>
            <a:fillRect/>
          </a:stretch>
        </p:blipFill>
        <p:spPr>
          <a:xfrm>
            <a:off x="1070991" y="4248531"/>
            <a:ext cx="326898" cy="326898"/>
          </a:xfrm>
          <a:prstGeom prst="rect">
            <a:avLst/>
          </a:prstGeom>
        </p:spPr>
      </p:pic>
      <p:sp>
        <p:nvSpPr>
          <p:cNvPr id="16" name="Text 11"/>
          <p:cNvSpPr/>
          <p:nvPr/>
        </p:nvSpPr>
        <p:spPr>
          <a:xfrm>
            <a:off x="1828800" y="3931920"/>
            <a:ext cx="9509760" cy="960120"/>
          </a:xfrm>
          <a:prstGeom prst="rect">
            <a:avLst/>
          </a:prstGeom>
          <a:noFill/>
          <a:ln/>
        </p:spPr>
        <p:txBody>
          <a:bodyPr wrap="square" rtlCol="0" anchor="ctr"/>
          <a:lstStyle/>
          <a:p>
            <a:pPr marL="0" indent="0">
              <a:buNone/>
            </a:pPr>
            <a:r>
              <a:rPr lang="en-US" sz="1350" b="1" dirty="0">
                <a:solidFill>
                  <a:srgbClr val="223522"/>
                </a:solidFill>
                <a:latin typeface="Calibri" pitchFamily="34" charset="0"/>
                <a:ea typeface="Calibri" pitchFamily="34" charset="-122"/>
                <a:cs typeface="Calibri" pitchFamily="34" charset="-120"/>
              </a:rPr>
              <a:t>Live Recalculation  —  </a:t>
            </a:r>
            <a:r>
              <a:rPr lang="en-US" sz="1250" dirty="0">
                <a:solidFill>
                  <a:srgbClr val="6B7A6B"/>
                </a:solidFill>
                <a:latin typeface="Calibri" pitchFamily="34" charset="0"/>
                <a:ea typeface="Calibri" pitchFamily="34" charset="-122"/>
                <a:cs typeface="Calibri" pitchFamily="34" charset="-120"/>
              </a:rPr>
              <a:t>Summary statistics and charts update instantly as filters change.</a:t>
            </a:r>
            <a:endParaRPr lang="en-US" sz="1350" dirty="0"/>
          </a:p>
        </p:txBody>
      </p:sp>
      <p:sp>
        <p:nvSpPr>
          <p:cNvPr id="17" name="Shape 12"/>
          <p:cNvSpPr/>
          <p:nvPr/>
        </p:nvSpPr>
        <p:spPr>
          <a:xfrm>
            <a:off x="548640" y="5029200"/>
            <a:ext cx="11064240" cy="960120"/>
          </a:xfrm>
          <a:prstGeom prst="roundRect">
            <a:avLst>
              <a:gd name="adj" fmla="val 6667"/>
            </a:avLst>
          </a:prstGeom>
          <a:solidFill>
            <a:srgbClr val="F4F7F2"/>
          </a:solidFill>
          <a:ln/>
        </p:spPr>
        <p:txBody>
          <a:bodyPr/>
          <a:lstStyle/>
          <a:p>
            <a:endParaRPr lang="en-US"/>
          </a:p>
        </p:txBody>
      </p:sp>
      <p:sp>
        <p:nvSpPr>
          <p:cNvPr id="18" name="Shape 13"/>
          <p:cNvSpPr/>
          <p:nvPr/>
        </p:nvSpPr>
        <p:spPr>
          <a:xfrm>
            <a:off x="937260" y="5212080"/>
            <a:ext cx="594360" cy="594360"/>
          </a:xfrm>
          <a:prstGeom prst="ellipse">
            <a:avLst/>
          </a:prstGeom>
          <a:solidFill>
            <a:schemeClr val="accent1"/>
          </a:solidFill>
          <a:ln>
            <a:solidFill>
              <a:schemeClr val="accent1"/>
            </a:solidFill>
          </a:ln>
        </p:spPr>
        <p:txBody>
          <a:bodyPr/>
          <a:lstStyle/>
          <a:p>
            <a:endParaRPr lang="en-US"/>
          </a:p>
        </p:txBody>
      </p:sp>
      <p:pic>
        <p:nvPicPr>
          <p:cNvPr id="19" name="Image 3" descr="/home/claude/crop_yield_ppt/icons/grid_FFFFFF.png"/>
          <p:cNvPicPr>
            <a:picLocks noChangeAspect="1"/>
          </p:cNvPicPr>
          <p:nvPr/>
        </p:nvPicPr>
        <p:blipFill>
          <a:blip r:embed="rId6"/>
          <a:stretch>
            <a:fillRect/>
          </a:stretch>
        </p:blipFill>
        <p:spPr>
          <a:xfrm>
            <a:off x="1070991" y="5345811"/>
            <a:ext cx="326898" cy="326898"/>
          </a:xfrm>
          <a:prstGeom prst="rect">
            <a:avLst/>
          </a:prstGeom>
        </p:spPr>
      </p:pic>
      <p:sp>
        <p:nvSpPr>
          <p:cNvPr id="20" name="Text 14"/>
          <p:cNvSpPr/>
          <p:nvPr/>
        </p:nvSpPr>
        <p:spPr>
          <a:xfrm>
            <a:off x="1828800" y="5029200"/>
            <a:ext cx="9509760" cy="960120"/>
          </a:xfrm>
          <a:prstGeom prst="rect">
            <a:avLst/>
          </a:prstGeom>
          <a:noFill/>
          <a:ln/>
        </p:spPr>
        <p:txBody>
          <a:bodyPr wrap="square" rtlCol="0" anchor="ctr"/>
          <a:lstStyle/>
          <a:p>
            <a:pPr marL="0" indent="0">
              <a:buNone/>
            </a:pPr>
            <a:r>
              <a:rPr lang="en-US" sz="1350" b="1" dirty="0">
                <a:solidFill>
                  <a:srgbClr val="223522"/>
                </a:solidFill>
                <a:latin typeface="Calibri" pitchFamily="34" charset="0"/>
                <a:ea typeface="Calibri" pitchFamily="34" charset="-122"/>
                <a:cs typeface="Calibri" pitchFamily="34" charset="-120"/>
              </a:rPr>
              <a:t>Exportable Views  —  </a:t>
            </a:r>
            <a:r>
              <a:rPr lang="en-US" sz="1250" dirty="0">
                <a:solidFill>
                  <a:srgbClr val="6B7A6B"/>
                </a:solidFill>
                <a:latin typeface="Calibri" pitchFamily="34" charset="0"/>
                <a:ea typeface="Calibri" pitchFamily="34" charset="-122"/>
                <a:cs typeface="Calibri" pitchFamily="34" charset="-120"/>
              </a:rPr>
              <a:t>Export any filtered view or chart for reporting and further analysis.</a:t>
            </a:r>
            <a:endParaRPr lang="en-US" sz="1350" dirty="0"/>
          </a:p>
        </p:txBody>
      </p:sp>
      <p:sp>
        <p:nvSpPr>
          <p:cNvPr id="22" name="Text 16"/>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06 — MACHINE LEARNING</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Model Overview &amp; Comparison</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model comparison table]</a:t>
            </a:r>
            <a:endParaRPr lang="en-US" sz="900" dirty="0"/>
          </a:p>
        </p:txBody>
      </p:sp>
      <p:graphicFrame>
        <p:nvGraphicFramePr>
          <p:cNvPr id="17" name="Table 0"/>
          <p:cNvGraphicFramePr>
            <a:graphicFrameLocks noGrp="1"/>
          </p:cNvGraphicFramePr>
          <p:nvPr>
            <p:extLst>
              <p:ext uri="{D42A27DB-BD31-4B8C-83A1-F6EECF244321}">
                <p14:modId xmlns:p14="http://schemas.microsoft.com/office/powerpoint/2010/main" val="515308713"/>
              </p:ext>
            </p:extLst>
          </p:nvPr>
        </p:nvGraphicFramePr>
        <p:xfrm>
          <a:off x="548640" y="1691640"/>
          <a:ext cx="7680960" cy="2775857"/>
        </p:xfrm>
        <a:graphic>
          <a:graphicData uri="http://schemas.openxmlformats.org/drawingml/2006/table">
            <a:tbl>
              <a:tblPr>
                <a:tableStyleId>{3C2FFA5D-87B4-456A-9821-1D502468CF0F}</a:tableStyleId>
              </a:tblPr>
              <a:tblGrid>
                <a:gridCol w="2743200">
                  <a:extLst>
                    <a:ext uri="{9D8B030D-6E8A-4147-A177-3AD203B41FA5}">
                      <a16:colId xmlns:a16="http://schemas.microsoft.com/office/drawing/2014/main" val="20000"/>
                    </a:ext>
                  </a:extLst>
                </a:gridCol>
                <a:gridCol w="1234440">
                  <a:extLst>
                    <a:ext uri="{9D8B030D-6E8A-4147-A177-3AD203B41FA5}">
                      <a16:colId xmlns:a16="http://schemas.microsoft.com/office/drawing/2014/main" val="20001"/>
                    </a:ext>
                  </a:extLst>
                </a:gridCol>
                <a:gridCol w="1234440">
                  <a:extLst>
                    <a:ext uri="{9D8B030D-6E8A-4147-A177-3AD203B41FA5}">
                      <a16:colId xmlns:a16="http://schemas.microsoft.com/office/drawing/2014/main" val="20002"/>
                    </a:ext>
                  </a:extLst>
                </a:gridCol>
                <a:gridCol w="1234440">
                  <a:extLst>
                    <a:ext uri="{9D8B030D-6E8A-4147-A177-3AD203B41FA5}">
                      <a16:colId xmlns:a16="http://schemas.microsoft.com/office/drawing/2014/main" val="20003"/>
                    </a:ext>
                  </a:extLst>
                </a:gridCol>
                <a:gridCol w="1234440">
                  <a:extLst>
                    <a:ext uri="{9D8B030D-6E8A-4147-A177-3AD203B41FA5}">
                      <a16:colId xmlns:a16="http://schemas.microsoft.com/office/drawing/2014/main" val="20004"/>
                    </a:ext>
                  </a:extLst>
                </a:gridCol>
              </a:tblGrid>
              <a:tr h="548640">
                <a:tc>
                  <a:txBody>
                    <a:bodyPr/>
                    <a:lstStyle/>
                    <a:p>
                      <a:pPr marL="0" indent="0">
                        <a:buNone/>
                      </a:pPr>
                      <a:r>
                        <a:rPr lang="en-US" sz="1300" b="1" dirty="0">
                          <a:solidFill>
                            <a:srgbClr val="FFFFFF"/>
                          </a:solidFill>
                        </a:rPr>
                        <a:t>Model</a:t>
                      </a:r>
                      <a:endParaRPr lang="en-US" sz="1300" dirty="0">
                        <a:latin typeface="Calibri" charset="0"/>
                        <a:ea typeface="Calibri" charset="0"/>
                        <a:cs typeface="Calibri" charset="0"/>
                      </a:endParaRPr>
                    </a:p>
                  </a:txBody>
                  <a:tcPr anchor="ctr"/>
                </a:tc>
                <a:tc>
                  <a:txBody>
                    <a:bodyPr/>
                    <a:lstStyle/>
                    <a:p>
                      <a:pPr marL="0" indent="0">
                        <a:buNone/>
                      </a:pPr>
                      <a:r>
                        <a:rPr lang="en-US" sz="1300" b="1" dirty="0">
                          <a:solidFill>
                            <a:srgbClr val="FFFFFF"/>
                          </a:solidFill>
                        </a:rPr>
                        <a:t>R²</a:t>
                      </a:r>
                      <a:endParaRPr lang="en-US" sz="1300" dirty="0">
                        <a:latin typeface="Calibri" charset="0"/>
                        <a:ea typeface="Calibri" charset="0"/>
                        <a:cs typeface="Calibri" charset="0"/>
                      </a:endParaRPr>
                    </a:p>
                  </a:txBody>
                  <a:tcPr anchor="ctr"/>
                </a:tc>
                <a:tc>
                  <a:txBody>
                    <a:bodyPr/>
                    <a:lstStyle/>
                    <a:p>
                      <a:pPr marL="0" indent="0">
                        <a:buNone/>
                      </a:pPr>
                      <a:r>
                        <a:rPr lang="en-US" sz="1300" b="1" dirty="0">
                          <a:solidFill>
                            <a:srgbClr val="FFFFFF"/>
                          </a:solidFill>
                        </a:rPr>
                        <a:t>MAE</a:t>
                      </a:r>
                      <a:endParaRPr lang="en-US" sz="1300" dirty="0">
                        <a:latin typeface="Calibri" charset="0"/>
                        <a:ea typeface="Calibri" charset="0"/>
                        <a:cs typeface="Calibri" charset="0"/>
                      </a:endParaRPr>
                    </a:p>
                  </a:txBody>
                  <a:tcPr anchor="ctr"/>
                </a:tc>
                <a:tc>
                  <a:txBody>
                    <a:bodyPr/>
                    <a:lstStyle/>
                    <a:p>
                      <a:pPr marL="0" indent="0">
                        <a:buNone/>
                      </a:pPr>
                      <a:r>
                        <a:rPr lang="en-US" sz="1300" b="1" dirty="0">
                          <a:solidFill>
                            <a:srgbClr val="FFFFFF"/>
                          </a:solidFill>
                        </a:rPr>
                        <a:t>MSE</a:t>
                      </a:r>
                      <a:endParaRPr lang="en-US" sz="1300" dirty="0">
                        <a:latin typeface="Calibri" charset="0"/>
                        <a:ea typeface="Calibri" charset="0"/>
                        <a:cs typeface="Calibri" charset="0"/>
                      </a:endParaRPr>
                    </a:p>
                  </a:txBody>
                  <a:tcPr anchor="ctr"/>
                </a:tc>
                <a:tc>
                  <a:txBody>
                    <a:bodyPr/>
                    <a:lstStyle/>
                    <a:p>
                      <a:pPr marL="0" indent="0">
                        <a:buNone/>
                      </a:pPr>
                      <a:r>
                        <a:rPr lang="en-US" sz="1300" b="1" dirty="0">
                          <a:solidFill>
                            <a:srgbClr val="FFFFFF"/>
                          </a:solidFill>
                        </a:rPr>
                        <a:t>RMSE</a:t>
                      </a:r>
                      <a:endParaRPr lang="en-US" sz="1300" dirty="0">
                        <a:latin typeface="Calibri" charset="0"/>
                        <a:ea typeface="Calibri" charset="0"/>
                        <a:cs typeface="Calibri" charset="0"/>
                      </a:endParaRPr>
                    </a:p>
                  </a:txBody>
                  <a:tcPr anchor="ctr"/>
                </a:tc>
                <a:extLst>
                  <a:ext uri="{0D108BD9-81ED-4DB2-BD59-A6C34878D82A}">
                    <a16:rowId xmlns:a16="http://schemas.microsoft.com/office/drawing/2014/main" val="10000"/>
                  </a:ext>
                </a:extLst>
              </a:tr>
              <a:tr h="548640">
                <a:tc>
                  <a:txBody>
                    <a:bodyPr/>
                    <a:lstStyle/>
                    <a:p>
                      <a:pPr marL="0" indent="0" algn="l">
                        <a:buNone/>
                      </a:pPr>
                      <a:r>
                        <a:rPr lang="en-US" sz="1300" b="1" dirty="0">
                          <a:solidFill>
                            <a:srgbClr val="223522"/>
                          </a:solidFill>
                        </a:rPr>
                        <a:t>Linear Regression</a:t>
                      </a:r>
                      <a:endParaRPr lang="en-US" sz="1300" dirty="0">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0.71</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0.62</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0.71</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0.84</a:t>
                      </a:r>
                      <a:endParaRPr lang="en-US" sz="13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1"/>
                  </a:ext>
                </a:extLst>
              </a:tr>
              <a:tr h="548640">
                <a:tc>
                  <a:txBody>
                    <a:bodyPr/>
                    <a:lstStyle/>
                    <a:p>
                      <a:pPr marL="0" indent="0" algn="l">
                        <a:buNone/>
                      </a:pPr>
                      <a:r>
                        <a:rPr lang="en-US" sz="1300" b="1" dirty="0">
                          <a:solidFill>
                            <a:srgbClr val="223522"/>
                          </a:solidFill>
                        </a:rPr>
                        <a:t>Decision Tree</a:t>
                      </a:r>
                      <a:endParaRPr lang="en-US" sz="1300" dirty="0">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0.79</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0.51</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0.55</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0.74</a:t>
                      </a:r>
                      <a:endParaRPr lang="en-US" sz="13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2"/>
                  </a:ext>
                </a:extLst>
              </a:tr>
              <a:tr h="581297">
                <a:tc>
                  <a:txBody>
                    <a:bodyPr/>
                    <a:lstStyle/>
                    <a:p>
                      <a:pPr marL="0" indent="0" algn="l">
                        <a:buNone/>
                      </a:pPr>
                      <a:r>
                        <a:rPr lang="en-US" sz="1300" b="1" dirty="0">
                          <a:solidFill>
                            <a:srgbClr val="FFFFFF"/>
                          </a:solidFill>
                        </a:rPr>
                        <a:t>Random Forest</a:t>
                      </a:r>
                      <a:endParaRPr lang="en-US" sz="1300" dirty="0">
                        <a:latin typeface="Calibri" charset="0"/>
                        <a:ea typeface="Calibri" charset="0"/>
                        <a:cs typeface="Calibri" charset="0"/>
                      </a:endParaRPr>
                    </a:p>
                  </a:txBody>
                  <a:tcPr anchor="ctr"/>
                </a:tc>
                <a:tc>
                  <a:txBody>
                    <a:bodyPr/>
                    <a:lstStyle/>
                    <a:p>
                      <a:pPr marL="0" indent="0" algn="r">
                        <a:buNone/>
                      </a:pPr>
                      <a:r>
                        <a:rPr lang="en-US" sz="1300" b="1" dirty="0">
                          <a:solidFill>
                            <a:srgbClr val="FFFFFF"/>
                          </a:solidFill>
                        </a:rPr>
                        <a:t>0.89</a:t>
                      </a:r>
                      <a:endParaRPr lang="en-US" sz="1300" dirty="0">
                        <a:latin typeface="Calibri" charset="0"/>
                        <a:ea typeface="Calibri" charset="0"/>
                        <a:cs typeface="Calibri" charset="0"/>
                      </a:endParaRPr>
                    </a:p>
                  </a:txBody>
                  <a:tcPr anchor="ctr"/>
                </a:tc>
                <a:tc>
                  <a:txBody>
                    <a:bodyPr/>
                    <a:lstStyle/>
                    <a:p>
                      <a:pPr marL="0" indent="0" algn="r">
                        <a:buNone/>
                      </a:pPr>
                      <a:r>
                        <a:rPr lang="en-US" sz="1300" b="1" dirty="0">
                          <a:solidFill>
                            <a:srgbClr val="FFFFFF"/>
                          </a:solidFill>
                        </a:rPr>
                        <a:t>0.34</a:t>
                      </a:r>
                      <a:endParaRPr lang="en-US" sz="1300" dirty="0">
                        <a:latin typeface="Calibri" charset="0"/>
                        <a:ea typeface="Calibri" charset="0"/>
                        <a:cs typeface="Calibri" charset="0"/>
                      </a:endParaRPr>
                    </a:p>
                  </a:txBody>
                  <a:tcPr anchor="ctr"/>
                </a:tc>
                <a:tc>
                  <a:txBody>
                    <a:bodyPr/>
                    <a:lstStyle/>
                    <a:p>
                      <a:pPr marL="0" indent="0" algn="r">
                        <a:buNone/>
                      </a:pPr>
                      <a:r>
                        <a:rPr lang="en-US" sz="1300" b="1" dirty="0">
                          <a:solidFill>
                            <a:srgbClr val="FFFFFF"/>
                          </a:solidFill>
                        </a:rPr>
                        <a:t>0.29</a:t>
                      </a:r>
                      <a:endParaRPr lang="en-US" sz="1300" dirty="0">
                        <a:latin typeface="Calibri" charset="0"/>
                        <a:ea typeface="Calibri" charset="0"/>
                        <a:cs typeface="Calibri" charset="0"/>
                      </a:endParaRPr>
                    </a:p>
                  </a:txBody>
                  <a:tcPr anchor="ctr"/>
                </a:tc>
                <a:tc>
                  <a:txBody>
                    <a:bodyPr/>
                    <a:lstStyle/>
                    <a:p>
                      <a:pPr marL="0" indent="0" algn="r">
                        <a:buNone/>
                      </a:pPr>
                      <a:r>
                        <a:rPr lang="en-US" sz="1300" b="1" dirty="0">
                          <a:solidFill>
                            <a:srgbClr val="FFFFFF"/>
                          </a:solidFill>
                        </a:rPr>
                        <a:t>0.54</a:t>
                      </a:r>
                      <a:endParaRPr lang="en-US" sz="1300" dirty="0">
                        <a:latin typeface="Calibri" charset="0"/>
                        <a:ea typeface="Calibri" charset="0"/>
                        <a:cs typeface="Calibri" charset="0"/>
                      </a:endParaRPr>
                    </a:p>
                  </a:txBody>
                  <a:tcPr anchor="ctr"/>
                </a:tc>
                <a:extLst>
                  <a:ext uri="{0D108BD9-81ED-4DB2-BD59-A6C34878D82A}">
                    <a16:rowId xmlns:a16="http://schemas.microsoft.com/office/drawing/2014/main" val="10003"/>
                  </a:ext>
                </a:extLst>
              </a:tr>
              <a:tr h="548640">
                <a:tc>
                  <a:txBody>
                    <a:bodyPr/>
                    <a:lstStyle/>
                    <a:p>
                      <a:pPr marL="0" indent="0" algn="l">
                        <a:buNone/>
                      </a:pPr>
                      <a:r>
                        <a:rPr lang="en-US" sz="1300" b="1" dirty="0">
                          <a:solidFill>
                            <a:srgbClr val="223522"/>
                          </a:solidFill>
                        </a:rPr>
                        <a:t>Gradient Boosting</a:t>
                      </a:r>
                      <a:endParaRPr lang="en-US" sz="1300" dirty="0">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0.87</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0.37</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0.32</a:t>
                      </a:r>
                      <a:endParaRPr lang="en-US" sz="1300" dirty="0">
                        <a:solidFill>
                          <a:srgbClr val="0070C0"/>
                        </a:solidFill>
                        <a:latin typeface="Calibri" charset="0"/>
                        <a:ea typeface="Calibri" charset="0"/>
                        <a:cs typeface="Calibri" charset="0"/>
                      </a:endParaRPr>
                    </a:p>
                  </a:txBody>
                  <a:tcPr anchor="ctr"/>
                </a:tc>
                <a:tc>
                  <a:txBody>
                    <a:bodyPr/>
                    <a:lstStyle/>
                    <a:p>
                      <a:pPr marL="0" indent="0" algn="r">
                        <a:buNone/>
                      </a:pPr>
                      <a:r>
                        <a:rPr lang="en-US" sz="1300" dirty="0">
                          <a:solidFill>
                            <a:srgbClr val="0070C0"/>
                          </a:solidFill>
                        </a:rPr>
                        <a:t>0.57</a:t>
                      </a:r>
                      <a:endParaRPr lang="en-US" sz="1300" dirty="0">
                        <a:solidFill>
                          <a:srgbClr val="0070C0"/>
                        </a:solidFill>
                        <a:latin typeface="Calibri" charset="0"/>
                        <a:ea typeface="Calibri" charset="0"/>
                        <a:cs typeface="Calibri" charset="0"/>
                      </a:endParaRPr>
                    </a:p>
                  </a:txBody>
                  <a:tcPr anchor="ctr"/>
                </a:tc>
                <a:extLst>
                  <a:ext uri="{0D108BD9-81ED-4DB2-BD59-A6C34878D82A}">
                    <a16:rowId xmlns:a16="http://schemas.microsoft.com/office/drawing/2014/main" val="10004"/>
                  </a:ext>
                </a:extLst>
              </a:tr>
            </a:tbl>
          </a:graphicData>
        </a:graphic>
      </p:graphicFrame>
      <p:sp>
        <p:nvSpPr>
          <p:cNvPr id="6" name="Shape 3"/>
          <p:cNvSpPr/>
          <p:nvPr/>
        </p:nvSpPr>
        <p:spPr>
          <a:xfrm>
            <a:off x="8503920" y="1691640"/>
            <a:ext cx="3108960" cy="2743200"/>
          </a:xfrm>
          <a:prstGeom prst="roundRect">
            <a:avLst>
              <a:gd name="adj" fmla="val 2667"/>
            </a:avLst>
          </a:prstGeom>
          <a:solidFill>
            <a:srgbClr val="F4F7F2"/>
          </a:solidFill>
          <a:ln/>
        </p:spPr>
        <p:txBody>
          <a:bodyPr/>
          <a:lstStyle/>
          <a:p>
            <a:endParaRPr lang="en-US"/>
          </a:p>
        </p:txBody>
      </p:sp>
      <p:sp>
        <p:nvSpPr>
          <p:cNvPr id="7" name="Shape 4"/>
          <p:cNvSpPr/>
          <p:nvPr/>
        </p:nvSpPr>
        <p:spPr>
          <a:xfrm>
            <a:off x="9715500" y="1988820"/>
            <a:ext cx="685800" cy="685800"/>
          </a:xfrm>
          <a:prstGeom prst="ellipse">
            <a:avLst/>
          </a:prstGeom>
          <a:solidFill>
            <a:srgbClr val="D9A62E"/>
          </a:solidFill>
          <a:ln/>
        </p:spPr>
        <p:txBody>
          <a:bodyPr/>
          <a:lstStyle/>
          <a:p>
            <a:endParaRPr lang="en-US"/>
          </a:p>
        </p:txBody>
      </p:sp>
      <p:pic>
        <p:nvPicPr>
          <p:cNvPr id="8" name="Image 0" descr="/home/claude/crop_yield_ppt/icons/award_FFFFFF.png"/>
          <p:cNvPicPr>
            <a:picLocks noChangeAspect="1"/>
          </p:cNvPicPr>
          <p:nvPr/>
        </p:nvPicPr>
        <p:blipFill>
          <a:blip r:embed="rId3"/>
          <a:stretch>
            <a:fillRect/>
          </a:stretch>
        </p:blipFill>
        <p:spPr>
          <a:xfrm>
            <a:off x="9869805" y="2143125"/>
            <a:ext cx="377190" cy="377190"/>
          </a:xfrm>
          <a:prstGeom prst="rect">
            <a:avLst/>
          </a:prstGeom>
        </p:spPr>
      </p:pic>
      <p:sp>
        <p:nvSpPr>
          <p:cNvPr id="9" name="Text 5"/>
          <p:cNvSpPr/>
          <p:nvPr/>
        </p:nvSpPr>
        <p:spPr>
          <a:xfrm>
            <a:off x="8732520" y="2834640"/>
            <a:ext cx="2651760" cy="320040"/>
          </a:xfrm>
          <a:prstGeom prst="rect">
            <a:avLst/>
          </a:prstGeom>
          <a:noFill/>
          <a:ln/>
        </p:spPr>
        <p:txBody>
          <a:bodyPr wrap="square" rtlCol="0" anchor="ctr"/>
          <a:lstStyle/>
          <a:p>
            <a:pPr marL="0" indent="0" algn="ctr">
              <a:buNone/>
            </a:pPr>
            <a:r>
              <a:rPr lang="en-US" sz="1350" b="1" dirty="0">
                <a:solidFill>
                  <a:srgbClr val="223522"/>
                </a:solidFill>
                <a:latin typeface="Cambria" pitchFamily="34" charset="0"/>
                <a:ea typeface="Cambria" pitchFamily="34" charset="-122"/>
                <a:cs typeface="Cambria" pitchFamily="34" charset="-120"/>
              </a:rPr>
              <a:t>Random Forest wins</a:t>
            </a:r>
            <a:endParaRPr lang="en-US" sz="1350" dirty="0"/>
          </a:p>
        </p:txBody>
      </p:sp>
      <p:sp>
        <p:nvSpPr>
          <p:cNvPr id="10" name="Text 6"/>
          <p:cNvSpPr/>
          <p:nvPr/>
        </p:nvSpPr>
        <p:spPr>
          <a:xfrm>
            <a:off x="8732520" y="3200400"/>
            <a:ext cx="2651760" cy="1097280"/>
          </a:xfrm>
          <a:prstGeom prst="rect">
            <a:avLst/>
          </a:prstGeom>
          <a:noFill/>
          <a:ln/>
        </p:spPr>
        <p:txBody>
          <a:bodyPr wrap="square" rtlCol="0" anchor="ctr"/>
          <a:lstStyle/>
          <a:p>
            <a:pPr marL="0" indent="0" algn="ctr">
              <a:buNone/>
            </a:pPr>
            <a:r>
              <a:rPr lang="en-US" sz="1100" dirty="0">
                <a:solidFill>
                  <a:srgbClr val="6B7A6B"/>
                </a:solidFill>
                <a:latin typeface="Calibri" pitchFamily="34" charset="0"/>
                <a:ea typeface="Calibri" pitchFamily="34" charset="-122"/>
                <a:cs typeface="Calibri" pitchFamily="34" charset="-120"/>
              </a:rPr>
              <a:t>Highest R² (0.89) with the lowest error across MAE, MSE, and RMSE.</a:t>
            </a:r>
            <a:endParaRPr lang="en-US" sz="1100" dirty="0"/>
          </a:p>
        </p:txBody>
      </p:sp>
      <p:sp>
        <p:nvSpPr>
          <p:cNvPr id="11" name="Text 7"/>
          <p:cNvSpPr/>
          <p:nvPr/>
        </p:nvSpPr>
        <p:spPr>
          <a:xfrm>
            <a:off x="548640" y="4709160"/>
            <a:ext cx="11064240" cy="457200"/>
          </a:xfrm>
          <a:prstGeom prst="rect">
            <a:avLst/>
          </a:prstGeom>
          <a:noFill/>
          <a:ln/>
        </p:spPr>
        <p:txBody>
          <a:bodyPr wrap="square" rtlCol="0" anchor="ctr"/>
          <a:lstStyle/>
          <a:p>
            <a:pPr marL="0" indent="0">
              <a:buNone/>
            </a:pPr>
            <a:r>
              <a:rPr lang="en-US" sz="1150" i="1" dirty="0">
                <a:solidFill>
                  <a:srgbClr val="6B7A6B"/>
                </a:solidFill>
                <a:latin typeface="Calibri" pitchFamily="34" charset="0"/>
                <a:ea typeface="Calibri" pitchFamily="34" charset="-122"/>
                <a:cs typeface="Calibri" pitchFamily="34" charset="-120"/>
              </a:rPr>
              <a:t>All models trained on the same 80/20 train-test split with identical preprocessing, then evaluated on held-out test data for a fair comparison.</a:t>
            </a:r>
            <a:endParaRPr lang="en-US" sz="1150" dirty="0"/>
          </a:p>
        </p:txBody>
      </p:sp>
      <p:sp>
        <p:nvSpPr>
          <p:cNvPr id="13" name="Text 9"/>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0070C0"/>
                </a:solidFill>
                <a:latin typeface="Calibri" pitchFamily="34" charset="0"/>
                <a:ea typeface="Calibri" pitchFamily="34" charset="-122"/>
                <a:cs typeface="Calibri" pitchFamily="34" charset="-120"/>
              </a:rPr>
              <a:t>SECTION 06 — MACHINE LEARNING</a:t>
            </a:r>
            <a:endParaRPr lang="en-US" sz="1200" dirty="0">
              <a:solidFill>
                <a:srgbClr val="0070C0"/>
              </a:solidFill>
            </a:endParaRPr>
          </a:p>
        </p:txBody>
      </p:sp>
      <p:sp>
        <p:nvSpPr>
          <p:cNvPr id="3" name="Text 1"/>
          <p:cNvSpPr/>
          <p:nvPr/>
        </p:nvSpPr>
        <p:spPr>
          <a:xfrm>
            <a:off x="548640" y="658368"/>
            <a:ext cx="10515600" cy="731520"/>
          </a:xfrm>
          <a:prstGeom prst="rect">
            <a:avLst/>
          </a:prstGeom>
          <a:noFill/>
          <a:ln/>
        </p:spPr>
        <p:txBody>
          <a:bodyPr wrap="square" rtlCol="0" anchor="ctr"/>
          <a:lstStyle/>
          <a:p>
            <a:r>
              <a:rPr lang="en-US" sz="3000" b="1" dirty="0">
                <a:solidFill>
                  <a:srgbClr val="223522"/>
                </a:solidFill>
                <a:latin typeface="Cambria" pitchFamily="34" charset="0"/>
                <a:ea typeface="Cambria" pitchFamily="34" charset="-122"/>
              </a:rPr>
              <a:t>Best Model: Random Forest Regressor</a:t>
            </a:r>
          </a:p>
        </p:txBody>
      </p:sp>
      <p:sp>
        <p:nvSpPr>
          <p:cNvPr id="4" name="Text 2"/>
          <p:cNvSpPr/>
          <p:nvPr/>
        </p:nvSpPr>
        <p:spPr>
          <a:xfrm>
            <a:off x="548640" y="1280160"/>
            <a:ext cx="7315200" cy="274320"/>
          </a:xfrm>
          <a:prstGeom prst="rect">
            <a:avLst/>
          </a:prstGeom>
          <a:noFill/>
          <a:ln/>
        </p:spPr>
        <p:txBody>
          <a:bodyPr wrap="square" rtlCol="0" anchor="ctr"/>
          <a:lstStyle/>
          <a:p>
            <a:pPr marL="0" indent="0">
              <a:buNone/>
            </a:pPr>
            <a:r>
              <a:rPr lang="en-US" sz="900" i="1" dirty="0">
                <a:solidFill>
                  <a:srgbClr val="8FA48B"/>
                </a:solidFill>
                <a:latin typeface="Calibri" pitchFamily="34" charset="0"/>
                <a:ea typeface="Calibri" pitchFamily="34" charset="-122"/>
                <a:cs typeface="Calibri" pitchFamily="34" charset="-120"/>
              </a:rPr>
              <a:t>[IMAGE PLACEHOLDER: evaluation metrics charts]</a:t>
            </a:r>
            <a:endParaRPr lang="en-US" sz="900" dirty="0"/>
          </a:p>
        </p:txBody>
      </p:sp>
      <p:sp>
        <p:nvSpPr>
          <p:cNvPr id="5" name="Shape 3"/>
          <p:cNvSpPr/>
          <p:nvPr/>
        </p:nvSpPr>
        <p:spPr>
          <a:xfrm>
            <a:off x="548640" y="1965960"/>
            <a:ext cx="2606040" cy="3291840"/>
          </a:xfrm>
          <a:prstGeom prst="roundRect">
            <a:avLst>
              <a:gd name="adj" fmla="val 2807"/>
            </a:avLst>
          </a:prstGeom>
          <a:solidFill>
            <a:schemeClr val="accent1"/>
          </a:solidFill>
          <a:ln>
            <a:solidFill>
              <a:schemeClr val="accent1"/>
            </a:solidFill>
          </a:ln>
        </p:spPr>
        <p:txBody>
          <a:bodyPr/>
          <a:lstStyle/>
          <a:p>
            <a:endParaRPr lang="en-US"/>
          </a:p>
        </p:txBody>
      </p:sp>
      <p:sp>
        <p:nvSpPr>
          <p:cNvPr id="6" name="Text 4"/>
          <p:cNvSpPr/>
          <p:nvPr/>
        </p:nvSpPr>
        <p:spPr>
          <a:xfrm>
            <a:off x="548640" y="2331720"/>
            <a:ext cx="2606040" cy="1097280"/>
          </a:xfrm>
          <a:prstGeom prst="rect">
            <a:avLst/>
          </a:prstGeom>
          <a:noFill/>
          <a:ln/>
        </p:spPr>
        <p:txBody>
          <a:bodyPr wrap="square" rtlCol="0" anchor="ctr"/>
          <a:lstStyle/>
          <a:p>
            <a:pPr marL="0" indent="0" algn="ctr">
              <a:buNone/>
            </a:pPr>
            <a:r>
              <a:rPr lang="en-US" sz="4400" b="1" dirty="0">
                <a:solidFill>
                  <a:srgbClr val="D9A62E"/>
                </a:solidFill>
                <a:latin typeface="Cambria" pitchFamily="34" charset="0"/>
                <a:ea typeface="Cambria" pitchFamily="34" charset="-122"/>
                <a:cs typeface="Cambria" pitchFamily="34" charset="-120"/>
              </a:rPr>
              <a:t>0.89</a:t>
            </a:r>
            <a:endParaRPr lang="en-US" sz="4400" dirty="0"/>
          </a:p>
        </p:txBody>
      </p:sp>
      <p:sp>
        <p:nvSpPr>
          <p:cNvPr id="7" name="Text 5"/>
          <p:cNvSpPr/>
          <p:nvPr/>
        </p:nvSpPr>
        <p:spPr>
          <a:xfrm>
            <a:off x="548640" y="3520440"/>
            <a:ext cx="260604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R² Score</a:t>
            </a:r>
            <a:endParaRPr lang="en-US" sz="1500" dirty="0"/>
          </a:p>
        </p:txBody>
      </p:sp>
      <p:sp>
        <p:nvSpPr>
          <p:cNvPr id="8" name="Text 6"/>
          <p:cNvSpPr/>
          <p:nvPr/>
        </p:nvSpPr>
        <p:spPr>
          <a:xfrm>
            <a:off x="731520" y="3931920"/>
            <a:ext cx="2240280" cy="822960"/>
          </a:xfrm>
          <a:prstGeom prst="rect">
            <a:avLst/>
          </a:prstGeom>
          <a:noFill/>
          <a:ln/>
        </p:spPr>
        <p:txBody>
          <a:bodyPr wrap="square" rtlCol="0" anchor="ctr"/>
          <a:lstStyle/>
          <a:p>
            <a:pPr marL="0" indent="0" algn="ctr">
              <a:buNone/>
            </a:pPr>
            <a:r>
              <a:rPr lang="en-US" sz="1050" dirty="0">
                <a:solidFill>
                  <a:srgbClr val="B9CDB4"/>
                </a:solidFill>
                <a:latin typeface="Calibri" pitchFamily="34" charset="0"/>
                <a:ea typeface="Calibri" pitchFamily="34" charset="-122"/>
                <a:cs typeface="Calibri" pitchFamily="34" charset="-120"/>
              </a:rPr>
              <a:t>Variance explained</a:t>
            </a:r>
            <a:endParaRPr lang="en-US" sz="1050" dirty="0"/>
          </a:p>
        </p:txBody>
      </p:sp>
      <p:sp>
        <p:nvSpPr>
          <p:cNvPr id="9" name="Shape 7"/>
          <p:cNvSpPr/>
          <p:nvPr/>
        </p:nvSpPr>
        <p:spPr>
          <a:xfrm>
            <a:off x="3337560" y="1965960"/>
            <a:ext cx="2606040" cy="3291840"/>
          </a:xfrm>
          <a:prstGeom prst="roundRect">
            <a:avLst>
              <a:gd name="adj" fmla="val 2807"/>
            </a:avLst>
          </a:prstGeom>
          <a:solidFill>
            <a:schemeClr val="accent1"/>
          </a:solidFill>
          <a:ln>
            <a:solidFill>
              <a:schemeClr val="accent1"/>
            </a:solidFill>
          </a:ln>
        </p:spPr>
        <p:txBody>
          <a:bodyPr/>
          <a:lstStyle/>
          <a:p>
            <a:endParaRPr lang="en-US"/>
          </a:p>
        </p:txBody>
      </p:sp>
      <p:sp>
        <p:nvSpPr>
          <p:cNvPr id="10" name="Text 8"/>
          <p:cNvSpPr/>
          <p:nvPr/>
        </p:nvSpPr>
        <p:spPr>
          <a:xfrm>
            <a:off x="3337560" y="2331720"/>
            <a:ext cx="2606040" cy="1097280"/>
          </a:xfrm>
          <a:prstGeom prst="rect">
            <a:avLst/>
          </a:prstGeom>
          <a:noFill/>
          <a:ln/>
        </p:spPr>
        <p:txBody>
          <a:bodyPr wrap="square" rtlCol="0" anchor="ctr"/>
          <a:lstStyle/>
          <a:p>
            <a:pPr marL="0" indent="0" algn="ctr">
              <a:buNone/>
            </a:pPr>
            <a:r>
              <a:rPr lang="en-US" sz="4400" b="1" dirty="0">
                <a:solidFill>
                  <a:srgbClr val="D9A62E"/>
                </a:solidFill>
                <a:latin typeface="Cambria" pitchFamily="34" charset="0"/>
                <a:ea typeface="Cambria" pitchFamily="34" charset="-122"/>
                <a:cs typeface="Cambria" pitchFamily="34" charset="-120"/>
              </a:rPr>
              <a:t>0.34</a:t>
            </a:r>
            <a:endParaRPr lang="en-US" sz="4400" dirty="0"/>
          </a:p>
        </p:txBody>
      </p:sp>
      <p:sp>
        <p:nvSpPr>
          <p:cNvPr id="11" name="Text 9"/>
          <p:cNvSpPr/>
          <p:nvPr/>
        </p:nvSpPr>
        <p:spPr>
          <a:xfrm>
            <a:off x="3337560" y="3520440"/>
            <a:ext cx="260604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MAE</a:t>
            </a:r>
            <a:endParaRPr lang="en-US" sz="1500" dirty="0"/>
          </a:p>
        </p:txBody>
      </p:sp>
      <p:sp>
        <p:nvSpPr>
          <p:cNvPr id="12" name="Text 10"/>
          <p:cNvSpPr/>
          <p:nvPr/>
        </p:nvSpPr>
        <p:spPr>
          <a:xfrm>
            <a:off x="3520440" y="3931920"/>
            <a:ext cx="2240280" cy="822960"/>
          </a:xfrm>
          <a:prstGeom prst="rect">
            <a:avLst/>
          </a:prstGeom>
          <a:noFill/>
          <a:ln/>
        </p:spPr>
        <p:txBody>
          <a:bodyPr wrap="square" rtlCol="0" anchor="ctr"/>
          <a:lstStyle/>
          <a:p>
            <a:pPr marL="0" indent="0" algn="ctr">
              <a:buNone/>
            </a:pPr>
            <a:r>
              <a:rPr lang="en-US" sz="1050" dirty="0">
                <a:solidFill>
                  <a:srgbClr val="B9CDB4"/>
                </a:solidFill>
                <a:latin typeface="Calibri" pitchFamily="34" charset="0"/>
                <a:ea typeface="Calibri" pitchFamily="34" charset="-122"/>
                <a:cs typeface="Calibri" pitchFamily="34" charset="-120"/>
              </a:rPr>
              <a:t>Mean Absolute Error (t/ha)</a:t>
            </a:r>
            <a:endParaRPr lang="en-US" sz="1050" dirty="0"/>
          </a:p>
        </p:txBody>
      </p:sp>
      <p:sp>
        <p:nvSpPr>
          <p:cNvPr id="13" name="Shape 11"/>
          <p:cNvSpPr/>
          <p:nvPr/>
        </p:nvSpPr>
        <p:spPr>
          <a:xfrm>
            <a:off x="6126480" y="1965960"/>
            <a:ext cx="2606040" cy="3291840"/>
          </a:xfrm>
          <a:prstGeom prst="roundRect">
            <a:avLst>
              <a:gd name="adj" fmla="val 2807"/>
            </a:avLst>
          </a:prstGeom>
          <a:solidFill>
            <a:schemeClr val="accent1"/>
          </a:solidFill>
          <a:ln>
            <a:solidFill>
              <a:schemeClr val="accent1"/>
            </a:solidFill>
          </a:ln>
        </p:spPr>
        <p:txBody>
          <a:bodyPr/>
          <a:lstStyle/>
          <a:p>
            <a:endParaRPr lang="en-US"/>
          </a:p>
        </p:txBody>
      </p:sp>
      <p:sp>
        <p:nvSpPr>
          <p:cNvPr id="14" name="Text 12"/>
          <p:cNvSpPr/>
          <p:nvPr/>
        </p:nvSpPr>
        <p:spPr>
          <a:xfrm>
            <a:off x="6126480" y="2331720"/>
            <a:ext cx="2606040" cy="1097280"/>
          </a:xfrm>
          <a:prstGeom prst="rect">
            <a:avLst/>
          </a:prstGeom>
          <a:noFill/>
          <a:ln/>
        </p:spPr>
        <p:txBody>
          <a:bodyPr wrap="square" rtlCol="0" anchor="ctr"/>
          <a:lstStyle/>
          <a:p>
            <a:pPr marL="0" indent="0" algn="ctr">
              <a:buNone/>
            </a:pPr>
            <a:r>
              <a:rPr lang="en-US" sz="4400" b="1" dirty="0">
                <a:solidFill>
                  <a:srgbClr val="D9A62E"/>
                </a:solidFill>
                <a:latin typeface="Cambria" pitchFamily="34" charset="0"/>
                <a:ea typeface="Cambria" pitchFamily="34" charset="-122"/>
                <a:cs typeface="Cambria" pitchFamily="34" charset="-120"/>
              </a:rPr>
              <a:t>0.29</a:t>
            </a:r>
            <a:endParaRPr lang="en-US" sz="4400" dirty="0"/>
          </a:p>
        </p:txBody>
      </p:sp>
      <p:sp>
        <p:nvSpPr>
          <p:cNvPr id="15" name="Text 13"/>
          <p:cNvSpPr/>
          <p:nvPr/>
        </p:nvSpPr>
        <p:spPr>
          <a:xfrm>
            <a:off x="6126480" y="3520440"/>
            <a:ext cx="260604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MSE</a:t>
            </a:r>
            <a:endParaRPr lang="en-US" sz="1500" dirty="0"/>
          </a:p>
        </p:txBody>
      </p:sp>
      <p:sp>
        <p:nvSpPr>
          <p:cNvPr id="16" name="Text 14"/>
          <p:cNvSpPr/>
          <p:nvPr/>
        </p:nvSpPr>
        <p:spPr>
          <a:xfrm>
            <a:off x="6309360" y="3931920"/>
            <a:ext cx="2240280" cy="822960"/>
          </a:xfrm>
          <a:prstGeom prst="rect">
            <a:avLst/>
          </a:prstGeom>
          <a:noFill/>
          <a:ln/>
        </p:spPr>
        <p:txBody>
          <a:bodyPr wrap="square" rtlCol="0" anchor="ctr"/>
          <a:lstStyle/>
          <a:p>
            <a:pPr marL="0" indent="0" algn="ctr">
              <a:buNone/>
            </a:pPr>
            <a:r>
              <a:rPr lang="en-US" sz="1050" dirty="0">
                <a:solidFill>
                  <a:srgbClr val="B9CDB4"/>
                </a:solidFill>
                <a:latin typeface="Calibri" pitchFamily="34" charset="0"/>
                <a:ea typeface="Calibri" pitchFamily="34" charset="-122"/>
                <a:cs typeface="Calibri" pitchFamily="34" charset="-120"/>
              </a:rPr>
              <a:t>Mean Squared Error</a:t>
            </a:r>
            <a:endParaRPr lang="en-US" sz="1050" dirty="0"/>
          </a:p>
        </p:txBody>
      </p:sp>
      <p:sp>
        <p:nvSpPr>
          <p:cNvPr id="17" name="Shape 15"/>
          <p:cNvSpPr/>
          <p:nvPr/>
        </p:nvSpPr>
        <p:spPr>
          <a:xfrm>
            <a:off x="8915400" y="1965960"/>
            <a:ext cx="2606040" cy="3291840"/>
          </a:xfrm>
          <a:prstGeom prst="roundRect">
            <a:avLst>
              <a:gd name="adj" fmla="val 2807"/>
            </a:avLst>
          </a:prstGeom>
          <a:solidFill>
            <a:schemeClr val="accent1"/>
          </a:solidFill>
          <a:ln>
            <a:solidFill>
              <a:schemeClr val="accent1"/>
            </a:solidFill>
          </a:ln>
        </p:spPr>
        <p:txBody>
          <a:bodyPr/>
          <a:lstStyle/>
          <a:p>
            <a:endParaRPr lang="en-US"/>
          </a:p>
        </p:txBody>
      </p:sp>
      <p:sp>
        <p:nvSpPr>
          <p:cNvPr id="18" name="Text 16"/>
          <p:cNvSpPr/>
          <p:nvPr/>
        </p:nvSpPr>
        <p:spPr>
          <a:xfrm>
            <a:off x="8915400" y="2331720"/>
            <a:ext cx="2606040" cy="1097280"/>
          </a:xfrm>
          <a:prstGeom prst="rect">
            <a:avLst/>
          </a:prstGeom>
          <a:noFill/>
          <a:ln/>
        </p:spPr>
        <p:txBody>
          <a:bodyPr wrap="square" rtlCol="0" anchor="ctr"/>
          <a:lstStyle/>
          <a:p>
            <a:pPr marL="0" indent="0" algn="ctr">
              <a:buNone/>
            </a:pPr>
            <a:r>
              <a:rPr lang="en-US" sz="4400" b="1" dirty="0">
                <a:solidFill>
                  <a:srgbClr val="D9A62E"/>
                </a:solidFill>
                <a:latin typeface="Cambria" pitchFamily="34" charset="0"/>
                <a:ea typeface="Cambria" pitchFamily="34" charset="-122"/>
                <a:cs typeface="Cambria" pitchFamily="34" charset="-120"/>
              </a:rPr>
              <a:t>0.54</a:t>
            </a:r>
            <a:endParaRPr lang="en-US" sz="4400" dirty="0"/>
          </a:p>
        </p:txBody>
      </p:sp>
      <p:sp>
        <p:nvSpPr>
          <p:cNvPr id="19" name="Text 17"/>
          <p:cNvSpPr/>
          <p:nvPr/>
        </p:nvSpPr>
        <p:spPr>
          <a:xfrm>
            <a:off x="8915400" y="3520440"/>
            <a:ext cx="2606040" cy="365760"/>
          </a:xfrm>
          <a:prstGeom prst="rect">
            <a:avLst/>
          </a:prstGeom>
          <a:noFill/>
          <a:ln/>
        </p:spPr>
        <p:txBody>
          <a:bodyPr wrap="square"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RMSE</a:t>
            </a:r>
            <a:endParaRPr lang="en-US" sz="1500" dirty="0"/>
          </a:p>
        </p:txBody>
      </p:sp>
      <p:sp>
        <p:nvSpPr>
          <p:cNvPr id="20" name="Text 18"/>
          <p:cNvSpPr/>
          <p:nvPr/>
        </p:nvSpPr>
        <p:spPr>
          <a:xfrm>
            <a:off x="9098280" y="3931920"/>
            <a:ext cx="2240280" cy="822960"/>
          </a:xfrm>
          <a:prstGeom prst="rect">
            <a:avLst/>
          </a:prstGeom>
          <a:noFill/>
          <a:ln/>
        </p:spPr>
        <p:txBody>
          <a:bodyPr wrap="square" rtlCol="0" anchor="ctr"/>
          <a:lstStyle/>
          <a:p>
            <a:pPr marL="0" indent="0" algn="ctr">
              <a:buNone/>
            </a:pPr>
            <a:r>
              <a:rPr lang="en-US" sz="1050" dirty="0">
                <a:solidFill>
                  <a:srgbClr val="B9CDB4"/>
                </a:solidFill>
                <a:latin typeface="Calibri" pitchFamily="34" charset="0"/>
                <a:ea typeface="Calibri" pitchFamily="34" charset="-122"/>
                <a:cs typeface="Calibri" pitchFamily="34" charset="-120"/>
              </a:rPr>
              <a:t>Root Mean Sq. Error (t/ha)</a:t>
            </a:r>
            <a:endParaRPr lang="en-US" sz="1050" dirty="0"/>
          </a:p>
        </p:txBody>
      </p:sp>
      <p:sp>
        <p:nvSpPr>
          <p:cNvPr id="21" name="Text 19"/>
          <p:cNvSpPr/>
          <p:nvPr/>
        </p:nvSpPr>
        <p:spPr>
          <a:xfrm>
            <a:off x="548640" y="5486400"/>
            <a:ext cx="11064240" cy="457200"/>
          </a:xfrm>
          <a:prstGeom prst="rect">
            <a:avLst/>
          </a:prstGeom>
          <a:noFill/>
          <a:ln/>
        </p:spPr>
        <p:txBody>
          <a:bodyPr wrap="square" rtlCol="0" anchor="ctr"/>
          <a:lstStyle/>
          <a:p>
            <a:pPr marL="0" indent="0" algn="ctr">
              <a:buNone/>
            </a:pPr>
            <a:r>
              <a:rPr lang="en-US" sz="1200" i="1" dirty="0">
                <a:solidFill>
                  <a:srgbClr val="9BB09A"/>
                </a:solidFill>
                <a:latin typeface="Calibri" pitchFamily="34" charset="0"/>
                <a:ea typeface="Calibri" pitchFamily="34" charset="-122"/>
                <a:cs typeface="Calibri" pitchFamily="34" charset="-120"/>
              </a:rPr>
              <a:t>Trained and validated on a held-out 20% test set — metrics reflect true out-of-sample performance, not training fit.</a:t>
            </a:r>
            <a:endParaRPr lang="en-US" sz="1200" dirty="0"/>
          </a:p>
        </p:txBody>
      </p:sp>
      <p:sp>
        <p:nvSpPr>
          <p:cNvPr id="23" name="Text 21"/>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17</a:t>
            </a:r>
            <a:endParaRPr lang="en-US" sz="1000" dirty="0"/>
          </a:p>
        </p:txBody>
      </p:sp>
    </p:spTree>
  </p:cSld>
  <p:clrMapOvr>
    <a:overrideClrMapping bg1="lt1" tx1="dk1" bg2="lt2" tx2="dk2" accent1="accent1" accent2="accent2" accent3="accent3" accent4="accent4" accent5="accent5" accent6="accent6" hlink="hlink" folHlink="folHlink"/>
  </p:clrMapOvr>
</p:sld>
</file>

<file path=ppt/slides/slide21.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5C8A52"/>
                </a:solidFill>
                <a:latin typeface="Calibri" pitchFamily="34" charset="0"/>
                <a:ea typeface="Calibri" pitchFamily="34" charset="-122"/>
                <a:cs typeface="Calibri" pitchFamily="34" charset="-120"/>
              </a:rPr>
              <a:t>SECTION 06 — MACHINE LEARNING</a:t>
            </a:r>
            <a:endParaRPr lang="en-US" sz="1200" dirty="0"/>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Feature Importance Analysis</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feature importance bar chart]</a:t>
            </a:r>
            <a:endParaRPr lang="en-US" sz="900" dirty="0"/>
          </a:p>
        </p:txBody>
      </p:sp>
      <p:graphicFrame>
        <p:nvGraphicFramePr>
          <p:cNvPr id="5" name="Chart 0"/>
          <p:cNvGraphicFramePr/>
          <p:nvPr>
            <p:extLst>
              <p:ext uri="{D42A27DB-BD31-4B8C-83A1-F6EECF244321}">
                <p14:modId xmlns:p14="http://schemas.microsoft.com/office/powerpoint/2010/main" val="783614163"/>
              </p:ext>
            </p:extLst>
          </p:nvPr>
        </p:nvGraphicFramePr>
        <p:xfrm>
          <a:off x="548640" y="1691640"/>
          <a:ext cx="11064240" cy="43891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4"/>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7315200" cy="320040"/>
          </a:xfrm>
          <a:prstGeom prst="rect">
            <a:avLst/>
          </a:prstGeom>
          <a:noFill/>
          <a:ln/>
        </p:spPr>
        <p:txBody>
          <a:bodyPr wrap="square" rtlCol="0" anchor="ctr"/>
          <a:lstStyle/>
          <a:p>
            <a:pPr marL="0" indent="0">
              <a:buNone/>
            </a:pPr>
            <a:r>
              <a:rPr lang="en-US" sz="1200" b="1" kern="0" spc="200" dirty="0">
                <a:solidFill>
                  <a:srgbClr val="5C8A52"/>
                </a:solidFill>
                <a:latin typeface="Calibri" pitchFamily="34" charset="0"/>
                <a:ea typeface="Calibri" pitchFamily="34" charset="-122"/>
                <a:cs typeface="Calibri" pitchFamily="34" charset="-120"/>
              </a:rPr>
              <a:t>SECTION 07 — BONUS</a:t>
            </a:r>
            <a:endParaRPr lang="en-US" sz="1200" dirty="0"/>
          </a:p>
        </p:txBody>
      </p:sp>
      <p:sp>
        <p:nvSpPr>
          <p:cNvPr id="3" name="Text 1"/>
          <p:cNvSpPr/>
          <p:nvPr/>
        </p:nvSpPr>
        <p:spPr>
          <a:xfrm>
            <a:off x="548640" y="658368"/>
            <a:ext cx="10515600" cy="731520"/>
          </a:xfrm>
          <a:prstGeom prst="rect">
            <a:avLst/>
          </a:prstGeom>
          <a:noFill/>
          <a:ln/>
        </p:spPr>
        <p:txBody>
          <a:bodyPr wrap="square" rtlCol="0" anchor="ctr"/>
          <a:lstStyle/>
          <a:p>
            <a:pPr marL="0" indent="0">
              <a:buNone/>
            </a:pPr>
            <a:r>
              <a:rPr lang="en-US" sz="3000" b="1" dirty="0">
                <a:solidFill>
                  <a:srgbClr val="223522"/>
                </a:solidFill>
                <a:latin typeface="Cambria" pitchFamily="34" charset="0"/>
                <a:ea typeface="Cambria" pitchFamily="34" charset="-122"/>
                <a:cs typeface="Cambria" pitchFamily="34" charset="-120"/>
              </a:rPr>
              <a:t>Streamlit Web App: Live Prediction</a:t>
            </a:r>
            <a:endParaRPr lang="en-US" sz="3000" dirty="0"/>
          </a:p>
        </p:txBody>
      </p:sp>
      <p:sp>
        <p:nvSpPr>
          <p:cNvPr id="4" name="Text 2"/>
          <p:cNvSpPr/>
          <p:nvPr/>
        </p:nvSpPr>
        <p:spPr>
          <a:xfrm>
            <a:off x="548640" y="1234440"/>
            <a:ext cx="7315200" cy="274320"/>
          </a:xfrm>
          <a:prstGeom prst="rect">
            <a:avLst/>
          </a:prstGeom>
          <a:noFill/>
          <a:ln/>
        </p:spPr>
        <p:txBody>
          <a:bodyPr wrap="square" rtlCol="0" anchor="ctr"/>
          <a:lstStyle/>
          <a:p>
            <a:pPr marL="0" indent="0">
              <a:buNone/>
            </a:pPr>
            <a:r>
              <a:rPr lang="en-US" sz="900" i="1" dirty="0">
                <a:solidFill>
                  <a:srgbClr val="6B7A6B"/>
                </a:solidFill>
                <a:latin typeface="Calibri" pitchFamily="34" charset="0"/>
                <a:ea typeface="Calibri" pitchFamily="34" charset="-122"/>
                <a:cs typeface="Calibri" pitchFamily="34" charset="-120"/>
              </a:rPr>
              <a:t>[IMAGE PLACEHOLDER: app screenshot]</a:t>
            </a:r>
            <a:endParaRPr lang="en-US" sz="900" dirty="0"/>
          </a:p>
        </p:txBody>
      </p:sp>
      <p:sp>
        <p:nvSpPr>
          <p:cNvPr id="5" name="Shape 3"/>
          <p:cNvSpPr/>
          <p:nvPr/>
        </p:nvSpPr>
        <p:spPr>
          <a:xfrm>
            <a:off x="548640" y="1691640"/>
            <a:ext cx="6949440" cy="4480560"/>
          </a:xfrm>
          <a:prstGeom prst="roundRect">
            <a:avLst>
              <a:gd name="adj" fmla="val 2041"/>
            </a:avLst>
          </a:prstGeom>
          <a:solidFill>
            <a:srgbClr val="F4F7F2"/>
          </a:solidFill>
          <a:ln w="19050">
            <a:solidFill>
              <a:srgbClr val="DCE9D5"/>
            </a:solidFill>
            <a:prstDash val="solid"/>
          </a:ln>
        </p:spPr>
        <p:txBody>
          <a:bodyPr/>
          <a:lstStyle/>
          <a:p>
            <a:endParaRPr lang="en-US"/>
          </a:p>
        </p:txBody>
      </p:sp>
      <p:sp>
        <p:nvSpPr>
          <p:cNvPr id="6" name="Shape 4"/>
          <p:cNvSpPr/>
          <p:nvPr/>
        </p:nvSpPr>
        <p:spPr>
          <a:xfrm>
            <a:off x="548640" y="1691640"/>
            <a:ext cx="6949440" cy="502920"/>
          </a:xfrm>
          <a:prstGeom prst="rect">
            <a:avLst/>
          </a:prstGeom>
          <a:solidFill>
            <a:schemeClr val="accent1">
              <a:lumMod val="75000"/>
            </a:schemeClr>
          </a:solidFill>
          <a:ln/>
        </p:spPr>
        <p:txBody>
          <a:bodyPr/>
          <a:lstStyle/>
          <a:p>
            <a:endParaRPr lang="en-US"/>
          </a:p>
        </p:txBody>
      </p:sp>
      <p:sp>
        <p:nvSpPr>
          <p:cNvPr id="7" name="Text 5"/>
          <p:cNvSpPr/>
          <p:nvPr/>
        </p:nvSpPr>
        <p:spPr>
          <a:xfrm>
            <a:off x="822960" y="1691640"/>
            <a:ext cx="6400800" cy="502920"/>
          </a:xfrm>
          <a:prstGeom prst="rect">
            <a:avLst/>
          </a:prstGeom>
          <a:noFill/>
          <a:ln/>
        </p:spPr>
        <p:txBody>
          <a:bodyPr wrap="square"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Crop Yield Predictor</a:t>
            </a:r>
            <a:endParaRPr lang="en-US" sz="1300" dirty="0"/>
          </a:p>
        </p:txBody>
      </p:sp>
      <p:sp>
        <p:nvSpPr>
          <p:cNvPr id="8" name="Text 6"/>
          <p:cNvSpPr/>
          <p:nvPr/>
        </p:nvSpPr>
        <p:spPr>
          <a:xfrm>
            <a:off x="868680" y="2468880"/>
            <a:ext cx="2560320" cy="365760"/>
          </a:xfrm>
          <a:prstGeom prst="rect">
            <a:avLst/>
          </a:prstGeom>
          <a:noFill/>
          <a:ln/>
        </p:spPr>
        <p:txBody>
          <a:bodyPr wrap="square" rtlCol="0" anchor="ctr"/>
          <a:lstStyle/>
          <a:p>
            <a:pPr marL="0" indent="0">
              <a:buNone/>
            </a:pPr>
            <a:r>
              <a:rPr lang="en-US" sz="1100" dirty="0">
                <a:solidFill>
                  <a:srgbClr val="6B7A6B"/>
                </a:solidFill>
                <a:latin typeface="Calibri" pitchFamily="34" charset="0"/>
                <a:ea typeface="Calibri" pitchFamily="34" charset="-122"/>
                <a:cs typeface="Calibri" pitchFamily="34" charset="-120"/>
              </a:rPr>
              <a:t>Rainfall (mm)</a:t>
            </a:r>
            <a:endParaRPr lang="en-US" sz="1100" dirty="0"/>
          </a:p>
        </p:txBody>
      </p:sp>
      <p:sp>
        <p:nvSpPr>
          <p:cNvPr id="9" name="Shape 7"/>
          <p:cNvSpPr/>
          <p:nvPr/>
        </p:nvSpPr>
        <p:spPr>
          <a:xfrm>
            <a:off x="3566160" y="2496312"/>
            <a:ext cx="3566160" cy="384048"/>
          </a:xfrm>
          <a:prstGeom prst="roundRect">
            <a:avLst>
              <a:gd name="adj" fmla="val 11905"/>
            </a:avLst>
          </a:prstGeom>
          <a:solidFill>
            <a:srgbClr val="FFFFFF"/>
          </a:solidFill>
          <a:ln w="12700">
            <a:solidFill>
              <a:srgbClr val="DCE9D5"/>
            </a:solidFill>
            <a:prstDash val="solid"/>
          </a:ln>
        </p:spPr>
        <p:txBody>
          <a:bodyPr/>
          <a:lstStyle/>
          <a:p>
            <a:endParaRPr lang="en-US"/>
          </a:p>
        </p:txBody>
      </p:sp>
      <p:sp>
        <p:nvSpPr>
          <p:cNvPr id="10" name="Text 8"/>
          <p:cNvSpPr/>
          <p:nvPr/>
        </p:nvSpPr>
        <p:spPr>
          <a:xfrm>
            <a:off x="3749040" y="2496312"/>
            <a:ext cx="3200400" cy="384048"/>
          </a:xfrm>
          <a:prstGeom prst="rect">
            <a:avLst/>
          </a:prstGeom>
          <a:noFill/>
          <a:ln/>
        </p:spPr>
        <p:txBody>
          <a:bodyPr wrap="square" rtlCol="0" anchor="ctr"/>
          <a:lstStyle/>
          <a:p>
            <a:pPr marL="0" indent="0">
              <a:buNone/>
            </a:pPr>
            <a:r>
              <a:rPr lang="en-US" sz="1100" dirty="0">
                <a:solidFill>
                  <a:srgbClr val="223522"/>
                </a:solidFill>
                <a:latin typeface="Calibri" pitchFamily="34" charset="0"/>
                <a:ea typeface="Calibri" pitchFamily="34" charset="-122"/>
                <a:cs typeface="Calibri" pitchFamily="34" charset="-120"/>
              </a:rPr>
              <a:t>850</a:t>
            </a:r>
            <a:endParaRPr lang="en-US" sz="1100" dirty="0"/>
          </a:p>
        </p:txBody>
      </p:sp>
      <p:sp>
        <p:nvSpPr>
          <p:cNvPr id="11" name="Text 9"/>
          <p:cNvSpPr/>
          <p:nvPr/>
        </p:nvSpPr>
        <p:spPr>
          <a:xfrm>
            <a:off x="868680" y="3035808"/>
            <a:ext cx="2560320" cy="365760"/>
          </a:xfrm>
          <a:prstGeom prst="rect">
            <a:avLst/>
          </a:prstGeom>
          <a:noFill/>
          <a:ln/>
        </p:spPr>
        <p:txBody>
          <a:bodyPr wrap="square" rtlCol="0" anchor="ctr"/>
          <a:lstStyle/>
          <a:p>
            <a:pPr marL="0" indent="0">
              <a:buNone/>
            </a:pPr>
            <a:r>
              <a:rPr lang="en-US" sz="1100" dirty="0">
                <a:solidFill>
                  <a:srgbClr val="6B7A6B"/>
                </a:solidFill>
                <a:latin typeface="Calibri" pitchFamily="34" charset="0"/>
                <a:ea typeface="Calibri" pitchFamily="34" charset="-122"/>
                <a:cs typeface="Calibri" pitchFamily="34" charset="-120"/>
              </a:rPr>
              <a:t>Temperature (°C)</a:t>
            </a:r>
            <a:endParaRPr lang="en-US" sz="1100" dirty="0"/>
          </a:p>
        </p:txBody>
      </p:sp>
      <p:sp>
        <p:nvSpPr>
          <p:cNvPr id="12" name="Shape 10"/>
          <p:cNvSpPr/>
          <p:nvPr/>
        </p:nvSpPr>
        <p:spPr>
          <a:xfrm>
            <a:off x="3566160" y="3063240"/>
            <a:ext cx="3566160" cy="384048"/>
          </a:xfrm>
          <a:prstGeom prst="roundRect">
            <a:avLst>
              <a:gd name="adj" fmla="val 11905"/>
            </a:avLst>
          </a:prstGeom>
          <a:solidFill>
            <a:srgbClr val="FFFFFF"/>
          </a:solidFill>
          <a:ln w="12700">
            <a:solidFill>
              <a:srgbClr val="DCE9D5"/>
            </a:solidFill>
            <a:prstDash val="solid"/>
          </a:ln>
        </p:spPr>
        <p:txBody>
          <a:bodyPr/>
          <a:lstStyle/>
          <a:p>
            <a:endParaRPr lang="en-US"/>
          </a:p>
        </p:txBody>
      </p:sp>
      <p:sp>
        <p:nvSpPr>
          <p:cNvPr id="13" name="Text 11"/>
          <p:cNvSpPr/>
          <p:nvPr/>
        </p:nvSpPr>
        <p:spPr>
          <a:xfrm>
            <a:off x="3749040" y="3063240"/>
            <a:ext cx="3200400" cy="384048"/>
          </a:xfrm>
          <a:prstGeom prst="rect">
            <a:avLst/>
          </a:prstGeom>
          <a:noFill/>
          <a:ln/>
        </p:spPr>
        <p:txBody>
          <a:bodyPr wrap="square" rtlCol="0" anchor="ctr"/>
          <a:lstStyle/>
          <a:p>
            <a:pPr marL="0" indent="0">
              <a:buNone/>
            </a:pPr>
            <a:r>
              <a:rPr lang="en-US" sz="1100" dirty="0">
                <a:solidFill>
                  <a:srgbClr val="223522"/>
                </a:solidFill>
                <a:latin typeface="Calibri" pitchFamily="34" charset="0"/>
                <a:ea typeface="Calibri" pitchFamily="34" charset="-122"/>
                <a:cs typeface="Calibri" pitchFamily="34" charset="-120"/>
              </a:rPr>
              <a:t>27</a:t>
            </a:r>
            <a:endParaRPr lang="en-US" sz="1100" dirty="0"/>
          </a:p>
        </p:txBody>
      </p:sp>
      <p:sp>
        <p:nvSpPr>
          <p:cNvPr id="14" name="Text 12"/>
          <p:cNvSpPr/>
          <p:nvPr/>
        </p:nvSpPr>
        <p:spPr>
          <a:xfrm>
            <a:off x="868680" y="3602736"/>
            <a:ext cx="2560320" cy="365760"/>
          </a:xfrm>
          <a:prstGeom prst="rect">
            <a:avLst/>
          </a:prstGeom>
          <a:noFill/>
          <a:ln/>
        </p:spPr>
        <p:txBody>
          <a:bodyPr wrap="square" rtlCol="0" anchor="ctr"/>
          <a:lstStyle/>
          <a:p>
            <a:pPr marL="0" indent="0">
              <a:buNone/>
            </a:pPr>
            <a:r>
              <a:rPr lang="en-US" sz="1100" dirty="0">
                <a:solidFill>
                  <a:srgbClr val="6B7A6B"/>
                </a:solidFill>
                <a:latin typeface="Calibri" pitchFamily="34" charset="0"/>
                <a:ea typeface="Calibri" pitchFamily="34" charset="-122"/>
                <a:cs typeface="Calibri" pitchFamily="34" charset="-120"/>
              </a:rPr>
              <a:t>Fertilizer (kg/ha)</a:t>
            </a:r>
            <a:endParaRPr lang="en-US" sz="1100" dirty="0"/>
          </a:p>
        </p:txBody>
      </p:sp>
      <p:sp>
        <p:nvSpPr>
          <p:cNvPr id="15" name="Shape 13"/>
          <p:cNvSpPr/>
          <p:nvPr/>
        </p:nvSpPr>
        <p:spPr>
          <a:xfrm>
            <a:off x="3566160" y="3630168"/>
            <a:ext cx="3566160" cy="384048"/>
          </a:xfrm>
          <a:prstGeom prst="roundRect">
            <a:avLst>
              <a:gd name="adj" fmla="val 11905"/>
            </a:avLst>
          </a:prstGeom>
          <a:solidFill>
            <a:srgbClr val="FFFFFF"/>
          </a:solidFill>
          <a:ln w="12700">
            <a:solidFill>
              <a:srgbClr val="DCE9D5"/>
            </a:solidFill>
            <a:prstDash val="solid"/>
          </a:ln>
        </p:spPr>
        <p:txBody>
          <a:bodyPr/>
          <a:lstStyle/>
          <a:p>
            <a:endParaRPr lang="en-US"/>
          </a:p>
        </p:txBody>
      </p:sp>
      <p:sp>
        <p:nvSpPr>
          <p:cNvPr id="16" name="Text 14"/>
          <p:cNvSpPr/>
          <p:nvPr/>
        </p:nvSpPr>
        <p:spPr>
          <a:xfrm>
            <a:off x="3749040" y="3630168"/>
            <a:ext cx="3200400" cy="384048"/>
          </a:xfrm>
          <a:prstGeom prst="rect">
            <a:avLst/>
          </a:prstGeom>
          <a:noFill/>
          <a:ln/>
        </p:spPr>
        <p:txBody>
          <a:bodyPr wrap="square" rtlCol="0" anchor="ctr"/>
          <a:lstStyle/>
          <a:p>
            <a:pPr marL="0" indent="0">
              <a:buNone/>
            </a:pPr>
            <a:r>
              <a:rPr lang="en-US" sz="1100" dirty="0">
                <a:solidFill>
                  <a:srgbClr val="223522"/>
                </a:solidFill>
                <a:latin typeface="Calibri" pitchFamily="34" charset="0"/>
                <a:ea typeface="Calibri" pitchFamily="34" charset="-122"/>
                <a:cs typeface="Calibri" pitchFamily="34" charset="-120"/>
              </a:rPr>
              <a:t>120</a:t>
            </a:r>
            <a:endParaRPr lang="en-US" sz="1100" dirty="0"/>
          </a:p>
        </p:txBody>
      </p:sp>
      <p:sp>
        <p:nvSpPr>
          <p:cNvPr id="17" name="Text 15"/>
          <p:cNvSpPr/>
          <p:nvPr/>
        </p:nvSpPr>
        <p:spPr>
          <a:xfrm>
            <a:off x="868680" y="4169664"/>
            <a:ext cx="2560320" cy="365760"/>
          </a:xfrm>
          <a:prstGeom prst="rect">
            <a:avLst/>
          </a:prstGeom>
          <a:noFill/>
          <a:ln/>
        </p:spPr>
        <p:txBody>
          <a:bodyPr wrap="square" rtlCol="0" anchor="ctr"/>
          <a:lstStyle/>
          <a:p>
            <a:pPr marL="0" indent="0">
              <a:buNone/>
            </a:pPr>
            <a:r>
              <a:rPr lang="en-US" sz="1100" dirty="0">
                <a:solidFill>
                  <a:srgbClr val="6B7A6B"/>
                </a:solidFill>
                <a:latin typeface="Calibri" pitchFamily="34" charset="0"/>
                <a:ea typeface="Calibri" pitchFamily="34" charset="-122"/>
                <a:cs typeface="Calibri" pitchFamily="34" charset="-120"/>
              </a:rPr>
              <a:t>Crop Type</a:t>
            </a:r>
            <a:endParaRPr lang="en-US" sz="1100" dirty="0"/>
          </a:p>
        </p:txBody>
      </p:sp>
      <p:sp>
        <p:nvSpPr>
          <p:cNvPr id="18" name="Shape 16"/>
          <p:cNvSpPr/>
          <p:nvPr/>
        </p:nvSpPr>
        <p:spPr>
          <a:xfrm>
            <a:off x="3566160" y="4197096"/>
            <a:ext cx="3566160" cy="384048"/>
          </a:xfrm>
          <a:prstGeom prst="roundRect">
            <a:avLst>
              <a:gd name="adj" fmla="val 11905"/>
            </a:avLst>
          </a:prstGeom>
          <a:solidFill>
            <a:srgbClr val="FFFFFF"/>
          </a:solidFill>
          <a:ln w="12700">
            <a:solidFill>
              <a:srgbClr val="DCE9D5"/>
            </a:solidFill>
            <a:prstDash val="solid"/>
          </a:ln>
        </p:spPr>
        <p:txBody>
          <a:bodyPr/>
          <a:lstStyle/>
          <a:p>
            <a:endParaRPr lang="en-US"/>
          </a:p>
        </p:txBody>
      </p:sp>
      <p:sp>
        <p:nvSpPr>
          <p:cNvPr id="19" name="Text 17"/>
          <p:cNvSpPr/>
          <p:nvPr/>
        </p:nvSpPr>
        <p:spPr>
          <a:xfrm>
            <a:off x="3749040" y="4197096"/>
            <a:ext cx="3200400" cy="384048"/>
          </a:xfrm>
          <a:prstGeom prst="rect">
            <a:avLst/>
          </a:prstGeom>
          <a:noFill/>
          <a:ln/>
        </p:spPr>
        <p:txBody>
          <a:bodyPr wrap="square" rtlCol="0" anchor="ctr"/>
          <a:lstStyle/>
          <a:p>
            <a:pPr marL="0" indent="0">
              <a:buNone/>
            </a:pPr>
            <a:r>
              <a:rPr lang="en-US" sz="1100" dirty="0">
                <a:solidFill>
                  <a:srgbClr val="223522"/>
                </a:solidFill>
                <a:latin typeface="Calibri" pitchFamily="34" charset="0"/>
                <a:ea typeface="Calibri" pitchFamily="34" charset="-122"/>
                <a:cs typeface="Calibri" pitchFamily="34" charset="-120"/>
              </a:rPr>
              <a:t>Maize</a:t>
            </a:r>
            <a:endParaRPr lang="en-US" sz="1100" dirty="0"/>
          </a:p>
        </p:txBody>
      </p:sp>
      <p:sp>
        <p:nvSpPr>
          <p:cNvPr id="20" name="Shape 18"/>
          <p:cNvSpPr/>
          <p:nvPr/>
        </p:nvSpPr>
        <p:spPr>
          <a:xfrm>
            <a:off x="868680" y="4873752"/>
            <a:ext cx="6309360" cy="502920"/>
          </a:xfrm>
          <a:prstGeom prst="roundRect">
            <a:avLst>
              <a:gd name="adj" fmla="val 10909"/>
            </a:avLst>
          </a:prstGeom>
          <a:solidFill>
            <a:srgbClr val="D9A62E"/>
          </a:solidFill>
          <a:ln/>
        </p:spPr>
        <p:txBody>
          <a:bodyPr/>
          <a:lstStyle/>
          <a:p>
            <a:endParaRPr lang="en-US"/>
          </a:p>
        </p:txBody>
      </p:sp>
      <p:sp>
        <p:nvSpPr>
          <p:cNvPr id="21" name="Text 19"/>
          <p:cNvSpPr/>
          <p:nvPr/>
        </p:nvSpPr>
        <p:spPr>
          <a:xfrm>
            <a:off x="868680" y="4873752"/>
            <a:ext cx="6309360" cy="502920"/>
          </a:xfrm>
          <a:prstGeom prst="rect">
            <a:avLst/>
          </a:prstGeom>
          <a:noFill/>
          <a:ln/>
        </p:spPr>
        <p:txBody>
          <a:bodyPr wrap="square" rtlCol="0" anchor="ctr"/>
          <a:lstStyle/>
          <a:p>
            <a:pPr marL="0" indent="0" algn="ctr">
              <a:buNone/>
            </a:pPr>
            <a:r>
              <a:rPr lang="en-US" sz="1300" b="1" dirty="0">
                <a:solidFill>
                  <a:srgbClr val="16281A"/>
                </a:solidFill>
                <a:latin typeface="Calibri" pitchFamily="34" charset="0"/>
                <a:ea typeface="Calibri" pitchFamily="34" charset="-122"/>
                <a:cs typeface="Calibri" pitchFamily="34" charset="-120"/>
              </a:rPr>
              <a:t>Predict Yield</a:t>
            </a:r>
            <a:endParaRPr lang="en-US" sz="1300" dirty="0"/>
          </a:p>
        </p:txBody>
      </p:sp>
      <p:sp>
        <p:nvSpPr>
          <p:cNvPr id="22" name="Shape 20"/>
          <p:cNvSpPr/>
          <p:nvPr/>
        </p:nvSpPr>
        <p:spPr>
          <a:xfrm>
            <a:off x="868680" y="5559552"/>
            <a:ext cx="6309360" cy="914400"/>
          </a:xfrm>
          <a:prstGeom prst="roundRect">
            <a:avLst>
              <a:gd name="adj" fmla="val 6000"/>
            </a:avLst>
          </a:prstGeom>
          <a:solidFill>
            <a:schemeClr val="accent1">
              <a:lumMod val="75000"/>
            </a:schemeClr>
          </a:solidFill>
          <a:ln/>
        </p:spPr>
        <p:txBody>
          <a:bodyPr/>
          <a:lstStyle/>
          <a:p>
            <a:endParaRPr lang="en-US"/>
          </a:p>
        </p:txBody>
      </p:sp>
      <p:sp>
        <p:nvSpPr>
          <p:cNvPr id="23" name="Text 21"/>
          <p:cNvSpPr/>
          <p:nvPr/>
        </p:nvSpPr>
        <p:spPr>
          <a:xfrm>
            <a:off x="1097280" y="5650992"/>
            <a:ext cx="3200400" cy="320040"/>
          </a:xfrm>
          <a:prstGeom prst="rect">
            <a:avLst/>
          </a:prstGeom>
          <a:noFill/>
          <a:ln/>
        </p:spPr>
        <p:txBody>
          <a:bodyPr wrap="square" rtlCol="0" anchor="ctr"/>
          <a:lstStyle/>
          <a:p>
            <a:pPr marL="0" indent="0">
              <a:buNone/>
            </a:pPr>
            <a:r>
              <a:rPr lang="en-US" sz="1100" dirty="0">
                <a:solidFill>
                  <a:srgbClr val="B9CDB4"/>
                </a:solidFill>
                <a:latin typeface="Calibri" pitchFamily="34" charset="0"/>
                <a:ea typeface="Calibri" pitchFamily="34" charset="-122"/>
                <a:cs typeface="Calibri" pitchFamily="34" charset="-120"/>
              </a:rPr>
              <a:t>Predicted Yield</a:t>
            </a:r>
            <a:endParaRPr lang="en-US" sz="1100" dirty="0"/>
          </a:p>
        </p:txBody>
      </p:sp>
      <p:sp>
        <p:nvSpPr>
          <p:cNvPr id="24" name="Text 22"/>
          <p:cNvSpPr/>
          <p:nvPr/>
        </p:nvSpPr>
        <p:spPr>
          <a:xfrm>
            <a:off x="1097280" y="5925312"/>
            <a:ext cx="3200400" cy="457200"/>
          </a:xfrm>
          <a:prstGeom prst="rect">
            <a:avLst/>
          </a:prstGeom>
          <a:noFill/>
          <a:ln/>
        </p:spPr>
        <p:txBody>
          <a:bodyPr wrap="square" rtlCol="0" anchor="ctr"/>
          <a:lstStyle/>
          <a:p>
            <a:pPr marL="0" indent="0">
              <a:buNone/>
            </a:pPr>
            <a:r>
              <a:rPr lang="en-US" sz="2400" b="1" dirty="0">
                <a:solidFill>
                  <a:srgbClr val="D9A62E"/>
                </a:solidFill>
                <a:latin typeface="Cambria" pitchFamily="34" charset="0"/>
                <a:ea typeface="Cambria" pitchFamily="34" charset="-122"/>
                <a:cs typeface="Cambria" pitchFamily="34" charset="-120"/>
              </a:rPr>
              <a:t>6.1 t/ha</a:t>
            </a:r>
            <a:endParaRPr lang="en-US" sz="2400" dirty="0"/>
          </a:p>
        </p:txBody>
      </p:sp>
      <p:sp>
        <p:nvSpPr>
          <p:cNvPr id="25" name="Shape 23"/>
          <p:cNvSpPr/>
          <p:nvPr/>
        </p:nvSpPr>
        <p:spPr>
          <a:xfrm>
            <a:off x="7808976" y="1819656"/>
            <a:ext cx="566928" cy="566928"/>
          </a:xfrm>
          <a:prstGeom prst="ellipse">
            <a:avLst/>
          </a:prstGeom>
          <a:solidFill>
            <a:schemeClr val="accent1"/>
          </a:solidFill>
          <a:ln>
            <a:solidFill>
              <a:schemeClr val="accent1"/>
            </a:solidFill>
          </a:ln>
        </p:spPr>
        <p:txBody>
          <a:bodyPr/>
          <a:lstStyle/>
          <a:p>
            <a:endParaRPr lang="en-US"/>
          </a:p>
        </p:txBody>
      </p:sp>
      <p:pic>
        <p:nvPicPr>
          <p:cNvPr id="26" name="Image 0" descr="/home/claude/crop_yield_ppt/icons/users_FFFFFF.png"/>
          <p:cNvPicPr>
            <a:picLocks noChangeAspect="1"/>
          </p:cNvPicPr>
          <p:nvPr/>
        </p:nvPicPr>
        <p:blipFill>
          <a:blip r:embed="rId3"/>
          <a:stretch>
            <a:fillRect/>
          </a:stretch>
        </p:blipFill>
        <p:spPr>
          <a:xfrm>
            <a:off x="7936535" y="1947215"/>
            <a:ext cx="311810" cy="311810"/>
          </a:xfrm>
          <a:prstGeom prst="rect">
            <a:avLst/>
          </a:prstGeom>
        </p:spPr>
      </p:pic>
      <p:sp>
        <p:nvSpPr>
          <p:cNvPr id="27" name="Text 24"/>
          <p:cNvSpPr/>
          <p:nvPr/>
        </p:nvSpPr>
        <p:spPr>
          <a:xfrm>
            <a:off x="8549640" y="1691640"/>
            <a:ext cx="3063240" cy="868680"/>
          </a:xfrm>
          <a:prstGeom prst="rect">
            <a:avLst/>
          </a:prstGeom>
          <a:noFill/>
          <a:ln/>
        </p:spPr>
        <p:txBody>
          <a:bodyPr wrap="square" rtlCol="0" anchor="ctr"/>
          <a:lstStyle/>
          <a:p>
            <a:pPr marL="0" indent="0">
              <a:lnSpc>
                <a:spcPct val="110000"/>
              </a:lnSpc>
              <a:buNone/>
            </a:pPr>
            <a:r>
              <a:rPr lang="en-US" sz="1250" b="1" dirty="0">
                <a:solidFill>
                  <a:srgbClr val="223522"/>
                </a:solidFill>
                <a:latin typeface="Calibri" pitchFamily="34" charset="0"/>
                <a:ea typeface="Calibri" pitchFamily="34" charset="-122"/>
                <a:cs typeface="Calibri" pitchFamily="34" charset="-120"/>
              </a:rPr>
              <a:t>User Inputs
</a:t>
            </a:r>
            <a:r>
              <a:rPr lang="en-US" sz="1050" dirty="0">
                <a:solidFill>
                  <a:srgbClr val="6B7A6B"/>
                </a:solidFill>
                <a:latin typeface="Calibri" pitchFamily="34" charset="0"/>
                <a:ea typeface="Calibri" pitchFamily="34" charset="-122"/>
                <a:cs typeface="Calibri" pitchFamily="34" charset="-120"/>
              </a:rPr>
              <a:t>Farmers enter rainfall, temperature, fertilizer/pesticide use, crop type, and season.</a:t>
            </a:r>
            <a:endParaRPr lang="en-US" sz="1250" dirty="0"/>
          </a:p>
        </p:txBody>
      </p:sp>
      <p:sp>
        <p:nvSpPr>
          <p:cNvPr id="28" name="Shape 25"/>
          <p:cNvSpPr/>
          <p:nvPr/>
        </p:nvSpPr>
        <p:spPr>
          <a:xfrm>
            <a:off x="7808976" y="2916936"/>
            <a:ext cx="566928" cy="566928"/>
          </a:xfrm>
          <a:prstGeom prst="ellipse">
            <a:avLst/>
          </a:prstGeom>
          <a:solidFill>
            <a:schemeClr val="accent1"/>
          </a:solidFill>
          <a:ln>
            <a:solidFill>
              <a:schemeClr val="accent1"/>
            </a:solidFill>
          </a:ln>
        </p:spPr>
        <p:txBody>
          <a:bodyPr/>
          <a:lstStyle/>
          <a:p>
            <a:endParaRPr lang="en-US"/>
          </a:p>
        </p:txBody>
      </p:sp>
      <p:pic>
        <p:nvPicPr>
          <p:cNvPr id="29" name="Image 1" descr="/home/claude/crop_yield_ppt/icons/cpu_FFFFFF.png"/>
          <p:cNvPicPr>
            <a:picLocks noChangeAspect="1"/>
          </p:cNvPicPr>
          <p:nvPr/>
        </p:nvPicPr>
        <p:blipFill>
          <a:blip r:embed="rId4"/>
          <a:stretch>
            <a:fillRect/>
          </a:stretch>
        </p:blipFill>
        <p:spPr>
          <a:xfrm>
            <a:off x="7936535" y="3044495"/>
            <a:ext cx="311810" cy="311810"/>
          </a:xfrm>
          <a:prstGeom prst="rect">
            <a:avLst/>
          </a:prstGeom>
        </p:spPr>
      </p:pic>
      <p:sp>
        <p:nvSpPr>
          <p:cNvPr id="30" name="Text 26"/>
          <p:cNvSpPr/>
          <p:nvPr/>
        </p:nvSpPr>
        <p:spPr>
          <a:xfrm>
            <a:off x="8549640" y="2788920"/>
            <a:ext cx="3063240" cy="868680"/>
          </a:xfrm>
          <a:prstGeom prst="rect">
            <a:avLst/>
          </a:prstGeom>
          <a:noFill/>
          <a:ln/>
        </p:spPr>
        <p:txBody>
          <a:bodyPr wrap="square" rtlCol="0" anchor="ctr"/>
          <a:lstStyle/>
          <a:p>
            <a:pPr marL="0" indent="0">
              <a:lnSpc>
                <a:spcPct val="110000"/>
              </a:lnSpc>
              <a:buNone/>
            </a:pPr>
            <a:r>
              <a:rPr lang="en-US" sz="1250" b="1" dirty="0">
                <a:solidFill>
                  <a:srgbClr val="223522"/>
                </a:solidFill>
                <a:latin typeface="Calibri" pitchFamily="34" charset="0"/>
                <a:ea typeface="Calibri" pitchFamily="34" charset="-122"/>
                <a:cs typeface="Calibri" pitchFamily="34" charset="-120"/>
              </a:rPr>
              <a:t>Model Inference
</a:t>
            </a:r>
            <a:r>
              <a:rPr lang="en-US" sz="1050" dirty="0">
                <a:solidFill>
                  <a:srgbClr val="6B7A6B"/>
                </a:solidFill>
                <a:latin typeface="Calibri" pitchFamily="34" charset="0"/>
                <a:ea typeface="Calibri" pitchFamily="34" charset="-122"/>
                <a:cs typeface="Calibri" pitchFamily="34" charset="-120"/>
              </a:rPr>
              <a:t>The trained Random Forest model runs instantly in the background.</a:t>
            </a:r>
            <a:endParaRPr lang="en-US" sz="1250" dirty="0"/>
          </a:p>
        </p:txBody>
      </p:sp>
      <p:sp>
        <p:nvSpPr>
          <p:cNvPr id="31" name="Shape 27"/>
          <p:cNvSpPr/>
          <p:nvPr/>
        </p:nvSpPr>
        <p:spPr>
          <a:xfrm>
            <a:off x="7808976" y="4014216"/>
            <a:ext cx="566928" cy="566928"/>
          </a:xfrm>
          <a:prstGeom prst="ellipse">
            <a:avLst/>
          </a:prstGeom>
          <a:solidFill>
            <a:schemeClr val="accent1"/>
          </a:solidFill>
          <a:ln>
            <a:solidFill>
              <a:schemeClr val="accent1"/>
            </a:solidFill>
          </a:ln>
        </p:spPr>
        <p:txBody>
          <a:bodyPr/>
          <a:lstStyle/>
          <a:p>
            <a:endParaRPr lang="en-US"/>
          </a:p>
        </p:txBody>
      </p:sp>
      <p:pic>
        <p:nvPicPr>
          <p:cNvPr id="32" name="Image 2" descr="/home/claude/crop_yield_ppt/icons/trending_FFFFFF.png"/>
          <p:cNvPicPr>
            <a:picLocks noChangeAspect="1"/>
          </p:cNvPicPr>
          <p:nvPr/>
        </p:nvPicPr>
        <p:blipFill>
          <a:blip r:embed="rId5"/>
          <a:stretch>
            <a:fillRect/>
          </a:stretch>
        </p:blipFill>
        <p:spPr>
          <a:xfrm>
            <a:off x="7936535" y="4141775"/>
            <a:ext cx="311810" cy="311810"/>
          </a:xfrm>
          <a:prstGeom prst="rect">
            <a:avLst/>
          </a:prstGeom>
        </p:spPr>
      </p:pic>
      <p:sp>
        <p:nvSpPr>
          <p:cNvPr id="33" name="Text 28"/>
          <p:cNvSpPr/>
          <p:nvPr/>
        </p:nvSpPr>
        <p:spPr>
          <a:xfrm>
            <a:off x="8549640" y="3886200"/>
            <a:ext cx="3063240" cy="868680"/>
          </a:xfrm>
          <a:prstGeom prst="rect">
            <a:avLst/>
          </a:prstGeom>
          <a:noFill/>
          <a:ln/>
        </p:spPr>
        <p:txBody>
          <a:bodyPr wrap="square" rtlCol="0" anchor="ctr"/>
          <a:lstStyle/>
          <a:p>
            <a:pPr marL="0" indent="0">
              <a:lnSpc>
                <a:spcPct val="110000"/>
              </a:lnSpc>
              <a:buNone/>
            </a:pPr>
            <a:r>
              <a:rPr lang="en-US" sz="1250" b="1" dirty="0">
                <a:solidFill>
                  <a:srgbClr val="223522"/>
                </a:solidFill>
                <a:latin typeface="Calibri" pitchFamily="34" charset="0"/>
                <a:ea typeface="Calibri" pitchFamily="34" charset="-122"/>
                <a:cs typeface="Calibri" pitchFamily="34" charset="-120"/>
              </a:rPr>
              <a:t>Instant Prediction
</a:t>
            </a:r>
            <a:r>
              <a:rPr lang="en-US" sz="1050" dirty="0">
                <a:solidFill>
                  <a:srgbClr val="6B7A6B"/>
                </a:solidFill>
                <a:latin typeface="Calibri" pitchFamily="34" charset="0"/>
                <a:ea typeface="Calibri" pitchFamily="34" charset="-122"/>
                <a:cs typeface="Calibri" pitchFamily="34" charset="-120"/>
              </a:rPr>
              <a:t>Expected yield is displayed immediately, in tonnes per hectare.</a:t>
            </a:r>
            <a:endParaRPr lang="en-US" sz="1250" dirty="0"/>
          </a:p>
        </p:txBody>
      </p:sp>
      <p:sp>
        <p:nvSpPr>
          <p:cNvPr id="34" name="Shape 29"/>
          <p:cNvSpPr/>
          <p:nvPr/>
        </p:nvSpPr>
        <p:spPr>
          <a:xfrm>
            <a:off x="7808976" y="5111496"/>
            <a:ext cx="566928" cy="566928"/>
          </a:xfrm>
          <a:prstGeom prst="ellipse">
            <a:avLst/>
          </a:prstGeom>
          <a:solidFill>
            <a:schemeClr val="accent1"/>
          </a:solidFill>
          <a:ln>
            <a:solidFill>
              <a:schemeClr val="accent1"/>
            </a:solidFill>
          </a:ln>
        </p:spPr>
        <p:txBody>
          <a:bodyPr/>
          <a:lstStyle/>
          <a:p>
            <a:endParaRPr lang="en-US"/>
          </a:p>
        </p:txBody>
      </p:sp>
      <p:pic>
        <p:nvPicPr>
          <p:cNvPr id="35" name="Image 3" descr="/home/claude/crop_yield_ppt/icons/settings_FFFFFF.png"/>
          <p:cNvPicPr>
            <a:picLocks noChangeAspect="1"/>
          </p:cNvPicPr>
          <p:nvPr/>
        </p:nvPicPr>
        <p:blipFill>
          <a:blip r:embed="rId6"/>
          <a:stretch>
            <a:fillRect/>
          </a:stretch>
        </p:blipFill>
        <p:spPr>
          <a:xfrm>
            <a:off x="7936535" y="5239055"/>
            <a:ext cx="311810" cy="311810"/>
          </a:xfrm>
          <a:prstGeom prst="rect">
            <a:avLst/>
          </a:prstGeom>
          <a:solidFill>
            <a:schemeClr val="accent1"/>
          </a:solidFill>
          <a:ln>
            <a:solidFill>
              <a:schemeClr val="accent1"/>
            </a:solidFill>
          </a:ln>
        </p:spPr>
      </p:pic>
      <p:sp>
        <p:nvSpPr>
          <p:cNvPr id="36" name="Text 30"/>
          <p:cNvSpPr/>
          <p:nvPr/>
        </p:nvSpPr>
        <p:spPr>
          <a:xfrm>
            <a:off x="8549640" y="4983480"/>
            <a:ext cx="3063240" cy="868680"/>
          </a:xfrm>
          <a:prstGeom prst="rect">
            <a:avLst/>
          </a:prstGeom>
          <a:noFill/>
          <a:ln/>
        </p:spPr>
        <p:txBody>
          <a:bodyPr wrap="square" rtlCol="0" anchor="ctr"/>
          <a:lstStyle/>
          <a:p>
            <a:pPr marL="0" indent="0">
              <a:lnSpc>
                <a:spcPct val="110000"/>
              </a:lnSpc>
              <a:buNone/>
            </a:pPr>
            <a:r>
              <a:rPr lang="en-US" sz="1250" b="1" dirty="0">
                <a:solidFill>
                  <a:srgbClr val="223522"/>
                </a:solidFill>
                <a:latin typeface="Calibri" pitchFamily="34" charset="0"/>
                <a:ea typeface="Calibri" pitchFamily="34" charset="-122"/>
                <a:cs typeface="Calibri" pitchFamily="34" charset="-120"/>
              </a:rPr>
              <a:t>Production-Ready
</a:t>
            </a:r>
            <a:r>
              <a:rPr lang="en-US" sz="1050" dirty="0">
                <a:solidFill>
                  <a:srgbClr val="6B7A6B"/>
                </a:solidFill>
                <a:latin typeface="Calibri" pitchFamily="34" charset="0"/>
                <a:ea typeface="Calibri" pitchFamily="34" charset="-122"/>
                <a:cs typeface="Calibri" pitchFamily="34" charset="-120"/>
              </a:rPr>
              <a:t>Deployed as a lightweight, shareable Streamlit application.</a:t>
            </a:r>
            <a:endParaRPr lang="en-US" sz="1250" dirty="0"/>
          </a:p>
        </p:txBody>
      </p:sp>
      <p:sp>
        <p:nvSpPr>
          <p:cNvPr id="38" name="Text 32"/>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1828800" y="-2286000"/>
            <a:ext cx="5486400" cy="5486400"/>
          </a:xfrm>
          <a:prstGeom prst="ellipse">
            <a:avLst/>
          </a:prstGeom>
          <a:solidFill>
            <a:schemeClr val="accent1">
              <a:lumMod val="75000"/>
              <a:alpha val="45000"/>
            </a:schemeClr>
          </a:solidFill>
          <a:ln/>
        </p:spPr>
        <p:txBody>
          <a:bodyPr/>
          <a:lstStyle/>
          <a:p>
            <a:endParaRPr lang="en-US"/>
          </a:p>
        </p:txBody>
      </p:sp>
      <p:sp>
        <p:nvSpPr>
          <p:cNvPr id="3" name="Text 1"/>
          <p:cNvSpPr/>
          <p:nvPr/>
        </p:nvSpPr>
        <p:spPr>
          <a:xfrm>
            <a:off x="548640" y="457200"/>
            <a:ext cx="7315200" cy="320040"/>
          </a:xfrm>
          <a:prstGeom prst="rect">
            <a:avLst/>
          </a:prstGeom>
          <a:noFill/>
          <a:ln/>
        </p:spPr>
        <p:txBody>
          <a:bodyPr wrap="square" rtlCol="0" anchor="ctr"/>
          <a:lstStyle/>
          <a:p>
            <a:pPr marL="0" indent="0">
              <a:buNone/>
            </a:pPr>
            <a:r>
              <a:rPr lang="en-US" sz="1200" b="1" kern="0" spc="200" dirty="0">
                <a:solidFill>
                  <a:srgbClr val="D9A62E"/>
                </a:solidFill>
                <a:latin typeface="Calibri" pitchFamily="34" charset="0"/>
                <a:ea typeface="Calibri" pitchFamily="34" charset="-122"/>
                <a:cs typeface="Calibri" pitchFamily="34" charset="-120"/>
              </a:rPr>
              <a:t>CONCLUSION &amp; FUTURE WORK</a:t>
            </a:r>
            <a:endParaRPr lang="en-US" sz="1200" dirty="0"/>
          </a:p>
        </p:txBody>
      </p:sp>
      <p:sp>
        <p:nvSpPr>
          <p:cNvPr id="4" name="Text 2"/>
          <p:cNvSpPr/>
          <p:nvPr/>
        </p:nvSpPr>
        <p:spPr>
          <a:xfrm>
            <a:off x="548640" y="777240"/>
            <a:ext cx="10058400" cy="731520"/>
          </a:xfrm>
          <a:prstGeom prst="rect">
            <a:avLst/>
          </a:prstGeom>
          <a:noFill/>
          <a:ln/>
        </p:spPr>
        <p:txBody>
          <a:bodyPr wrap="square" rtlCol="0" anchor="ctr"/>
          <a:lstStyle/>
          <a:p>
            <a:r>
              <a:rPr lang="en-US" sz="3000" b="1" dirty="0">
                <a:solidFill>
                  <a:srgbClr val="223522"/>
                </a:solidFill>
                <a:latin typeface="Cambria" pitchFamily="34" charset="0"/>
                <a:ea typeface="Cambria" pitchFamily="34" charset="-122"/>
              </a:rPr>
              <a:t>From Data to Decisions</a:t>
            </a:r>
          </a:p>
        </p:txBody>
      </p:sp>
      <p:sp>
        <p:nvSpPr>
          <p:cNvPr id="5" name="Text 3"/>
          <p:cNvSpPr/>
          <p:nvPr/>
        </p:nvSpPr>
        <p:spPr>
          <a:xfrm>
            <a:off x="548640" y="1417320"/>
            <a:ext cx="7315200" cy="274320"/>
          </a:xfrm>
          <a:prstGeom prst="rect">
            <a:avLst/>
          </a:prstGeom>
          <a:noFill/>
          <a:ln/>
        </p:spPr>
        <p:txBody>
          <a:bodyPr wrap="square" rtlCol="0" anchor="ctr"/>
          <a:lstStyle/>
          <a:p>
            <a:pPr marL="0" indent="0">
              <a:buNone/>
            </a:pPr>
            <a:r>
              <a:rPr lang="en-US" sz="900" i="1" dirty="0">
                <a:solidFill>
                  <a:srgbClr val="8FA48B"/>
                </a:solidFill>
                <a:latin typeface="Calibri" pitchFamily="34" charset="0"/>
                <a:ea typeface="Calibri" pitchFamily="34" charset="-122"/>
                <a:cs typeface="Calibri" pitchFamily="34" charset="-120"/>
              </a:rPr>
              <a:t>[IMAGE PLACEHOLDER: future roadmap]</a:t>
            </a:r>
            <a:endParaRPr lang="en-US" sz="900" dirty="0"/>
          </a:p>
        </p:txBody>
      </p:sp>
      <p:sp>
        <p:nvSpPr>
          <p:cNvPr id="6" name="Text 4"/>
          <p:cNvSpPr/>
          <p:nvPr/>
        </p:nvSpPr>
        <p:spPr>
          <a:xfrm>
            <a:off x="548640" y="1874520"/>
            <a:ext cx="5212080" cy="320040"/>
          </a:xfrm>
          <a:prstGeom prst="rect">
            <a:avLst/>
          </a:prstGeom>
          <a:noFill/>
          <a:ln/>
        </p:spPr>
        <p:txBody>
          <a:bodyPr wrap="square" rtlCol="0" anchor="ctr"/>
          <a:lstStyle/>
          <a:p>
            <a:pPr marL="0" indent="0">
              <a:buNone/>
            </a:pPr>
            <a:r>
              <a:rPr lang="en-US" sz="1200" b="1" kern="0" spc="150" dirty="0">
                <a:solidFill>
                  <a:srgbClr val="D9A62E"/>
                </a:solidFill>
                <a:latin typeface="Calibri" pitchFamily="34" charset="0"/>
                <a:ea typeface="Calibri" pitchFamily="34" charset="-122"/>
                <a:cs typeface="Calibri" pitchFamily="34" charset="-120"/>
              </a:rPr>
              <a:t>KEY FINDINGS &amp; IMPACT</a:t>
            </a:r>
            <a:endParaRPr lang="en-US" sz="1200" dirty="0"/>
          </a:p>
        </p:txBody>
      </p:sp>
      <p:sp>
        <p:nvSpPr>
          <p:cNvPr id="7" name="Shape 5"/>
          <p:cNvSpPr/>
          <p:nvPr/>
        </p:nvSpPr>
        <p:spPr>
          <a:xfrm>
            <a:off x="594360" y="2368296"/>
            <a:ext cx="91440" cy="91440"/>
          </a:xfrm>
          <a:prstGeom prst="ellipse">
            <a:avLst/>
          </a:prstGeom>
          <a:solidFill>
            <a:srgbClr val="D9A62E"/>
          </a:solidFill>
          <a:ln/>
        </p:spPr>
        <p:txBody>
          <a:bodyPr/>
          <a:lstStyle/>
          <a:p>
            <a:endParaRPr lang="en-US"/>
          </a:p>
        </p:txBody>
      </p:sp>
      <p:sp>
        <p:nvSpPr>
          <p:cNvPr id="8" name="Text 6"/>
          <p:cNvSpPr/>
          <p:nvPr/>
        </p:nvSpPr>
        <p:spPr>
          <a:xfrm>
            <a:off x="868680" y="2212848"/>
            <a:ext cx="4937760" cy="502920"/>
          </a:xfrm>
          <a:prstGeom prst="rect">
            <a:avLst/>
          </a:prstGeom>
          <a:noFill/>
          <a:ln/>
        </p:spPr>
        <p:txBody>
          <a:bodyPr wrap="square" rtlCol="0" anchor="t"/>
          <a:lstStyle/>
          <a:p>
            <a:pPr marL="0" indent="0">
              <a:buNone/>
            </a:pPr>
            <a:r>
              <a:rPr lang="en-US" sz="1250" dirty="0">
                <a:solidFill>
                  <a:schemeClr val="bg2">
                    <a:lumMod val="25000"/>
                  </a:schemeClr>
                </a:solidFill>
                <a:latin typeface="Calibri" pitchFamily="34" charset="0"/>
                <a:ea typeface="Calibri" pitchFamily="34" charset="-122"/>
                <a:cs typeface="Calibri" pitchFamily="34" charset="-120"/>
              </a:rPr>
              <a:t>Rainfall and fertilizer usage are the strongest levers on yield.</a:t>
            </a:r>
            <a:endParaRPr lang="en-US" sz="1250" dirty="0">
              <a:solidFill>
                <a:schemeClr val="bg2">
                  <a:lumMod val="25000"/>
                </a:schemeClr>
              </a:solidFill>
            </a:endParaRPr>
          </a:p>
        </p:txBody>
      </p:sp>
      <p:sp>
        <p:nvSpPr>
          <p:cNvPr id="9" name="Shape 7"/>
          <p:cNvSpPr/>
          <p:nvPr/>
        </p:nvSpPr>
        <p:spPr>
          <a:xfrm>
            <a:off x="594360" y="2990088"/>
            <a:ext cx="91440" cy="91440"/>
          </a:xfrm>
          <a:prstGeom prst="ellipse">
            <a:avLst/>
          </a:prstGeom>
          <a:solidFill>
            <a:srgbClr val="D9A62E"/>
          </a:solidFill>
          <a:ln/>
        </p:spPr>
        <p:txBody>
          <a:bodyPr/>
          <a:lstStyle/>
          <a:p>
            <a:endParaRPr lang="en-US"/>
          </a:p>
        </p:txBody>
      </p:sp>
      <p:sp>
        <p:nvSpPr>
          <p:cNvPr id="10" name="Text 8"/>
          <p:cNvSpPr/>
          <p:nvPr/>
        </p:nvSpPr>
        <p:spPr>
          <a:xfrm>
            <a:off x="868680" y="2834640"/>
            <a:ext cx="4937760" cy="502920"/>
          </a:xfrm>
          <a:prstGeom prst="rect">
            <a:avLst/>
          </a:prstGeom>
          <a:noFill/>
          <a:ln/>
        </p:spPr>
        <p:txBody>
          <a:bodyPr wrap="square" rtlCol="0" anchor="t"/>
          <a:lstStyle/>
          <a:p>
            <a:r>
              <a:rPr lang="en-US" sz="1250" dirty="0">
                <a:solidFill>
                  <a:schemeClr val="bg2">
                    <a:lumMod val="25000"/>
                  </a:schemeClr>
                </a:solidFill>
                <a:latin typeface="Calibri" pitchFamily="34" charset="0"/>
                <a:ea typeface="Calibri" pitchFamily="34" charset="-122"/>
                <a:cs typeface="Calibri" pitchFamily="34" charset="-120"/>
              </a:rPr>
              <a:t>Random Forest predicts yield with R² = 0.89 on unseen data.</a:t>
            </a:r>
          </a:p>
        </p:txBody>
      </p:sp>
      <p:sp>
        <p:nvSpPr>
          <p:cNvPr id="11" name="Shape 9"/>
          <p:cNvSpPr/>
          <p:nvPr/>
        </p:nvSpPr>
        <p:spPr>
          <a:xfrm>
            <a:off x="594360" y="3611880"/>
            <a:ext cx="91440" cy="91440"/>
          </a:xfrm>
          <a:prstGeom prst="ellipse">
            <a:avLst/>
          </a:prstGeom>
          <a:solidFill>
            <a:srgbClr val="D9A62E"/>
          </a:solidFill>
          <a:ln/>
        </p:spPr>
        <p:txBody>
          <a:bodyPr/>
          <a:lstStyle/>
          <a:p>
            <a:endParaRPr lang="en-US"/>
          </a:p>
        </p:txBody>
      </p:sp>
      <p:sp>
        <p:nvSpPr>
          <p:cNvPr id="12" name="Text 10"/>
          <p:cNvSpPr/>
          <p:nvPr/>
        </p:nvSpPr>
        <p:spPr>
          <a:xfrm>
            <a:off x="868680" y="3456432"/>
            <a:ext cx="4937760" cy="502920"/>
          </a:xfrm>
          <a:prstGeom prst="rect">
            <a:avLst/>
          </a:prstGeom>
          <a:noFill/>
          <a:ln/>
        </p:spPr>
        <p:txBody>
          <a:bodyPr wrap="square" rtlCol="0" anchor="t"/>
          <a:lstStyle/>
          <a:p>
            <a:r>
              <a:rPr lang="en-US" sz="1250" dirty="0">
                <a:solidFill>
                  <a:schemeClr val="bg2">
                    <a:lumMod val="25000"/>
                  </a:schemeClr>
                </a:solidFill>
                <a:latin typeface="Calibri" pitchFamily="34" charset="0"/>
                <a:ea typeface="Calibri" pitchFamily="34" charset="-122"/>
                <a:cs typeface="Calibri" pitchFamily="34" charset="-120"/>
              </a:rPr>
              <a:t>The Streamlit app puts predictions directly in farmers’ </a:t>
            </a:r>
            <a:r>
              <a:rPr lang="en-US" sz="1250">
                <a:solidFill>
                  <a:schemeClr val="bg2">
                    <a:lumMod val="25000"/>
                  </a:schemeClr>
                </a:solidFill>
                <a:latin typeface="Calibri" pitchFamily="34" charset="0"/>
                <a:ea typeface="Calibri" pitchFamily="34" charset="-122"/>
                <a:cs typeface="Calibri" pitchFamily="34" charset="-120"/>
              </a:rPr>
              <a:t>hands.</a:t>
            </a:r>
            <a:endParaRPr lang="en-US" sz="1250" dirty="0">
              <a:solidFill>
                <a:schemeClr val="bg2">
                  <a:lumMod val="25000"/>
                </a:schemeClr>
              </a:solidFill>
              <a:latin typeface="Calibri" pitchFamily="34" charset="0"/>
              <a:ea typeface="Calibri" pitchFamily="34" charset="-122"/>
              <a:cs typeface="Calibri" pitchFamily="34" charset="-120"/>
            </a:endParaRPr>
          </a:p>
        </p:txBody>
      </p:sp>
      <p:sp>
        <p:nvSpPr>
          <p:cNvPr id="13" name="Shape 11"/>
          <p:cNvSpPr/>
          <p:nvPr/>
        </p:nvSpPr>
        <p:spPr>
          <a:xfrm>
            <a:off x="6080760" y="1874520"/>
            <a:ext cx="0" cy="3931920"/>
          </a:xfrm>
          <a:prstGeom prst="line">
            <a:avLst/>
          </a:prstGeom>
          <a:noFill/>
          <a:ln w="12700">
            <a:solidFill>
              <a:srgbClr val="2E4B31"/>
            </a:solidFill>
            <a:prstDash val="solid"/>
          </a:ln>
        </p:spPr>
        <p:txBody>
          <a:bodyPr/>
          <a:lstStyle/>
          <a:p>
            <a:endParaRPr lang="en-US"/>
          </a:p>
        </p:txBody>
      </p:sp>
      <p:sp>
        <p:nvSpPr>
          <p:cNvPr id="14" name="Text 12"/>
          <p:cNvSpPr/>
          <p:nvPr/>
        </p:nvSpPr>
        <p:spPr>
          <a:xfrm>
            <a:off x="6400800" y="1874520"/>
            <a:ext cx="5212080" cy="320040"/>
          </a:xfrm>
          <a:prstGeom prst="rect">
            <a:avLst/>
          </a:prstGeom>
          <a:noFill/>
          <a:ln/>
        </p:spPr>
        <p:txBody>
          <a:bodyPr wrap="square" rtlCol="0" anchor="ctr"/>
          <a:lstStyle/>
          <a:p>
            <a:pPr marL="0" indent="0">
              <a:buNone/>
            </a:pPr>
            <a:r>
              <a:rPr lang="en-US" sz="1200" b="1" kern="0" spc="150" dirty="0">
                <a:solidFill>
                  <a:srgbClr val="D9A62E"/>
                </a:solidFill>
                <a:latin typeface="Calibri" pitchFamily="34" charset="0"/>
                <a:ea typeface="Calibri" pitchFamily="34" charset="-122"/>
                <a:cs typeface="Calibri" pitchFamily="34" charset="-120"/>
              </a:rPr>
              <a:t>FUTURE WORK</a:t>
            </a:r>
            <a:endParaRPr lang="en-US" sz="1200" dirty="0"/>
          </a:p>
        </p:txBody>
      </p:sp>
      <p:sp>
        <p:nvSpPr>
          <p:cNvPr id="15" name="Shape 13"/>
          <p:cNvSpPr/>
          <p:nvPr/>
        </p:nvSpPr>
        <p:spPr>
          <a:xfrm>
            <a:off x="6515100" y="2354580"/>
            <a:ext cx="502920" cy="502920"/>
          </a:xfrm>
          <a:prstGeom prst="ellipse">
            <a:avLst/>
          </a:prstGeom>
          <a:solidFill>
            <a:schemeClr val="accent1"/>
          </a:solidFill>
          <a:ln>
            <a:solidFill>
              <a:schemeClr val="accent1"/>
            </a:solidFill>
          </a:ln>
        </p:spPr>
        <p:txBody>
          <a:bodyPr/>
          <a:lstStyle/>
          <a:p>
            <a:endParaRPr lang="en-US"/>
          </a:p>
        </p:txBody>
      </p:sp>
      <p:pic>
        <p:nvPicPr>
          <p:cNvPr id="16" name="Image 0" descr="/home/claude/crop_yield_ppt/icons/layers_FFFFFF.png"/>
          <p:cNvPicPr>
            <a:picLocks noChangeAspect="1"/>
          </p:cNvPicPr>
          <p:nvPr/>
        </p:nvPicPr>
        <p:blipFill>
          <a:blip r:embed="rId4"/>
          <a:stretch>
            <a:fillRect/>
          </a:stretch>
        </p:blipFill>
        <p:spPr>
          <a:xfrm>
            <a:off x="6628257" y="2467737"/>
            <a:ext cx="276606" cy="276606"/>
          </a:xfrm>
          <a:prstGeom prst="rect">
            <a:avLst/>
          </a:prstGeom>
        </p:spPr>
      </p:pic>
      <p:sp>
        <p:nvSpPr>
          <p:cNvPr id="17" name="Text 14"/>
          <p:cNvSpPr/>
          <p:nvPr/>
        </p:nvSpPr>
        <p:spPr>
          <a:xfrm>
            <a:off x="7178040" y="2331720"/>
            <a:ext cx="4297680" cy="548640"/>
          </a:xfrm>
          <a:prstGeom prst="rect">
            <a:avLst/>
          </a:prstGeom>
          <a:noFill/>
          <a:ln/>
        </p:spPr>
        <p:txBody>
          <a:bodyPr wrap="square" rtlCol="0" anchor="ctr"/>
          <a:lstStyle/>
          <a:p>
            <a:r>
              <a:rPr lang="en-US" sz="1200" dirty="0">
                <a:solidFill>
                  <a:schemeClr val="bg2">
                    <a:lumMod val="25000"/>
                  </a:schemeClr>
                </a:solidFill>
                <a:latin typeface="Calibri" pitchFamily="34" charset="0"/>
                <a:ea typeface="Calibri" pitchFamily="34" charset="-122"/>
                <a:cs typeface="Calibri" pitchFamily="34" charset="-120"/>
              </a:rPr>
              <a:t>Expand feature set with satellite imagery &amp; soil sensors</a:t>
            </a:r>
          </a:p>
        </p:txBody>
      </p:sp>
      <p:sp>
        <p:nvSpPr>
          <p:cNvPr id="18" name="Shape 15"/>
          <p:cNvSpPr/>
          <p:nvPr/>
        </p:nvSpPr>
        <p:spPr>
          <a:xfrm>
            <a:off x="6515100" y="3067812"/>
            <a:ext cx="502920" cy="502920"/>
          </a:xfrm>
          <a:prstGeom prst="ellipse">
            <a:avLst/>
          </a:prstGeom>
          <a:solidFill>
            <a:schemeClr val="accent1"/>
          </a:solidFill>
          <a:ln>
            <a:solidFill>
              <a:schemeClr val="accent1"/>
            </a:solidFill>
          </a:ln>
        </p:spPr>
        <p:txBody>
          <a:bodyPr/>
          <a:lstStyle/>
          <a:p>
            <a:endParaRPr lang="en-US"/>
          </a:p>
        </p:txBody>
      </p:sp>
      <p:pic>
        <p:nvPicPr>
          <p:cNvPr id="19" name="Image 1" descr="/home/claude/crop_yield_ppt/icons/cpu_FFFFFF.png"/>
          <p:cNvPicPr>
            <a:picLocks noChangeAspect="1"/>
          </p:cNvPicPr>
          <p:nvPr/>
        </p:nvPicPr>
        <p:blipFill>
          <a:blip r:embed="rId5"/>
          <a:stretch>
            <a:fillRect/>
          </a:stretch>
        </p:blipFill>
        <p:spPr>
          <a:xfrm>
            <a:off x="6628257" y="3180969"/>
            <a:ext cx="276606" cy="276606"/>
          </a:xfrm>
          <a:prstGeom prst="rect">
            <a:avLst/>
          </a:prstGeom>
        </p:spPr>
      </p:pic>
      <p:sp>
        <p:nvSpPr>
          <p:cNvPr id="20" name="Text 16"/>
          <p:cNvSpPr/>
          <p:nvPr/>
        </p:nvSpPr>
        <p:spPr>
          <a:xfrm>
            <a:off x="7178040" y="3044952"/>
            <a:ext cx="4297680" cy="548640"/>
          </a:xfrm>
          <a:prstGeom prst="rect">
            <a:avLst/>
          </a:prstGeom>
          <a:noFill/>
          <a:ln/>
        </p:spPr>
        <p:txBody>
          <a:bodyPr wrap="square" rtlCol="0" anchor="ctr"/>
          <a:lstStyle/>
          <a:p>
            <a:pPr marL="0" indent="0">
              <a:buNone/>
            </a:pPr>
            <a:r>
              <a:rPr lang="en-US" sz="1200" dirty="0">
                <a:solidFill>
                  <a:schemeClr val="bg2">
                    <a:lumMod val="25000"/>
                  </a:schemeClr>
                </a:solidFill>
                <a:latin typeface="Calibri" pitchFamily="34" charset="0"/>
                <a:ea typeface="Calibri" pitchFamily="34" charset="-122"/>
                <a:cs typeface="Calibri" pitchFamily="34" charset="-120"/>
              </a:rPr>
              <a:t>Explore deep learning models for higher accuracy</a:t>
            </a:r>
            <a:endParaRPr lang="en-US" sz="1200" dirty="0">
              <a:solidFill>
                <a:schemeClr val="bg2">
                  <a:lumMod val="25000"/>
                </a:schemeClr>
              </a:solidFill>
            </a:endParaRPr>
          </a:p>
        </p:txBody>
      </p:sp>
      <p:sp>
        <p:nvSpPr>
          <p:cNvPr id="21" name="Shape 17"/>
          <p:cNvSpPr/>
          <p:nvPr/>
        </p:nvSpPr>
        <p:spPr>
          <a:xfrm>
            <a:off x="6515100" y="3781044"/>
            <a:ext cx="502920" cy="502920"/>
          </a:xfrm>
          <a:prstGeom prst="ellipse">
            <a:avLst/>
          </a:prstGeom>
          <a:solidFill>
            <a:schemeClr val="accent1"/>
          </a:solidFill>
          <a:ln>
            <a:solidFill>
              <a:schemeClr val="accent1"/>
            </a:solidFill>
          </a:ln>
        </p:spPr>
        <p:txBody>
          <a:bodyPr/>
          <a:lstStyle/>
          <a:p>
            <a:endParaRPr lang="en-US"/>
          </a:p>
        </p:txBody>
      </p:sp>
      <p:pic>
        <p:nvPicPr>
          <p:cNvPr id="22" name="Image 2" descr="/home/claude/crop_yield_ppt/icons/activity_FFFFFF.png"/>
          <p:cNvPicPr>
            <a:picLocks noChangeAspect="1"/>
          </p:cNvPicPr>
          <p:nvPr/>
        </p:nvPicPr>
        <p:blipFill>
          <a:blip r:embed="rId6"/>
          <a:stretch>
            <a:fillRect/>
          </a:stretch>
        </p:blipFill>
        <p:spPr>
          <a:xfrm>
            <a:off x="6628257" y="3894201"/>
            <a:ext cx="276606" cy="276606"/>
          </a:xfrm>
          <a:prstGeom prst="rect">
            <a:avLst/>
          </a:prstGeom>
          <a:solidFill>
            <a:schemeClr val="accent1"/>
          </a:solidFill>
          <a:ln>
            <a:solidFill>
              <a:schemeClr val="accent1"/>
            </a:solidFill>
          </a:ln>
        </p:spPr>
      </p:pic>
      <p:sp>
        <p:nvSpPr>
          <p:cNvPr id="23" name="Text 18"/>
          <p:cNvSpPr/>
          <p:nvPr/>
        </p:nvSpPr>
        <p:spPr>
          <a:xfrm>
            <a:off x="7178040" y="3758184"/>
            <a:ext cx="4297680" cy="548640"/>
          </a:xfrm>
          <a:prstGeom prst="rect">
            <a:avLst/>
          </a:prstGeom>
          <a:noFill/>
          <a:ln/>
        </p:spPr>
        <p:txBody>
          <a:bodyPr wrap="square" rtlCol="0" anchor="ctr"/>
          <a:lstStyle/>
          <a:p>
            <a:pPr marL="0" indent="0">
              <a:buNone/>
            </a:pPr>
            <a:r>
              <a:rPr lang="en-US" sz="1200" dirty="0">
                <a:solidFill>
                  <a:schemeClr val="bg2">
                    <a:lumMod val="25000"/>
                  </a:schemeClr>
                </a:solidFill>
                <a:latin typeface="Calibri" pitchFamily="34" charset="0"/>
                <a:ea typeface="Calibri" pitchFamily="34" charset="-122"/>
                <a:cs typeface="Calibri" pitchFamily="34" charset="-120"/>
              </a:rPr>
              <a:t>Integrate real-time weather and IoT data streams</a:t>
            </a:r>
            <a:endParaRPr lang="en-US" sz="1200" dirty="0">
              <a:solidFill>
                <a:schemeClr val="bg2">
                  <a:lumMod val="25000"/>
                </a:schemeClr>
              </a:solidFill>
            </a:endParaRPr>
          </a:p>
        </p:txBody>
      </p:sp>
      <p:sp>
        <p:nvSpPr>
          <p:cNvPr id="24" name="Text 19"/>
          <p:cNvSpPr/>
          <p:nvPr/>
        </p:nvSpPr>
        <p:spPr>
          <a:xfrm>
            <a:off x="548640" y="5989320"/>
            <a:ext cx="5486400" cy="45720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Thank you</a:t>
            </a:r>
            <a:endParaRPr lang="en-US" sz="2000" dirty="0"/>
          </a:p>
        </p:txBody>
      </p:sp>
      <p:sp>
        <p:nvSpPr>
          <p:cNvPr id="26" name="Text 21"/>
          <p:cNvSpPr/>
          <p:nvPr/>
        </p:nvSpPr>
        <p:spPr>
          <a:xfrm>
            <a:off x="11430000" y="6537960"/>
            <a:ext cx="365760" cy="274320"/>
          </a:xfrm>
          <a:prstGeom prst="rect">
            <a:avLst/>
          </a:prstGeom>
          <a:noFill/>
          <a:ln/>
        </p:spPr>
        <p:txBody>
          <a:bodyPr wrap="square" rtlCol="0" anchor="ctr"/>
          <a:lstStyle/>
          <a:p>
            <a:pPr marL="0" indent="0" algn="r">
              <a:buNone/>
            </a:pPr>
            <a:r>
              <a:rPr lang="en-US" sz="1000" dirty="0">
                <a:solidFill>
                  <a:srgbClr val="6B7A6B"/>
                </a:solidFill>
                <a:latin typeface="Calibri" pitchFamily="34" charset="0"/>
                <a:ea typeface="Calibri" pitchFamily="34" charset="-122"/>
                <a:cs typeface="Calibri" pitchFamily="34" charset="-120"/>
              </a:rPr>
              <a:t>20</a:t>
            </a:r>
            <a:endParaRPr lang="en-US" sz="1000" dirty="0"/>
          </a:p>
        </p:txBody>
      </p:sp>
    </p:spTree>
  </p:cSld>
  <p:clrMapOvr>
    <a:overrideClrMapping bg1="lt1" tx1="dk1" bg2="lt2" tx2="dk2" accent1="accent1" accent2="accent2" accent3="accent3" accent4="accent4" accent5="accent5" accent6="accent6" hlink="hlink" folHlink="folHlink"/>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25</TotalTime>
  <Words>2177</Words>
  <Application>Microsoft Office PowerPoint</Application>
  <PresentationFormat>Widescreen</PresentationFormat>
  <Paragraphs>394</Paragraphs>
  <Slides>23</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23</vt:i4>
      </vt:variant>
    </vt:vector>
  </HeadingPairs>
  <TitlesOfParts>
    <vt:vector size="28" baseType="lpstr">
      <vt:lpstr>Arial</vt:lpstr>
      <vt:lpstr>Calibri</vt:lpstr>
      <vt:lpstr>Calibri Light</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Pesticides data</vt:lpstr>
      <vt:lpstr>Rainfall data</vt:lpstr>
      <vt:lpstr>Temp 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Data Analysis and Machine Learning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Crop Yield Prediction Project</dc:creator>
  <cp:lastModifiedBy>Anas Mohamed Elkhamisy</cp:lastModifiedBy>
  <cp:revision>3</cp:revision>
  <dcterms:created xsi:type="dcterms:W3CDTF">2026-08-22T00:30:12Z</dcterms:created>
  <dcterms:modified xsi:type="dcterms:W3CDTF">2026-08-22T01:07:14Z</dcterms:modified>
</cp:coreProperties>
</file>